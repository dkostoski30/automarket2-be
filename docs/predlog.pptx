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Предлог" id="{2326CED4-C589-00DA-34A0-3FD94411A74A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7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7829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Добар ден. Предлагам дипломска работа на тема event-driven микросервиси со модерна оркестрација и observability.
Во една реченица: имам постоечка монолитна апликација за огласи за автомобили. Ќе ја разделам на сервиси што комуницираат преку настани, ќе ја оркестрирам со Kubernetes, ќе ја направам набљудлива — и ќе ги измерам двете верзии една против друга.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Стариот .NET проект со Razor Pages е една апликација со една база — сета логика заедно. Од него знам што прави системот, и тој ми останува основа за споредба.
Предлогот е истата функционалност поделена на шест сервиси по домен — корисници, огласи, блог, разговори, плаќања и известувања — кои комуницираат преку настани во Kafka.
Темата е изводлива: прототип веќе постои, а DevOps делот го претставив на предметот DevOps.
Зошто да го пишувам истото повторно? Затоа што функционалноста ја знам, па можам да ги споредувам архитектурите наместо да учам нов домен.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Клиентот разговара само со API Gateway-от. Тој го проверува токенот, ограничува број на барања и рутира кон сервисите.
Сервисите не се повикуваат директно меѓу себе — разговараат преку настани во Kafka. Секој сервис има своја шема во PostgreSQL и не чита туѓи табели.
Пример: огласот треба да го прикаже името на продавачот, но сервисот за огласи има само id. Наместо да го прашува сервисот за корисници секој пат — и да падне ако тој не работи — при регистрација добива настан и си чува своја копија. Цената е кратко доцнење, eventual consistency.
Сè работи во Kubernetes, а Grafana покажува што се случува.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Ова е тешкиот дел, и срцето на трудот.
Марко си го менува телефонот. Сервисот за корисници го запишува новиот број, па праќа порака до Kafka за да дознае и сервисот за огласи. Ако пораката не се прати, телефонот е нов на едно место, стар на друго — и никаде не пишува дека тоа се случило.
Решението — transactional outbox: пораката се запишува во истата база, во истата трансакција со телефонот. Или двете, или ниедно.
Мал relay потоа ги праќа пораките. Ако Kafka не работи, пораката чека; ништо не се губи, само доцни.
А ако иста порака стигне двапати, примачот (inbox) памти што веќе обработил и не ја повторува.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Production-grade значи две работи.
Прво, испораката е автоматска: секој push поминува низ CI (тестови, build, Docker image), а ArgoCD го синхронизира Kubernetes кластерот со она што е запишано во Git — GitOps, без рачни чекори. Во кластерот: автоскалирање, health проби, мрежна изолација меѓу сервисите, Helm charts.
Второ, системот е видлив. Асинхроните дефекти се тивки: API-то враќа 200, а настаните не течат. Затоа три столба преку OpenTelemetry — метрики во Prometheus, логови во Loki, traces во Tempo — а Grafana ги прикажува и алармира, на пример кога outbox престане да се празни.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сакам да завршам со „еве, работи“. Четири проверки, секоја со бројка:
1. Ја гасам Kafka среде операција (Chaos Mesh) — очекувам нула изгубени настани.
2. Истиот настан го праќам двапати — очекувам едно известување, не две.
3. Исто оптоварување со k6 врз монолитот и врз сервисите — p95 латенција, пропусност, CPU и меморија. Тоа е цената на дистрибуцијата.
4. Убивам pod или прекинувам мрежа — колку брзо се јавува аларм и колку брзо ја наоѓам причината (MTTD).
Придонесот на трудот е токму ова: истата апликација во две архитектури, со измерено однесување при оптоварување и при откази.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Функционалноста ја држам мала намерно — истата како кај монолитот. Тежината е на едно место: архитектурата, инфраструктурата и мерењето.
Не влегува: посебна база по сервис (шемата по сервис е доволна), service mesh, хостинг во облак и нова функционалност.
Стариот .NET проект ќе го преработам, но тој ми останува и основа за споредба. Ако темата ви изгледа во ред, следуваат доградбата, мерењата и пишувањето.
— Ако прашаат —
Зошто Java, а не .NET? Spring Boot и Spring Cloud нудат готов gateway и Kafka интеграција, и тоа е стекот во кој ќе работам понатаму.
Монолит не би бил доволен? За функционалноста — да, и веќе го имам. Но тогаш нема тема: дистрибуираниот дел е предметот.
Каде е придонесот? Споредба на истата апликација во две архитектури, со измерено однесување при откази и оптоварување.
Не е ли обемот преголем? Затоа кажувам што не влегува. Нема нова функционалност — само архитектура, инфраструктура и мерења.
Зошто Kafka, а не REST повици? Со директен повик, ако другиот сервис е паднат, паѓа и моето барање. Со настани, барањето поминува.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1188720"/>
            <a:ext cx="71323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kern="0" spc="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1645920"/>
            <a:ext cx="713232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3794760"/>
            <a:ext cx="69494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40080" y="484632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spcAft>
                <a:spcPts val="400"/>
              </a:spcAft>
              <a:buNone/>
              <a:defRPr lang="en-US" sz="1400" dirty="0">
                <a:solidFill>
                  <a:schemeClr val="accent5"/>
                </a:solidFill>
              </a:defRPr>
            </a:lvl1pPr>
          </a:lstStyle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b="1" kern="0" spc="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chemeClr val="accent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E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b="1" kern="0" spc="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371600"/>
            <a:ext cx="1078992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chemeClr val="accent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b="1" kern="0" spc="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chemeClr val="accent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11887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ПРЕДЛОГ ЗА ДИПЛОМСКА РАБОТА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1645920"/>
            <a:ext cx="7132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Event-driven микросервиси со модерна оркестрација и observability</a:t>
            </a:r>
            <a:endParaRPr lang="en-US" sz="3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3794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 err="1">
                <a:solidFill>
                  <a:schemeClr val="accent5"/>
                </a:solidFill>
              </a:rPr>
              <a:t>AutoMarket</a:t>
            </a:r>
            <a:r>
              <a:rPr lang="en-US" sz="1800" dirty="0">
                <a:solidFill>
                  <a:schemeClr val="accent5"/>
                </a:solidFill>
              </a:rPr>
              <a:t> — огласи за автомобили</a:t>
            </a:r>
            <a:endParaRPr lang="en-US" sz="18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40080" y="484632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mk-MK" sz="1400" b="1" dirty="0">
                <a:solidFill>
                  <a:schemeClr val="bg1"/>
                </a:solidFill>
              </a:rPr>
              <a:t>Даниел Костоски</a:t>
            </a:r>
            <a:r>
              <a:rPr lang="en-US" sz="1400" b="1" dirty="0">
                <a:solidFill>
                  <a:schemeClr val="bg1"/>
                </a:solidFill>
              </a:rPr>
              <a:t>· </a:t>
            </a:r>
            <a:r>
              <a:rPr lang="mk-MK" sz="1400" b="1" dirty="0">
                <a:solidFill>
                  <a:schemeClr val="bg1"/>
                </a:solidFill>
              </a:rPr>
              <a:t>221189</a:t>
            </a:r>
            <a:endParaRPr lang="en-US" sz="1400" dirty="0"/>
          </a:p>
          <a:p>
            <a:r>
              <a:rPr lang="en-US" sz="1400" dirty="0" err="1">
                <a:solidFill>
                  <a:schemeClr val="accent5"/>
                </a:solidFill>
              </a:rPr>
              <a:t>Ментор</a:t>
            </a:r>
            <a:r>
              <a:rPr lang="en-US" sz="1400" dirty="0">
                <a:solidFill>
                  <a:schemeClr val="accent5"/>
                </a:solidFill>
              </a:rPr>
              <a:t>: </a:t>
            </a:r>
            <a:r>
              <a:rPr lang="en-US" sz="1400" dirty="0" err="1">
                <a:solidFill>
                  <a:schemeClr val="accent5"/>
                </a:solidFill>
              </a:rPr>
              <a:t>проф</a:t>
            </a:r>
            <a:r>
              <a:rPr lang="en-US" sz="1400" dirty="0">
                <a:solidFill>
                  <a:schemeClr val="accent5"/>
                </a:solidFill>
              </a:rPr>
              <a:t>. </a:t>
            </a:r>
            <a:r>
              <a:rPr lang="" dirty="0"/>
              <a:t>д-р Костадин Мишев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mk-MK" sz="1400" dirty="0">
                <a:solidFill>
                  <a:schemeClr val="accent5"/>
                </a:solidFill>
              </a:rPr>
              <a:t>ФИНКИ</a:t>
            </a:r>
            <a:r>
              <a:rPr lang="en-US" sz="1400" dirty="0">
                <a:solidFill>
                  <a:schemeClr val="accent5"/>
                </a:solidFill>
              </a:rPr>
              <a:t>· октомври 2026</a:t>
            </a:r>
            <a:endParaRPr lang="en-US" sz="1400" dirty="0"/>
          </a:p>
        </p:txBody>
      </p:sp>
      <p:sp>
        <p:nvSpPr>
          <p:cNvPr id="6" name="bus"/>
          <p:cNvSpPr/>
          <p:nvPr/>
        </p:nvSpPr>
        <p:spPr>
          <a:xfrm>
            <a:off x="9898380" y="1280160"/>
            <a:ext cx="0" cy="3886200"/>
          </a:xfrm>
          <a:prstGeom prst="line">
            <a:avLst/>
          </a:prstGeom>
          <a:noFill/>
          <a:ln w="381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ile-1"/>
          <p:cNvSpPr/>
          <p:nvPr/>
        </p:nvSpPr>
        <p:spPr>
          <a:xfrm>
            <a:off x="8229600" y="1417320"/>
            <a:ext cx="1234440" cy="960120"/>
          </a:xfrm>
          <a:prstGeom prst="rect">
            <a:avLst/>
          </a:prstGeom>
          <a:solidFill>
            <a:schemeClr val="bg1">
              <a:alpha val="7000"/>
            </a:scheme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8" name="icon-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4796" y="1570939"/>
            <a:ext cx="384048" cy="384048"/>
          </a:xfrm>
          <a:prstGeom prst="rect">
            <a:avLst/>
          </a:prstGeom>
        </p:spPr>
      </p:pic>
      <p:sp>
        <p:nvSpPr>
          <p:cNvPr id="9" name="text-3"/>
          <p:cNvSpPr txBox="1"/>
          <p:nvPr/>
        </p:nvSpPr>
        <p:spPr>
          <a:xfrm>
            <a:off x="8229600" y="2009851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</a:t>
            </a:r>
            <a:endParaRPr lang="en-US" sz="1100" dirty="0"/>
          </a:p>
        </p:txBody>
      </p:sp>
      <p:sp>
        <p:nvSpPr>
          <p:cNvPr id="10" name="arrow-4"/>
          <p:cNvSpPr/>
          <p:nvPr/>
        </p:nvSpPr>
        <p:spPr>
          <a:xfrm>
            <a:off x="9464040" y="1897380"/>
            <a:ext cx="43434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ile-5"/>
          <p:cNvSpPr/>
          <p:nvPr/>
        </p:nvSpPr>
        <p:spPr>
          <a:xfrm>
            <a:off x="10332720" y="1417320"/>
            <a:ext cx="1234440" cy="960120"/>
          </a:xfrm>
          <a:prstGeom prst="rect">
            <a:avLst/>
          </a:prstGeom>
          <a:solidFill>
            <a:schemeClr val="bg1">
              <a:alpha val="7000"/>
            </a:scheme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12" name="icon-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7916" y="1570939"/>
            <a:ext cx="384048" cy="384048"/>
          </a:xfrm>
          <a:prstGeom prst="rect">
            <a:avLst/>
          </a:prstGeom>
        </p:spPr>
      </p:pic>
      <p:sp>
        <p:nvSpPr>
          <p:cNvPr id="13" name="text-7"/>
          <p:cNvSpPr txBox="1"/>
          <p:nvPr/>
        </p:nvSpPr>
        <p:spPr>
          <a:xfrm>
            <a:off x="10332720" y="2009851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listing</a:t>
            </a:r>
            <a:endParaRPr lang="en-US" sz="1100" dirty="0"/>
          </a:p>
        </p:txBody>
      </p:sp>
      <p:sp>
        <p:nvSpPr>
          <p:cNvPr id="14" name="arrow-8"/>
          <p:cNvSpPr/>
          <p:nvPr/>
        </p:nvSpPr>
        <p:spPr>
          <a:xfrm>
            <a:off x="9898380" y="1897380"/>
            <a:ext cx="43434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ile-9"/>
          <p:cNvSpPr/>
          <p:nvPr/>
        </p:nvSpPr>
        <p:spPr>
          <a:xfrm>
            <a:off x="8229600" y="2606040"/>
            <a:ext cx="1234440" cy="960120"/>
          </a:xfrm>
          <a:prstGeom prst="rect">
            <a:avLst/>
          </a:prstGeom>
          <a:solidFill>
            <a:schemeClr val="bg1">
              <a:alpha val="7000"/>
            </a:scheme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16" name="icon-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4796" y="2759659"/>
            <a:ext cx="384048" cy="384048"/>
          </a:xfrm>
          <a:prstGeom prst="rect">
            <a:avLst/>
          </a:prstGeom>
        </p:spPr>
      </p:pic>
      <p:sp>
        <p:nvSpPr>
          <p:cNvPr id="17" name="text-11"/>
          <p:cNvSpPr txBox="1"/>
          <p:nvPr/>
        </p:nvSpPr>
        <p:spPr>
          <a:xfrm>
            <a:off x="8229600" y="3198571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blog</a:t>
            </a:r>
            <a:endParaRPr lang="en-US" sz="1100" dirty="0"/>
          </a:p>
        </p:txBody>
      </p:sp>
      <p:sp>
        <p:nvSpPr>
          <p:cNvPr id="18" name="arrow-12"/>
          <p:cNvSpPr/>
          <p:nvPr/>
        </p:nvSpPr>
        <p:spPr>
          <a:xfrm>
            <a:off x="9464040" y="3086100"/>
            <a:ext cx="43434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ile-13"/>
          <p:cNvSpPr/>
          <p:nvPr/>
        </p:nvSpPr>
        <p:spPr>
          <a:xfrm>
            <a:off x="10332720" y="2606040"/>
            <a:ext cx="1234440" cy="960120"/>
          </a:xfrm>
          <a:prstGeom prst="rect">
            <a:avLst/>
          </a:prstGeom>
          <a:solidFill>
            <a:schemeClr val="bg1">
              <a:alpha val="7000"/>
            </a:scheme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20" name="icon-1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7916" y="2759659"/>
            <a:ext cx="384048" cy="384048"/>
          </a:xfrm>
          <a:prstGeom prst="rect">
            <a:avLst/>
          </a:prstGeom>
        </p:spPr>
      </p:pic>
      <p:sp>
        <p:nvSpPr>
          <p:cNvPr id="21" name="text-15"/>
          <p:cNvSpPr txBox="1"/>
          <p:nvPr/>
        </p:nvSpPr>
        <p:spPr>
          <a:xfrm>
            <a:off x="10332720" y="3198571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inquiry</a:t>
            </a:r>
            <a:endParaRPr lang="en-US" sz="1100" dirty="0"/>
          </a:p>
        </p:txBody>
      </p:sp>
      <p:sp>
        <p:nvSpPr>
          <p:cNvPr id="22" name="arrow-16"/>
          <p:cNvSpPr/>
          <p:nvPr/>
        </p:nvSpPr>
        <p:spPr>
          <a:xfrm>
            <a:off x="9898380" y="3086100"/>
            <a:ext cx="43434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ile-17"/>
          <p:cNvSpPr/>
          <p:nvPr/>
        </p:nvSpPr>
        <p:spPr>
          <a:xfrm>
            <a:off x="8229600" y="3794760"/>
            <a:ext cx="1234440" cy="960120"/>
          </a:xfrm>
          <a:prstGeom prst="rect">
            <a:avLst/>
          </a:prstGeom>
          <a:solidFill>
            <a:schemeClr val="bg1">
              <a:alpha val="7000"/>
            </a:scheme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24" name="icon-1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54796" y="3948379"/>
            <a:ext cx="384048" cy="384048"/>
          </a:xfrm>
          <a:prstGeom prst="rect">
            <a:avLst/>
          </a:prstGeom>
        </p:spPr>
      </p:pic>
      <p:sp>
        <p:nvSpPr>
          <p:cNvPr id="25" name="text-19"/>
          <p:cNvSpPr txBox="1"/>
          <p:nvPr/>
        </p:nvSpPr>
        <p:spPr>
          <a:xfrm>
            <a:off x="8229600" y="4387291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</a:t>
            </a:r>
            <a:endParaRPr lang="en-US" sz="1100" dirty="0"/>
          </a:p>
        </p:txBody>
      </p:sp>
      <p:sp>
        <p:nvSpPr>
          <p:cNvPr id="26" name="arrow-20"/>
          <p:cNvSpPr/>
          <p:nvPr/>
        </p:nvSpPr>
        <p:spPr>
          <a:xfrm>
            <a:off x="9464040" y="4274820"/>
            <a:ext cx="43434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tile-21"/>
          <p:cNvSpPr/>
          <p:nvPr/>
        </p:nvSpPr>
        <p:spPr>
          <a:xfrm>
            <a:off x="10332720" y="3794760"/>
            <a:ext cx="1234440" cy="960120"/>
          </a:xfrm>
          <a:prstGeom prst="rect">
            <a:avLst/>
          </a:prstGeom>
          <a:solidFill>
            <a:schemeClr val="bg1">
              <a:alpha val="7000"/>
            </a:scheme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28" name="icon-2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57916" y="3948379"/>
            <a:ext cx="384048" cy="384048"/>
          </a:xfrm>
          <a:prstGeom prst="rect">
            <a:avLst/>
          </a:prstGeom>
        </p:spPr>
      </p:pic>
      <p:sp>
        <p:nvSpPr>
          <p:cNvPr id="29" name="text-23"/>
          <p:cNvSpPr txBox="1"/>
          <p:nvPr/>
        </p:nvSpPr>
        <p:spPr>
          <a:xfrm>
            <a:off x="10332720" y="4387291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</a:t>
            </a:r>
            <a:endParaRPr lang="en-US" sz="1100" dirty="0"/>
          </a:p>
        </p:txBody>
      </p:sp>
      <p:sp>
        <p:nvSpPr>
          <p:cNvPr id="30" name="arrow-24"/>
          <p:cNvSpPr/>
          <p:nvPr/>
        </p:nvSpPr>
        <p:spPr>
          <a:xfrm>
            <a:off x="9898380" y="4274820"/>
            <a:ext cx="43434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text-25"/>
          <p:cNvSpPr txBox="1"/>
          <p:nvPr/>
        </p:nvSpPr>
        <p:spPr>
          <a:xfrm>
            <a:off x="8983980" y="5257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kafka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/>
              <a:t>Monolith -&gt; Microservice architecture</a:t>
            </a:r>
            <a:endParaRPr lang="en-US" sz="3200" dirty="0"/>
          </a:p>
        </p:txBody>
      </p:sp>
      <p:sp>
        <p:nvSpPr>
          <p:cNvPr id="5" name="text-26"/>
          <p:cNvSpPr txBox="1"/>
          <p:nvPr/>
        </p:nvSpPr>
        <p:spPr>
          <a:xfrm>
            <a:off x="548640" y="1947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ДЕНЕС</a:t>
            </a:r>
            <a:endParaRPr lang="en-US" sz="1100" dirty="0"/>
          </a:p>
        </p:txBody>
      </p:sp>
      <p:sp>
        <p:nvSpPr>
          <p:cNvPr id="6" name="monolith"/>
          <p:cNvSpPr/>
          <p:nvPr/>
        </p:nvSpPr>
        <p:spPr>
          <a:xfrm>
            <a:off x="548640" y="2331720"/>
            <a:ext cx="3657600" cy="2834640"/>
          </a:xfrm>
          <a:prstGeom prst="rect">
            <a:avLst/>
          </a:prstGeom>
          <a:solidFill>
            <a:schemeClr val="accent5">
              <a:alpha val="55000"/>
            </a:scheme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7" name="icon-2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2926080"/>
            <a:ext cx="822960" cy="822960"/>
          </a:xfrm>
          <a:prstGeom prst="rect">
            <a:avLst/>
          </a:prstGeom>
        </p:spPr>
      </p:pic>
      <p:sp>
        <p:nvSpPr>
          <p:cNvPr id="8" name="text-28"/>
          <p:cNvSpPr txBox="1"/>
          <p:nvPr/>
        </p:nvSpPr>
        <p:spPr>
          <a:xfrm>
            <a:off x="548640" y="3886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 err="1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монолит</a:t>
            </a:r>
            <a:endParaRPr lang="en-US" sz="2400" dirty="0"/>
          </a:p>
        </p:txBody>
      </p:sp>
      <p:sp>
        <p:nvSpPr>
          <p:cNvPr id="9" name="text-29"/>
          <p:cNvSpPr txBox="1"/>
          <p:nvPr/>
        </p:nvSpPr>
        <p:spPr>
          <a:xfrm>
            <a:off x="548640" y="4389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2"/>
                </a:solidFill>
              </a:rPr>
              <a:t>една апликација · една база</a:t>
            </a:r>
            <a:endParaRPr lang="en-US" sz="1500" dirty="0"/>
          </a:p>
        </p:txBody>
      </p:sp>
      <p:sp>
        <p:nvSpPr>
          <p:cNvPr id="10" name="arrow-30"/>
          <p:cNvSpPr/>
          <p:nvPr/>
        </p:nvSpPr>
        <p:spPr>
          <a:xfrm>
            <a:off x="4480560" y="3749040"/>
            <a:ext cx="914400" cy="0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-31"/>
          <p:cNvSpPr txBox="1"/>
          <p:nvPr/>
        </p:nvSpPr>
        <p:spPr>
          <a:xfrm>
            <a:off x="5669280" y="1947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ПРЕДЛОГ</a:t>
            </a:r>
            <a:endParaRPr lang="en-US" sz="1100" dirty="0"/>
          </a:p>
        </p:txBody>
      </p:sp>
      <p:sp>
        <p:nvSpPr>
          <p:cNvPr id="12" name="bus"/>
          <p:cNvSpPr/>
          <p:nvPr/>
        </p:nvSpPr>
        <p:spPr>
          <a:xfrm>
            <a:off x="5669280" y="3749040"/>
            <a:ext cx="5973775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ile-32"/>
          <p:cNvSpPr/>
          <p:nvPr/>
        </p:nvSpPr>
        <p:spPr>
          <a:xfrm>
            <a:off x="5669280" y="2331720"/>
            <a:ext cx="1838858" cy="10058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1905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14" name="icon-3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4973" y="2492654"/>
            <a:ext cx="347472" cy="347472"/>
          </a:xfrm>
          <a:prstGeom prst="rect">
            <a:avLst/>
          </a:prstGeom>
        </p:spPr>
      </p:pic>
      <p:sp>
        <p:nvSpPr>
          <p:cNvPr id="15" name="text-34"/>
          <p:cNvSpPr txBox="1"/>
          <p:nvPr/>
        </p:nvSpPr>
        <p:spPr>
          <a:xfrm>
            <a:off x="5669280" y="2894990"/>
            <a:ext cx="18388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Корисници</a:t>
            </a:r>
            <a:endParaRPr lang="en-US" sz="1400" dirty="0"/>
          </a:p>
        </p:txBody>
      </p:sp>
      <p:sp>
        <p:nvSpPr>
          <p:cNvPr id="16" name="arrow-35"/>
          <p:cNvSpPr/>
          <p:nvPr/>
        </p:nvSpPr>
        <p:spPr>
          <a:xfrm>
            <a:off x="6588709" y="3337560"/>
            <a:ext cx="0" cy="41148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ile-36"/>
          <p:cNvSpPr/>
          <p:nvPr/>
        </p:nvSpPr>
        <p:spPr>
          <a:xfrm>
            <a:off x="7736738" y="2331720"/>
            <a:ext cx="1838858" cy="10058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1905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18" name="icon-3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2432" y="2492654"/>
            <a:ext cx="347472" cy="347472"/>
          </a:xfrm>
          <a:prstGeom prst="rect">
            <a:avLst/>
          </a:prstGeom>
        </p:spPr>
      </p:pic>
      <p:sp>
        <p:nvSpPr>
          <p:cNvPr id="19" name="text-38"/>
          <p:cNvSpPr txBox="1"/>
          <p:nvPr/>
        </p:nvSpPr>
        <p:spPr>
          <a:xfrm>
            <a:off x="7736738" y="2894990"/>
            <a:ext cx="18388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Огласи</a:t>
            </a:r>
            <a:endParaRPr lang="en-US" sz="1400" dirty="0"/>
          </a:p>
        </p:txBody>
      </p:sp>
      <p:sp>
        <p:nvSpPr>
          <p:cNvPr id="20" name="arrow-39"/>
          <p:cNvSpPr/>
          <p:nvPr/>
        </p:nvSpPr>
        <p:spPr>
          <a:xfrm>
            <a:off x="8656168" y="3337560"/>
            <a:ext cx="0" cy="41148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tile-40"/>
          <p:cNvSpPr/>
          <p:nvPr/>
        </p:nvSpPr>
        <p:spPr>
          <a:xfrm>
            <a:off x="9804197" y="2331720"/>
            <a:ext cx="1838858" cy="10058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1905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22" name="icon-4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9890" y="2492654"/>
            <a:ext cx="347472" cy="347472"/>
          </a:xfrm>
          <a:prstGeom prst="rect">
            <a:avLst/>
          </a:prstGeom>
        </p:spPr>
      </p:pic>
      <p:sp>
        <p:nvSpPr>
          <p:cNvPr id="23" name="text-42"/>
          <p:cNvSpPr txBox="1"/>
          <p:nvPr/>
        </p:nvSpPr>
        <p:spPr>
          <a:xfrm>
            <a:off x="9804197" y="2894990"/>
            <a:ext cx="18388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Блог</a:t>
            </a:r>
            <a:endParaRPr lang="en-US" sz="1400" dirty="0"/>
          </a:p>
        </p:txBody>
      </p:sp>
      <p:sp>
        <p:nvSpPr>
          <p:cNvPr id="24" name="arrow-43"/>
          <p:cNvSpPr/>
          <p:nvPr/>
        </p:nvSpPr>
        <p:spPr>
          <a:xfrm>
            <a:off x="10723626" y="3337560"/>
            <a:ext cx="0" cy="41148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ile-44"/>
          <p:cNvSpPr/>
          <p:nvPr/>
        </p:nvSpPr>
        <p:spPr>
          <a:xfrm>
            <a:off x="5669280" y="4160520"/>
            <a:ext cx="1838858" cy="10058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1905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26" name="icon-4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4973" y="4321454"/>
            <a:ext cx="347472" cy="347472"/>
          </a:xfrm>
          <a:prstGeom prst="rect">
            <a:avLst/>
          </a:prstGeom>
        </p:spPr>
      </p:pic>
      <p:sp>
        <p:nvSpPr>
          <p:cNvPr id="27" name="text-46"/>
          <p:cNvSpPr txBox="1"/>
          <p:nvPr/>
        </p:nvSpPr>
        <p:spPr>
          <a:xfrm>
            <a:off x="5669280" y="4723790"/>
            <a:ext cx="18388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Разговори</a:t>
            </a:r>
            <a:endParaRPr lang="en-US" sz="1400" dirty="0"/>
          </a:p>
        </p:txBody>
      </p:sp>
      <p:sp>
        <p:nvSpPr>
          <p:cNvPr id="28" name="arrow-47"/>
          <p:cNvSpPr/>
          <p:nvPr/>
        </p:nvSpPr>
        <p:spPr>
          <a:xfrm>
            <a:off x="6588709" y="3749040"/>
            <a:ext cx="0" cy="41148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tile-48"/>
          <p:cNvSpPr/>
          <p:nvPr/>
        </p:nvSpPr>
        <p:spPr>
          <a:xfrm>
            <a:off x="7736738" y="4160520"/>
            <a:ext cx="1838858" cy="10058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1905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30" name="icon-4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2432" y="4321454"/>
            <a:ext cx="347472" cy="347472"/>
          </a:xfrm>
          <a:prstGeom prst="rect">
            <a:avLst/>
          </a:prstGeom>
        </p:spPr>
      </p:pic>
      <p:sp>
        <p:nvSpPr>
          <p:cNvPr id="31" name="text-50"/>
          <p:cNvSpPr txBox="1"/>
          <p:nvPr/>
        </p:nvSpPr>
        <p:spPr>
          <a:xfrm>
            <a:off x="7736738" y="4723790"/>
            <a:ext cx="18388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Плаќања</a:t>
            </a:r>
            <a:endParaRPr lang="en-US" sz="1400" dirty="0"/>
          </a:p>
        </p:txBody>
      </p:sp>
      <p:sp>
        <p:nvSpPr>
          <p:cNvPr id="32" name="arrow-51"/>
          <p:cNvSpPr/>
          <p:nvPr/>
        </p:nvSpPr>
        <p:spPr>
          <a:xfrm>
            <a:off x="8656168" y="3749040"/>
            <a:ext cx="0" cy="41148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33" name="tile-52"/>
          <p:cNvSpPr/>
          <p:nvPr/>
        </p:nvSpPr>
        <p:spPr>
          <a:xfrm>
            <a:off x="9804197" y="4160520"/>
            <a:ext cx="1838858" cy="10058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1905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34" name="icon-5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49890" y="4321454"/>
            <a:ext cx="347472" cy="347472"/>
          </a:xfrm>
          <a:prstGeom prst="rect">
            <a:avLst/>
          </a:prstGeom>
        </p:spPr>
      </p:pic>
      <p:sp>
        <p:nvSpPr>
          <p:cNvPr id="35" name="text-54"/>
          <p:cNvSpPr txBox="1"/>
          <p:nvPr/>
        </p:nvSpPr>
        <p:spPr>
          <a:xfrm>
            <a:off x="9804197" y="4723790"/>
            <a:ext cx="18388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Известувања</a:t>
            </a:r>
            <a:endParaRPr lang="en-US" sz="1400" dirty="0"/>
          </a:p>
        </p:txBody>
      </p:sp>
      <p:sp>
        <p:nvSpPr>
          <p:cNvPr id="36" name="arrow-55"/>
          <p:cNvSpPr/>
          <p:nvPr/>
        </p:nvSpPr>
        <p:spPr>
          <a:xfrm>
            <a:off x="10723626" y="3749040"/>
            <a:ext cx="0" cy="41148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37" name="kafka-pill"/>
          <p:cNvSpPr/>
          <p:nvPr/>
        </p:nvSpPr>
        <p:spPr>
          <a:xfrm>
            <a:off x="6845198" y="3566160"/>
            <a:ext cx="155448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8" name="text-56"/>
          <p:cNvSpPr txBox="1"/>
          <p:nvPr/>
        </p:nvSpPr>
        <p:spPr>
          <a:xfrm>
            <a:off x="6845198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Kafka · настани</a:t>
            </a:r>
            <a:endParaRPr lang="en-US" sz="11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chemeClr val="accent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АРХИТЕКТУРА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Сервиси што разговараат преку настани</a:t>
            </a:r>
            <a:endParaRPr lang="en-US" sz="3200" dirty="0"/>
          </a:p>
        </p:txBody>
      </p:sp>
      <p:sp>
        <p:nvSpPr>
          <p:cNvPr id="4" name="k8s-boundary"/>
          <p:cNvSpPr/>
          <p:nvPr/>
        </p:nvSpPr>
        <p:spPr>
          <a:xfrm>
            <a:off x="2423160" y="1645920"/>
            <a:ext cx="9219895" cy="4526280"/>
          </a:xfrm>
          <a:prstGeom prst="roundRect">
            <a:avLst>
              <a:gd name="adj" fmla="val 2020"/>
            </a:avLst>
          </a:prstGeom>
          <a:solidFill>
            <a:schemeClr val="bg1">
              <a:alpha val="50000"/>
            </a:schemeClr>
          </a:solidFill>
          <a:ln w="12700">
            <a:solidFill>
              <a:schemeClr val="accent2"/>
            </a:solidFill>
            <a:prstDash val="dash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-59"/>
          <p:cNvSpPr txBox="1"/>
          <p:nvPr/>
        </p:nvSpPr>
        <p:spPr>
          <a:xfrm>
            <a:off x="2651760" y="1755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KUBERNETES</a:t>
            </a:r>
            <a:endParaRPr lang="en-US" sz="1100" dirty="0"/>
          </a:p>
        </p:txBody>
      </p:sp>
      <p:sp>
        <p:nvSpPr>
          <p:cNvPr id="6" name="box-60"/>
          <p:cNvSpPr/>
          <p:nvPr/>
        </p:nvSpPr>
        <p:spPr>
          <a:xfrm>
            <a:off x="548640" y="2857500"/>
            <a:ext cx="16002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-61"/>
          <p:cNvSpPr txBox="1"/>
          <p:nvPr/>
        </p:nvSpPr>
        <p:spPr>
          <a:xfrm>
            <a:off x="621792" y="285750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Клиент</a:t>
            </a:r>
            <a:endParaRPr lang="en-US" sz="16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Angular</a:t>
            </a:r>
            <a:endParaRPr lang="en-US" sz="1600" dirty="0"/>
          </a:p>
        </p:txBody>
      </p:sp>
      <p:sp>
        <p:nvSpPr>
          <p:cNvPr id="8" name="box-62"/>
          <p:cNvSpPr/>
          <p:nvPr/>
        </p:nvSpPr>
        <p:spPr>
          <a:xfrm>
            <a:off x="2697480" y="2857500"/>
            <a:ext cx="1783080" cy="914400"/>
          </a:xfrm>
          <a:prstGeom prst="rect">
            <a:avLst/>
          </a:prstGeom>
          <a:solidFill>
            <a:schemeClr val="accent1">
              <a:alpha val="11000"/>
            </a:schemeClr>
          </a:solidFill>
          <a:ln w="15875">
            <a:solidFill>
              <a:schemeClr val="accent1"/>
            </a:solidFill>
            <a:prstDash val="solid"/>
          </a:ln>
          <a:effectLst>
            <a:outerShdw blurRad="101600" dist="1905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" name="text-63"/>
          <p:cNvSpPr txBox="1"/>
          <p:nvPr/>
        </p:nvSpPr>
        <p:spPr>
          <a:xfrm>
            <a:off x="2770632" y="2857500"/>
            <a:ext cx="1636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API Gateway</a:t>
            </a:r>
            <a:endParaRPr lang="en-US" sz="16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 · rate limit</a:t>
            </a:r>
            <a:endParaRPr lang="en-US" sz="1600" dirty="0"/>
          </a:p>
        </p:txBody>
      </p:sp>
      <p:sp>
        <p:nvSpPr>
          <p:cNvPr id="10" name="arrow-64"/>
          <p:cNvSpPr/>
          <p:nvPr/>
        </p:nvSpPr>
        <p:spPr>
          <a:xfrm>
            <a:off x="2148840" y="3314700"/>
            <a:ext cx="54864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arrow-65"/>
          <p:cNvSpPr/>
          <p:nvPr/>
        </p:nvSpPr>
        <p:spPr>
          <a:xfrm>
            <a:off x="4480560" y="3314700"/>
            <a:ext cx="45720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ile-66"/>
          <p:cNvSpPr/>
          <p:nvPr/>
        </p:nvSpPr>
        <p:spPr>
          <a:xfrm>
            <a:off x="4937760" y="2286000"/>
            <a:ext cx="1325880" cy="9601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1905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13" name="icon-6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6964" y="2439619"/>
            <a:ext cx="347472" cy="347472"/>
          </a:xfrm>
          <a:prstGeom prst="rect">
            <a:avLst/>
          </a:prstGeom>
        </p:spPr>
      </p:pic>
      <p:sp>
        <p:nvSpPr>
          <p:cNvPr id="14" name="text-68"/>
          <p:cNvSpPr txBox="1"/>
          <p:nvPr/>
        </p:nvSpPr>
        <p:spPr>
          <a:xfrm>
            <a:off x="4937760" y="2841955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Корисници</a:t>
            </a:r>
            <a:endParaRPr lang="en-US" sz="1400" dirty="0"/>
          </a:p>
        </p:txBody>
      </p:sp>
      <p:sp>
        <p:nvSpPr>
          <p:cNvPr id="15" name="tile-69"/>
          <p:cNvSpPr/>
          <p:nvPr/>
        </p:nvSpPr>
        <p:spPr>
          <a:xfrm>
            <a:off x="6400800" y="2286000"/>
            <a:ext cx="1325880" cy="9601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1905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16" name="icon-7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0004" y="2439619"/>
            <a:ext cx="347472" cy="347472"/>
          </a:xfrm>
          <a:prstGeom prst="rect">
            <a:avLst/>
          </a:prstGeom>
        </p:spPr>
      </p:pic>
      <p:sp>
        <p:nvSpPr>
          <p:cNvPr id="17" name="text-71"/>
          <p:cNvSpPr txBox="1"/>
          <p:nvPr/>
        </p:nvSpPr>
        <p:spPr>
          <a:xfrm>
            <a:off x="6400800" y="2841955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Огласи</a:t>
            </a:r>
            <a:endParaRPr lang="en-US" sz="1400" dirty="0"/>
          </a:p>
        </p:txBody>
      </p:sp>
      <p:sp>
        <p:nvSpPr>
          <p:cNvPr id="18" name="tile-72"/>
          <p:cNvSpPr/>
          <p:nvPr/>
        </p:nvSpPr>
        <p:spPr>
          <a:xfrm>
            <a:off x="7863840" y="2286000"/>
            <a:ext cx="1325880" cy="9601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1905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19" name="icon-7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3044" y="2439619"/>
            <a:ext cx="347472" cy="347472"/>
          </a:xfrm>
          <a:prstGeom prst="rect">
            <a:avLst/>
          </a:prstGeom>
        </p:spPr>
      </p:pic>
      <p:sp>
        <p:nvSpPr>
          <p:cNvPr id="20" name="text-74"/>
          <p:cNvSpPr txBox="1"/>
          <p:nvPr/>
        </p:nvSpPr>
        <p:spPr>
          <a:xfrm>
            <a:off x="7863840" y="2841955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Блог</a:t>
            </a:r>
            <a:endParaRPr lang="en-US" sz="1400" dirty="0"/>
          </a:p>
        </p:txBody>
      </p:sp>
      <p:sp>
        <p:nvSpPr>
          <p:cNvPr id="21" name="tile-75"/>
          <p:cNvSpPr/>
          <p:nvPr/>
        </p:nvSpPr>
        <p:spPr>
          <a:xfrm>
            <a:off x="4937760" y="3383280"/>
            <a:ext cx="1325880" cy="9601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1905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22" name="icon-7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6964" y="3536899"/>
            <a:ext cx="347472" cy="347472"/>
          </a:xfrm>
          <a:prstGeom prst="rect">
            <a:avLst/>
          </a:prstGeom>
        </p:spPr>
      </p:pic>
      <p:sp>
        <p:nvSpPr>
          <p:cNvPr id="23" name="text-77"/>
          <p:cNvSpPr txBox="1"/>
          <p:nvPr/>
        </p:nvSpPr>
        <p:spPr>
          <a:xfrm>
            <a:off x="4937760" y="3939235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Разговори</a:t>
            </a:r>
            <a:endParaRPr lang="en-US" sz="1400" dirty="0"/>
          </a:p>
        </p:txBody>
      </p:sp>
      <p:sp>
        <p:nvSpPr>
          <p:cNvPr id="24" name="tile-78"/>
          <p:cNvSpPr/>
          <p:nvPr/>
        </p:nvSpPr>
        <p:spPr>
          <a:xfrm>
            <a:off x="6400800" y="3383280"/>
            <a:ext cx="1325880" cy="9601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1905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25" name="icon-7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0004" y="3536899"/>
            <a:ext cx="347472" cy="347472"/>
          </a:xfrm>
          <a:prstGeom prst="rect">
            <a:avLst/>
          </a:prstGeom>
        </p:spPr>
      </p:pic>
      <p:sp>
        <p:nvSpPr>
          <p:cNvPr id="26" name="text-80"/>
          <p:cNvSpPr txBox="1"/>
          <p:nvPr/>
        </p:nvSpPr>
        <p:spPr>
          <a:xfrm>
            <a:off x="6400800" y="3939235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Плаќања</a:t>
            </a:r>
            <a:endParaRPr lang="en-US" sz="1400" dirty="0"/>
          </a:p>
        </p:txBody>
      </p:sp>
      <p:sp>
        <p:nvSpPr>
          <p:cNvPr id="27" name="tile-81"/>
          <p:cNvSpPr/>
          <p:nvPr/>
        </p:nvSpPr>
        <p:spPr>
          <a:xfrm>
            <a:off x="7863840" y="3383280"/>
            <a:ext cx="1325880" cy="9601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1905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28" name="icon-8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3044" y="3536899"/>
            <a:ext cx="347472" cy="347472"/>
          </a:xfrm>
          <a:prstGeom prst="rect">
            <a:avLst/>
          </a:prstGeom>
        </p:spPr>
      </p:pic>
      <p:sp>
        <p:nvSpPr>
          <p:cNvPr id="29" name="text-83"/>
          <p:cNvSpPr txBox="1"/>
          <p:nvPr/>
        </p:nvSpPr>
        <p:spPr>
          <a:xfrm>
            <a:off x="7863840" y="3939235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Известувања</a:t>
            </a:r>
            <a:endParaRPr lang="en-US" sz="1400" dirty="0"/>
          </a:p>
        </p:txBody>
      </p:sp>
      <p:sp>
        <p:nvSpPr>
          <p:cNvPr id="30" name="box-84"/>
          <p:cNvSpPr/>
          <p:nvPr/>
        </p:nvSpPr>
        <p:spPr>
          <a:xfrm>
            <a:off x="9692640" y="2286000"/>
            <a:ext cx="1676095" cy="2057400"/>
          </a:xfrm>
          <a:prstGeom prst="rect">
            <a:avLst/>
          </a:prstGeom>
          <a:solidFill>
            <a:schemeClr val="accent1">
              <a:alpha val="11000"/>
            </a:schemeClr>
          </a:solidFill>
          <a:ln w="15875">
            <a:solidFill>
              <a:schemeClr val="accent1"/>
            </a:solidFill>
            <a:prstDash val="solid"/>
          </a:ln>
          <a:effectLst>
            <a:outerShdw blurRad="101600" dist="1905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1" name="text-85"/>
          <p:cNvSpPr txBox="1"/>
          <p:nvPr/>
        </p:nvSpPr>
        <p:spPr>
          <a:xfrm>
            <a:off x="9765792" y="2286000"/>
            <a:ext cx="1529791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Apache Kafka</a:t>
            </a:r>
            <a:endParaRPr lang="en-US" sz="16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настани</a:t>
            </a:r>
            <a:endParaRPr lang="en-US" sz="1600" dirty="0"/>
          </a:p>
        </p:txBody>
      </p:sp>
      <p:sp>
        <p:nvSpPr>
          <p:cNvPr id="32" name="arrow-86"/>
          <p:cNvSpPr/>
          <p:nvPr/>
        </p:nvSpPr>
        <p:spPr>
          <a:xfrm>
            <a:off x="9235440" y="3314700"/>
            <a:ext cx="41148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33" name="box-87"/>
          <p:cNvSpPr/>
          <p:nvPr/>
        </p:nvSpPr>
        <p:spPr>
          <a:xfrm>
            <a:off x="4937760" y="4754880"/>
            <a:ext cx="4251960" cy="8686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4" name="text-88"/>
          <p:cNvSpPr txBox="1"/>
          <p:nvPr/>
        </p:nvSpPr>
        <p:spPr>
          <a:xfrm>
            <a:off x="5010912" y="4754880"/>
            <a:ext cx="4105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PostgreSQL</a:t>
            </a:r>
            <a:endParaRPr lang="en-US" sz="16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своја шема за секој сервис</a:t>
            </a:r>
            <a:endParaRPr lang="en-US" sz="1600" dirty="0"/>
          </a:p>
        </p:txBody>
      </p:sp>
      <p:sp>
        <p:nvSpPr>
          <p:cNvPr id="35" name="arrow-89"/>
          <p:cNvSpPr/>
          <p:nvPr/>
        </p:nvSpPr>
        <p:spPr>
          <a:xfrm>
            <a:off x="7063740" y="4343400"/>
            <a:ext cx="0" cy="41148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36" name="box-90"/>
          <p:cNvSpPr/>
          <p:nvPr/>
        </p:nvSpPr>
        <p:spPr>
          <a:xfrm>
            <a:off x="9692640" y="4754880"/>
            <a:ext cx="1676095" cy="8686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7" name="text-91"/>
          <p:cNvSpPr txBox="1"/>
          <p:nvPr/>
        </p:nvSpPr>
        <p:spPr>
          <a:xfrm>
            <a:off x="9765792" y="4754880"/>
            <a:ext cx="152979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Grafana</a:t>
            </a:r>
            <a:endParaRPr lang="en-US" sz="16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observability</a:t>
            </a:r>
            <a:endParaRPr lang="en-US" sz="16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chemeClr val="accent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Event driven design</a:t>
            </a:r>
            <a:endParaRPr lang="en-US" sz="3200" dirty="0"/>
          </a:p>
        </p:txBody>
      </p:sp>
      <p:sp>
        <p:nvSpPr>
          <p:cNvPr id="5" name="tile-92"/>
          <p:cNvSpPr/>
          <p:nvPr/>
        </p:nvSpPr>
        <p:spPr>
          <a:xfrm>
            <a:off x="548640" y="2583180"/>
            <a:ext cx="2011680" cy="11887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1905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6" name="icon-9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744" y="2773375"/>
            <a:ext cx="347472" cy="347472"/>
          </a:xfrm>
          <a:prstGeom prst="rect">
            <a:avLst/>
          </a:prstGeom>
        </p:spPr>
      </p:pic>
      <p:sp>
        <p:nvSpPr>
          <p:cNvPr id="7" name="text-94"/>
          <p:cNvSpPr txBox="1"/>
          <p:nvPr/>
        </p:nvSpPr>
        <p:spPr>
          <a:xfrm>
            <a:off x="548640" y="3175711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Корисници</a:t>
            </a:r>
            <a:endParaRPr lang="en-US" sz="1400" dirty="0"/>
          </a:p>
        </p:txBody>
      </p:sp>
      <p:sp>
        <p:nvSpPr>
          <p:cNvPr id="8" name="tx"/>
          <p:cNvSpPr/>
          <p:nvPr/>
        </p:nvSpPr>
        <p:spPr>
          <a:xfrm>
            <a:off x="3063240" y="2286000"/>
            <a:ext cx="3566160" cy="1783080"/>
          </a:xfrm>
          <a:prstGeom prst="rect">
            <a:avLst/>
          </a:prstGeom>
          <a:solidFill>
            <a:schemeClr val="accent1">
              <a:alpha val="11000"/>
            </a:schemeClr>
          </a:solidFill>
          <a:ln w="19050">
            <a:solidFill>
              <a:schemeClr val="accent1"/>
            </a:solidFill>
            <a:prstDash val="solid"/>
          </a:ln>
          <a:effectLst>
            <a:outerShdw blurRad="101600" dist="1905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" name="text-95"/>
          <p:cNvSpPr txBox="1"/>
          <p:nvPr/>
        </p:nvSpPr>
        <p:spPr>
          <a:xfrm>
            <a:off x="3063240" y="2423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ЕДНА ТРАНСАКЦИЈА</a:t>
            </a:r>
            <a:endParaRPr lang="en-US" sz="1100" dirty="0"/>
          </a:p>
        </p:txBody>
      </p:sp>
      <p:sp>
        <p:nvSpPr>
          <p:cNvPr id="10" name="box-96"/>
          <p:cNvSpPr/>
          <p:nvPr/>
        </p:nvSpPr>
        <p:spPr>
          <a:xfrm>
            <a:off x="3337560" y="2834640"/>
            <a:ext cx="3017520" cy="5029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-97"/>
          <p:cNvSpPr txBox="1"/>
          <p:nvPr/>
        </p:nvSpPr>
        <p:spPr>
          <a:xfrm>
            <a:off x="3410712" y="2834640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нов телефон</a:t>
            </a:r>
            <a:endParaRPr lang="en-US" sz="1600" dirty="0"/>
          </a:p>
        </p:txBody>
      </p:sp>
      <p:sp>
        <p:nvSpPr>
          <p:cNvPr id="12" name="box-98"/>
          <p:cNvSpPr/>
          <p:nvPr/>
        </p:nvSpPr>
        <p:spPr>
          <a:xfrm>
            <a:off x="3337560" y="3429000"/>
            <a:ext cx="3017520" cy="5029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-99"/>
          <p:cNvSpPr txBox="1"/>
          <p:nvPr/>
        </p:nvSpPr>
        <p:spPr>
          <a:xfrm>
            <a:off x="3410712" y="3429000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порака во outbox</a:t>
            </a:r>
            <a:endParaRPr lang="en-US" sz="1600" dirty="0"/>
          </a:p>
        </p:txBody>
      </p:sp>
      <p:sp>
        <p:nvSpPr>
          <p:cNvPr id="14" name="box-100"/>
          <p:cNvSpPr/>
          <p:nvPr/>
        </p:nvSpPr>
        <p:spPr>
          <a:xfrm>
            <a:off x="7132320" y="2583180"/>
            <a:ext cx="1828800" cy="11887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1905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5" name="text-101"/>
          <p:cNvSpPr txBox="1"/>
          <p:nvPr/>
        </p:nvSpPr>
        <p:spPr>
          <a:xfrm>
            <a:off x="7205472" y="2583180"/>
            <a:ext cx="16824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Kafka</a:t>
            </a:r>
            <a:endParaRPr lang="en-US" sz="16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брокер</a:t>
            </a:r>
            <a:endParaRPr lang="en-US" sz="1600" dirty="0"/>
          </a:p>
        </p:txBody>
      </p:sp>
      <p:sp>
        <p:nvSpPr>
          <p:cNvPr id="16" name="tile-102"/>
          <p:cNvSpPr/>
          <p:nvPr/>
        </p:nvSpPr>
        <p:spPr>
          <a:xfrm>
            <a:off x="9464040" y="2583180"/>
            <a:ext cx="2179015" cy="11887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1905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17" name="icon-10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9812" y="2773375"/>
            <a:ext cx="347472" cy="347472"/>
          </a:xfrm>
          <a:prstGeom prst="rect">
            <a:avLst/>
          </a:prstGeom>
        </p:spPr>
      </p:pic>
      <p:sp>
        <p:nvSpPr>
          <p:cNvPr id="18" name="text-104"/>
          <p:cNvSpPr txBox="1"/>
          <p:nvPr/>
        </p:nvSpPr>
        <p:spPr>
          <a:xfrm>
            <a:off x="9464040" y="3175711"/>
            <a:ext cx="2179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Огласи</a:t>
            </a:r>
            <a:endParaRPr lang="en-US" sz="1400" dirty="0"/>
          </a:p>
        </p:txBody>
      </p:sp>
      <p:sp>
        <p:nvSpPr>
          <p:cNvPr id="19" name="arrow-105"/>
          <p:cNvSpPr/>
          <p:nvPr/>
        </p:nvSpPr>
        <p:spPr>
          <a:xfrm>
            <a:off x="2606040" y="3177540"/>
            <a:ext cx="41148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arrow-106"/>
          <p:cNvSpPr/>
          <p:nvPr/>
        </p:nvSpPr>
        <p:spPr>
          <a:xfrm>
            <a:off x="6675120" y="3177540"/>
            <a:ext cx="41148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arrow-107"/>
          <p:cNvSpPr/>
          <p:nvPr/>
        </p:nvSpPr>
        <p:spPr>
          <a:xfrm>
            <a:off x="9006840" y="3177540"/>
            <a:ext cx="41148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LID4096"/>
          </a:p>
        </p:txBody>
      </p:sp>
      <p:pic>
        <p:nvPicPr>
          <p:cNvPr id="22" name="icon-10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617720"/>
            <a:ext cx="365760" cy="365760"/>
          </a:xfrm>
          <a:prstGeom prst="rect">
            <a:avLst/>
          </a:prstGeom>
        </p:spPr>
      </p:pic>
      <p:sp>
        <p:nvSpPr>
          <p:cNvPr id="23" name="text-109"/>
          <p:cNvSpPr txBox="1"/>
          <p:nvPr/>
        </p:nvSpPr>
        <p:spPr>
          <a:xfrm>
            <a:off x="1051560" y="4572000"/>
            <a:ext cx="3012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Или двете, или ниедно</a:t>
            </a:r>
            <a:endParaRPr lang="en-US" sz="1800" dirty="0"/>
          </a:p>
        </p:txBody>
      </p:sp>
      <p:sp>
        <p:nvSpPr>
          <p:cNvPr id="24" name="text-110"/>
          <p:cNvSpPr txBox="1"/>
          <p:nvPr/>
        </p:nvSpPr>
        <p:spPr>
          <a:xfrm>
            <a:off x="1051560" y="5029200"/>
            <a:ext cx="3012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2"/>
                </a:solidFill>
              </a:rPr>
              <a:t>телефонот и пораката се запишуваат заедно</a:t>
            </a:r>
            <a:endParaRPr lang="en-US" sz="1500" dirty="0"/>
          </a:p>
        </p:txBody>
      </p:sp>
      <p:pic>
        <p:nvPicPr>
          <p:cNvPr id="25" name="icon-1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8218" y="4617720"/>
            <a:ext cx="365760" cy="365760"/>
          </a:xfrm>
          <a:prstGeom prst="rect">
            <a:avLst/>
          </a:prstGeom>
        </p:spPr>
      </p:pic>
      <p:sp>
        <p:nvSpPr>
          <p:cNvPr id="26" name="text-112"/>
          <p:cNvSpPr txBox="1"/>
          <p:nvPr/>
        </p:nvSpPr>
        <p:spPr>
          <a:xfrm>
            <a:off x="4841138" y="4572000"/>
            <a:ext cx="3012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Kafka падна? Пораката чека</a:t>
            </a:r>
            <a:endParaRPr lang="en-US" sz="1800" dirty="0"/>
          </a:p>
        </p:txBody>
      </p:sp>
      <p:sp>
        <p:nvSpPr>
          <p:cNvPr id="27" name="text-113"/>
          <p:cNvSpPr txBox="1"/>
          <p:nvPr/>
        </p:nvSpPr>
        <p:spPr>
          <a:xfrm>
            <a:off x="4841138" y="5029200"/>
            <a:ext cx="3012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2"/>
                </a:solidFill>
              </a:rPr>
              <a:t>се праќа штом брокерот ќе се врати</a:t>
            </a:r>
            <a:endParaRPr lang="en-US" sz="1500" dirty="0"/>
          </a:p>
        </p:txBody>
      </p:sp>
      <p:pic>
        <p:nvPicPr>
          <p:cNvPr id="28" name="icon-1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7797" y="4617720"/>
            <a:ext cx="365760" cy="365760"/>
          </a:xfrm>
          <a:prstGeom prst="rect">
            <a:avLst/>
          </a:prstGeom>
        </p:spPr>
      </p:pic>
      <p:sp>
        <p:nvSpPr>
          <p:cNvPr id="29" name="text-115"/>
          <p:cNvSpPr txBox="1"/>
          <p:nvPr/>
        </p:nvSpPr>
        <p:spPr>
          <a:xfrm>
            <a:off x="8630717" y="4572000"/>
            <a:ext cx="3012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Стигна двапати? Се игнорира</a:t>
            </a:r>
            <a:endParaRPr lang="en-US" sz="1800" dirty="0"/>
          </a:p>
        </p:txBody>
      </p:sp>
      <p:sp>
        <p:nvSpPr>
          <p:cNvPr id="30" name="text-116"/>
          <p:cNvSpPr txBox="1"/>
          <p:nvPr/>
        </p:nvSpPr>
        <p:spPr>
          <a:xfrm>
            <a:off x="8630717" y="5029200"/>
            <a:ext cx="3012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2"/>
                </a:solidFill>
              </a:rPr>
              <a:t>примачот памти што веќе обработил</a:t>
            </a:r>
            <a:endParaRPr lang="en-US" sz="15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chemeClr val="accent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PRODUCTION-GRADE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Автоматска испорака, видлив систем</a:t>
            </a:r>
            <a:endParaRPr lang="en-US" sz="3200" dirty="0"/>
          </a:p>
        </p:txBody>
      </p:sp>
      <p:sp>
        <p:nvSpPr>
          <p:cNvPr id="4" name="card-117"/>
          <p:cNvSpPr/>
          <p:nvPr/>
        </p:nvSpPr>
        <p:spPr>
          <a:xfrm>
            <a:off x="548640" y="1691640"/>
            <a:ext cx="5410048" cy="448056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1905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text-118"/>
          <p:cNvSpPr txBox="1"/>
          <p:nvPr/>
        </p:nvSpPr>
        <p:spPr>
          <a:xfrm>
            <a:off x="914400" y="1965960"/>
            <a:ext cx="467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ОРКЕСТРАЦИЈА · GITOPS</a:t>
            </a:r>
            <a:endParaRPr lang="en-US" sz="1100" dirty="0"/>
          </a:p>
        </p:txBody>
      </p:sp>
      <p:sp>
        <p:nvSpPr>
          <p:cNvPr id="6" name="icon-bg-119"/>
          <p:cNvSpPr/>
          <p:nvPr/>
        </p:nvSpPr>
        <p:spPr>
          <a:xfrm>
            <a:off x="1005840" y="2514600"/>
            <a:ext cx="731520" cy="73152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7" name="icon-12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035" y="2704795"/>
            <a:ext cx="351130" cy="351130"/>
          </a:xfrm>
          <a:prstGeom prst="rect">
            <a:avLst/>
          </a:prstGeom>
        </p:spPr>
      </p:pic>
      <p:sp>
        <p:nvSpPr>
          <p:cNvPr id="8" name="text-121"/>
          <p:cNvSpPr txBox="1"/>
          <p:nvPr/>
        </p:nvSpPr>
        <p:spPr>
          <a:xfrm>
            <a:off x="731520" y="3337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Git</a:t>
            </a:r>
            <a:endParaRPr lang="en-US" sz="1500" dirty="0"/>
          </a:p>
        </p:txBody>
      </p:sp>
      <p:sp>
        <p:nvSpPr>
          <p:cNvPr id="9" name="arrow-122"/>
          <p:cNvSpPr/>
          <p:nvPr/>
        </p:nvSpPr>
        <p:spPr>
          <a:xfrm>
            <a:off x="1783080" y="2880360"/>
            <a:ext cx="431749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icon-bg-123"/>
          <p:cNvSpPr/>
          <p:nvPr/>
        </p:nvSpPr>
        <p:spPr>
          <a:xfrm>
            <a:off x="2260549" y="2514600"/>
            <a:ext cx="731520" cy="73152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1" name="icon-12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0744" y="2704795"/>
            <a:ext cx="351130" cy="351130"/>
          </a:xfrm>
          <a:prstGeom prst="rect">
            <a:avLst/>
          </a:prstGeom>
        </p:spPr>
      </p:pic>
      <p:sp>
        <p:nvSpPr>
          <p:cNvPr id="12" name="text-125"/>
          <p:cNvSpPr txBox="1"/>
          <p:nvPr/>
        </p:nvSpPr>
        <p:spPr>
          <a:xfrm>
            <a:off x="1986229" y="3337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CI</a:t>
            </a:r>
            <a:endParaRPr lang="en-US" sz="1500" dirty="0"/>
          </a:p>
        </p:txBody>
      </p:sp>
      <p:sp>
        <p:nvSpPr>
          <p:cNvPr id="13" name="arrow-126"/>
          <p:cNvSpPr/>
          <p:nvPr/>
        </p:nvSpPr>
        <p:spPr>
          <a:xfrm>
            <a:off x="3037789" y="2880360"/>
            <a:ext cx="431749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icon-bg-127"/>
          <p:cNvSpPr/>
          <p:nvPr/>
        </p:nvSpPr>
        <p:spPr>
          <a:xfrm>
            <a:off x="3515258" y="2514600"/>
            <a:ext cx="731520" cy="73152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5" name="icon-12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5454" y="2704795"/>
            <a:ext cx="351130" cy="351130"/>
          </a:xfrm>
          <a:prstGeom prst="rect">
            <a:avLst/>
          </a:prstGeom>
        </p:spPr>
      </p:pic>
      <p:sp>
        <p:nvSpPr>
          <p:cNvPr id="16" name="text-129"/>
          <p:cNvSpPr txBox="1"/>
          <p:nvPr/>
        </p:nvSpPr>
        <p:spPr>
          <a:xfrm>
            <a:off x="3240938" y="3337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ArgoCD</a:t>
            </a:r>
            <a:endParaRPr lang="en-US" sz="1500" dirty="0"/>
          </a:p>
        </p:txBody>
      </p:sp>
      <p:sp>
        <p:nvSpPr>
          <p:cNvPr id="17" name="arrow-130"/>
          <p:cNvSpPr/>
          <p:nvPr/>
        </p:nvSpPr>
        <p:spPr>
          <a:xfrm>
            <a:off x="4292498" y="2880360"/>
            <a:ext cx="431749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icon-bg-131"/>
          <p:cNvSpPr/>
          <p:nvPr/>
        </p:nvSpPr>
        <p:spPr>
          <a:xfrm>
            <a:off x="4769968" y="2514600"/>
            <a:ext cx="731520" cy="73152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9" name="icon-13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0163" y="2704795"/>
            <a:ext cx="351130" cy="351130"/>
          </a:xfrm>
          <a:prstGeom prst="rect">
            <a:avLst/>
          </a:prstGeom>
        </p:spPr>
      </p:pic>
      <p:sp>
        <p:nvSpPr>
          <p:cNvPr id="20" name="text-133"/>
          <p:cNvSpPr txBox="1"/>
          <p:nvPr/>
        </p:nvSpPr>
        <p:spPr>
          <a:xfrm>
            <a:off x="4495648" y="3337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Kubernetes</a:t>
            </a:r>
            <a:endParaRPr lang="en-US" sz="1500" dirty="0"/>
          </a:p>
        </p:txBody>
      </p:sp>
      <p:sp>
        <p:nvSpPr>
          <p:cNvPr id="21" name="rule-l"/>
          <p:cNvSpPr/>
          <p:nvPr/>
        </p:nvSpPr>
        <p:spPr>
          <a:xfrm>
            <a:off x="914400" y="4023360"/>
            <a:ext cx="467852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chip-134"/>
          <p:cNvSpPr/>
          <p:nvPr/>
        </p:nvSpPr>
        <p:spPr>
          <a:xfrm>
            <a:off x="914400" y="4343400"/>
            <a:ext cx="2224964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-135"/>
          <p:cNvSpPr txBox="1"/>
          <p:nvPr/>
        </p:nvSpPr>
        <p:spPr>
          <a:xfrm>
            <a:off x="914400" y="4343400"/>
            <a:ext cx="2224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автоскалирање</a:t>
            </a:r>
            <a:endParaRPr lang="en-US" sz="1500" dirty="0"/>
          </a:p>
        </p:txBody>
      </p:sp>
      <p:sp>
        <p:nvSpPr>
          <p:cNvPr id="24" name="chip-136"/>
          <p:cNvSpPr/>
          <p:nvPr/>
        </p:nvSpPr>
        <p:spPr>
          <a:xfrm>
            <a:off x="3367964" y="4343400"/>
            <a:ext cx="2224964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-137"/>
          <p:cNvSpPr txBox="1"/>
          <p:nvPr/>
        </p:nvSpPr>
        <p:spPr>
          <a:xfrm>
            <a:off x="3367964" y="4343400"/>
            <a:ext cx="2224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health проби</a:t>
            </a:r>
            <a:endParaRPr lang="en-US" sz="1500" dirty="0"/>
          </a:p>
        </p:txBody>
      </p:sp>
      <p:sp>
        <p:nvSpPr>
          <p:cNvPr id="26" name="chip-138"/>
          <p:cNvSpPr/>
          <p:nvPr/>
        </p:nvSpPr>
        <p:spPr>
          <a:xfrm>
            <a:off x="914400" y="5120640"/>
            <a:ext cx="2224964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text-139"/>
          <p:cNvSpPr txBox="1"/>
          <p:nvPr/>
        </p:nvSpPr>
        <p:spPr>
          <a:xfrm>
            <a:off x="914400" y="5120640"/>
            <a:ext cx="2224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мрежна изолација</a:t>
            </a:r>
            <a:endParaRPr lang="en-US" sz="1500" dirty="0"/>
          </a:p>
        </p:txBody>
      </p:sp>
      <p:sp>
        <p:nvSpPr>
          <p:cNvPr id="28" name="chip-140"/>
          <p:cNvSpPr/>
          <p:nvPr/>
        </p:nvSpPr>
        <p:spPr>
          <a:xfrm>
            <a:off x="3367964" y="5120640"/>
            <a:ext cx="2224964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text-141"/>
          <p:cNvSpPr txBox="1"/>
          <p:nvPr/>
        </p:nvSpPr>
        <p:spPr>
          <a:xfrm>
            <a:off x="3367964" y="5120640"/>
            <a:ext cx="2224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Helm charts</a:t>
            </a:r>
            <a:endParaRPr lang="en-US" sz="1500" dirty="0"/>
          </a:p>
        </p:txBody>
      </p:sp>
      <p:sp>
        <p:nvSpPr>
          <p:cNvPr id="30" name="card-142"/>
          <p:cNvSpPr/>
          <p:nvPr/>
        </p:nvSpPr>
        <p:spPr>
          <a:xfrm>
            <a:off x="6233008" y="1691640"/>
            <a:ext cx="5410048" cy="448056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blurRad="101600" dist="1905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1" name="text-143"/>
          <p:cNvSpPr txBox="1"/>
          <p:nvPr/>
        </p:nvSpPr>
        <p:spPr>
          <a:xfrm>
            <a:off x="6598768" y="1965960"/>
            <a:ext cx="467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OBSERVABILITY · OPENTELEMETRY</a:t>
            </a:r>
            <a:endParaRPr lang="en-US" sz="1100" dirty="0"/>
          </a:p>
        </p:txBody>
      </p:sp>
      <p:sp>
        <p:nvSpPr>
          <p:cNvPr id="32" name="icon-bg-144"/>
          <p:cNvSpPr/>
          <p:nvPr/>
        </p:nvSpPr>
        <p:spPr>
          <a:xfrm>
            <a:off x="6598768" y="2468880"/>
            <a:ext cx="640080" cy="64008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33" name="icon-14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5188" y="2635301"/>
            <a:ext cx="307238" cy="307238"/>
          </a:xfrm>
          <a:prstGeom prst="rect">
            <a:avLst/>
          </a:prstGeom>
        </p:spPr>
      </p:pic>
      <p:sp>
        <p:nvSpPr>
          <p:cNvPr id="34" name="text-146"/>
          <p:cNvSpPr txBox="1"/>
          <p:nvPr/>
        </p:nvSpPr>
        <p:spPr>
          <a:xfrm>
            <a:off x="7421728" y="2450592"/>
            <a:ext cx="385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Метрики  </a:t>
            </a: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Prometheus</a:t>
            </a:r>
            <a:endParaRPr lang="en-US" sz="1600" dirty="0"/>
          </a:p>
        </p:txBody>
      </p:sp>
      <p:sp>
        <p:nvSpPr>
          <p:cNvPr id="35" name="text-147"/>
          <p:cNvSpPr txBox="1"/>
          <p:nvPr/>
        </p:nvSpPr>
        <p:spPr>
          <a:xfrm>
            <a:off x="7421728" y="2798064"/>
            <a:ext cx="385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дали нешто не е во ред?</a:t>
            </a:r>
            <a:endParaRPr lang="en-US" sz="1500" dirty="0"/>
          </a:p>
        </p:txBody>
      </p:sp>
      <p:sp>
        <p:nvSpPr>
          <p:cNvPr id="36" name="icon-bg-148"/>
          <p:cNvSpPr/>
          <p:nvPr/>
        </p:nvSpPr>
        <p:spPr>
          <a:xfrm>
            <a:off x="6598768" y="3383280"/>
            <a:ext cx="640080" cy="64008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37" name="icon-14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5188" y="3549701"/>
            <a:ext cx="307238" cy="307238"/>
          </a:xfrm>
          <a:prstGeom prst="rect">
            <a:avLst/>
          </a:prstGeom>
        </p:spPr>
      </p:pic>
      <p:sp>
        <p:nvSpPr>
          <p:cNvPr id="38" name="text-150"/>
          <p:cNvSpPr txBox="1"/>
          <p:nvPr/>
        </p:nvSpPr>
        <p:spPr>
          <a:xfrm>
            <a:off x="7421728" y="3364992"/>
            <a:ext cx="385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Логови  </a:t>
            </a: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Loki</a:t>
            </a:r>
            <a:endParaRPr lang="en-US" sz="1600" dirty="0"/>
          </a:p>
        </p:txBody>
      </p:sp>
      <p:sp>
        <p:nvSpPr>
          <p:cNvPr id="39" name="text-151"/>
          <p:cNvSpPr txBox="1"/>
          <p:nvPr/>
        </p:nvSpPr>
        <p:spPr>
          <a:xfrm>
            <a:off x="7421728" y="3712464"/>
            <a:ext cx="385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што точно се случило?</a:t>
            </a:r>
            <a:endParaRPr lang="en-US" sz="1500" dirty="0"/>
          </a:p>
        </p:txBody>
      </p:sp>
      <p:sp>
        <p:nvSpPr>
          <p:cNvPr id="40" name="icon-bg-152"/>
          <p:cNvSpPr/>
          <p:nvPr/>
        </p:nvSpPr>
        <p:spPr>
          <a:xfrm>
            <a:off x="6598768" y="4297680"/>
            <a:ext cx="640080" cy="64008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41" name="icon-15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5188" y="4464101"/>
            <a:ext cx="307238" cy="307238"/>
          </a:xfrm>
          <a:prstGeom prst="rect">
            <a:avLst/>
          </a:prstGeom>
        </p:spPr>
      </p:pic>
      <p:sp>
        <p:nvSpPr>
          <p:cNvPr id="42" name="text-154"/>
          <p:cNvSpPr txBox="1"/>
          <p:nvPr/>
        </p:nvSpPr>
        <p:spPr>
          <a:xfrm>
            <a:off x="7421728" y="4279392"/>
            <a:ext cx="385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Traces  </a:t>
            </a: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Tempo</a:t>
            </a:r>
            <a:endParaRPr lang="en-US" sz="1600" dirty="0"/>
          </a:p>
        </p:txBody>
      </p:sp>
      <p:sp>
        <p:nvSpPr>
          <p:cNvPr id="43" name="text-155"/>
          <p:cNvSpPr txBox="1"/>
          <p:nvPr/>
        </p:nvSpPr>
        <p:spPr>
          <a:xfrm>
            <a:off x="7421728" y="4626864"/>
            <a:ext cx="385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каде се случило?</a:t>
            </a:r>
            <a:endParaRPr lang="en-US" sz="1500" dirty="0"/>
          </a:p>
        </p:txBody>
      </p:sp>
      <p:sp>
        <p:nvSpPr>
          <p:cNvPr id="44" name="rule-r"/>
          <p:cNvSpPr/>
          <p:nvPr/>
        </p:nvSpPr>
        <p:spPr>
          <a:xfrm>
            <a:off x="6598768" y="5303520"/>
            <a:ext cx="467852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45" name="icon-15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35928" y="5550408"/>
            <a:ext cx="365760" cy="365760"/>
          </a:xfrm>
          <a:prstGeom prst="rect">
            <a:avLst/>
          </a:prstGeom>
        </p:spPr>
      </p:pic>
      <p:sp>
        <p:nvSpPr>
          <p:cNvPr id="46" name="text-157"/>
          <p:cNvSpPr txBox="1"/>
          <p:nvPr/>
        </p:nvSpPr>
        <p:spPr>
          <a:xfrm>
            <a:off x="7421728" y="5486400"/>
            <a:ext cx="385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Grafana: </a:t>
            </a:r>
            <a:r>
              <a:rPr lang="en-US" sz="1700" dirty="0">
                <a:solidFill>
                  <a:schemeClr val="accent2"/>
                </a:solidFill>
              </a:rPr>
              <a:t>dashboards и аларми</a:t>
            </a:r>
            <a:endParaRPr lang="en-US" sz="17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chemeClr val="accent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МЕРЕЊЕ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Не „еве, работи“ — туку четири бројки</a:t>
            </a:r>
            <a:endParaRPr lang="en-US" sz="32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3716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</a:rPr>
              <a:t>Секоја проверка завршува со мерлив резултат.</a:t>
            </a:r>
            <a:endParaRPr lang="en-US" sz="1800" dirty="0"/>
          </a:p>
        </p:txBody>
      </p:sp>
      <p:sp>
        <p:nvSpPr>
          <p:cNvPr id="5" name="text-158"/>
          <p:cNvSpPr txBox="1"/>
          <p:nvPr/>
        </p:nvSpPr>
        <p:spPr>
          <a:xfrm>
            <a:off x="548640" y="2514600"/>
            <a:ext cx="23164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</a:t>
            </a:r>
            <a:endParaRPr lang="en-US" sz="5600" dirty="0"/>
          </a:p>
        </p:txBody>
      </p:sp>
      <p:sp>
        <p:nvSpPr>
          <p:cNvPr id="6" name="text-159"/>
          <p:cNvSpPr txBox="1"/>
          <p:nvPr/>
        </p:nvSpPr>
        <p:spPr>
          <a:xfrm>
            <a:off x="548640" y="4069080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tx1"/>
                </a:solidFill>
              </a:rPr>
              <a:t>изгубени настани</a:t>
            </a:r>
            <a:endParaRPr lang="en-US" sz="2100" dirty="0"/>
          </a:p>
        </p:txBody>
      </p:sp>
      <p:sp>
        <p:nvSpPr>
          <p:cNvPr id="7" name="text-160"/>
          <p:cNvSpPr txBox="1"/>
          <p:nvPr/>
        </p:nvSpPr>
        <p:spPr>
          <a:xfrm>
            <a:off x="548640" y="4937760"/>
            <a:ext cx="23164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</a:rPr>
              <a:t>гасам Kafka среде операција</a:t>
            </a:r>
            <a:endParaRPr lang="en-US" sz="1600" dirty="0"/>
          </a:p>
        </p:txBody>
      </p:sp>
      <p:sp>
        <p:nvSpPr>
          <p:cNvPr id="8" name="sep-161"/>
          <p:cNvSpPr/>
          <p:nvPr/>
        </p:nvSpPr>
        <p:spPr>
          <a:xfrm>
            <a:off x="3322244" y="2606040"/>
            <a:ext cx="0" cy="329184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-162"/>
          <p:cNvSpPr txBox="1"/>
          <p:nvPr/>
        </p:nvSpPr>
        <p:spPr>
          <a:xfrm>
            <a:off x="3642284" y="2514600"/>
            <a:ext cx="23164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5600" dirty="0"/>
          </a:p>
        </p:txBody>
      </p:sp>
      <p:sp>
        <p:nvSpPr>
          <p:cNvPr id="10" name="text-163"/>
          <p:cNvSpPr txBox="1"/>
          <p:nvPr/>
        </p:nvSpPr>
        <p:spPr>
          <a:xfrm>
            <a:off x="3642284" y="4069080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tx1"/>
                </a:solidFill>
              </a:rPr>
              <a:t>известување, не две</a:t>
            </a:r>
            <a:endParaRPr lang="en-US" sz="2100" dirty="0"/>
          </a:p>
        </p:txBody>
      </p:sp>
      <p:sp>
        <p:nvSpPr>
          <p:cNvPr id="11" name="text-164"/>
          <p:cNvSpPr txBox="1"/>
          <p:nvPr/>
        </p:nvSpPr>
        <p:spPr>
          <a:xfrm>
            <a:off x="3642284" y="4937760"/>
            <a:ext cx="23164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</a:rPr>
              <a:t>ист настан праќам двапати</a:t>
            </a:r>
            <a:endParaRPr lang="en-US" sz="1600" dirty="0"/>
          </a:p>
        </p:txBody>
      </p:sp>
      <p:sp>
        <p:nvSpPr>
          <p:cNvPr id="12" name="sep-165"/>
          <p:cNvSpPr/>
          <p:nvPr/>
        </p:nvSpPr>
        <p:spPr>
          <a:xfrm>
            <a:off x="6095848" y="2606040"/>
            <a:ext cx="0" cy="329184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-166"/>
          <p:cNvSpPr txBox="1"/>
          <p:nvPr/>
        </p:nvSpPr>
        <p:spPr>
          <a:xfrm>
            <a:off x="6415888" y="2514600"/>
            <a:ext cx="23164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p95</a:t>
            </a:r>
            <a:endParaRPr lang="en-US" sz="5600" dirty="0"/>
          </a:p>
        </p:txBody>
      </p:sp>
      <p:sp>
        <p:nvSpPr>
          <p:cNvPr id="14" name="text-167"/>
          <p:cNvSpPr txBox="1"/>
          <p:nvPr/>
        </p:nvSpPr>
        <p:spPr>
          <a:xfrm>
            <a:off x="6415888" y="4069080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tx1"/>
                </a:solidFill>
              </a:rPr>
              <a:t>монолит vs. сервиси</a:t>
            </a:r>
            <a:endParaRPr lang="en-US" sz="2100" dirty="0"/>
          </a:p>
        </p:txBody>
      </p:sp>
      <p:sp>
        <p:nvSpPr>
          <p:cNvPr id="15" name="text-168"/>
          <p:cNvSpPr txBox="1"/>
          <p:nvPr/>
        </p:nvSpPr>
        <p:spPr>
          <a:xfrm>
            <a:off x="6415888" y="4937760"/>
            <a:ext cx="23164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</a:rPr>
              <a:t>исто оптоварување со k6</a:t>
            </a:r>
            <a:endParaRPr lang="en-US" sz="1600" dirty="0"/>
          </a:p>
        </p:txBody>
      </p:sp>
      <p:sp>
        <p:nvSpPr>
          <p:cNvPr id="16" name="sep-169"/>
          <p:cNvSpPr/>
          <p:nvPr/>
        </p:nvSpPr>
        <p:spPr>
          <a:xfrm>
            <a:off x="8869451" y="2606040"/>
            <a:ext cx="0" cy="329184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-170"/>
          <p:cNvSpPr txBox="1"/>
          <p:nvPr/>
        </p:nvSpPr>
        <p:spPr>
          <a:xfrm>
            <a:off x="9189491" y="2514600"/>
            <a:ext cx="23164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MTTD</a:t>
            </a:r>
            <a:endParaRPr lang="en-US" sz="5600" dirty="0"/>
          </a:p>
        </p:txBody>
      </p:sp>
      <p:sp>
        <p:nvSpPr>
          <p:cNvPr id="18" name="text-171"/>
          <p:cNvSpPr txBox="1"/>
          <p:nvPr/>
        </p:nvSpPr>
        <p:spPr>
          <a:xfrm>
            <a:off x="9189491" y="4069080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tx1"/>
                </a:solidFill>
              </a:rPr>
              <a:t>време до аларм</a:t>
            </a:r>
            <a:endParaRPr lang="en-US" sz="2100" dirty="0"/>
          </a:p>
        </p:txBody>
      </p:sp>
      <p:sp>
        <p:nvSpPr>
          <p:cNvPr id="19" name="text-172"/>
          <p:cNvSpPr txBox="1"/>
          <p:nvPr/>
        </p:nvSpPr>
        <p:spPr>
          <a:xfrm>
            <a:off x="9189491" y="4937760"/>
            <a:ext cx="23164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</a:rPr>
              <a:t>убивам pod со Chaos Mesh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chemeClr val="accent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ОБЕМ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Тежината е на едно место</a:t>
            </a:r>
            <a:endParaRPr lang="en-US" sz="3200" dirty="0"/>
          </a:p>
        </p:txBody>
      </p:sp>
      <p:sp>
        <p:nvSpPr>
          <p:cNvPr id="4" name="text-173"/>
          <p:cNvSpPr txBox="1"/>
          <p:nvPr/>
        </p:nvSpPr>
        <p:spPr>
          <a:xfrm>
            <a:off x="54864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ВЛЕГУВА</a:t>
            </a:r>
            <a:endParaRPr lang="en-US" sz="1200" dirty="0"/>
          </a:p>
        </p:txBody>
      </p:sp>
      <p:pic>
        <p:nvPicPr>
          <p:cNvPr id="5" name="icon-17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59152"/>
            <a:ext cx="274320" cy="274320"/>
          </a:xfrm>
          <a:prstGeom prst="rect">
            <a:avLst/>
          </a:prstGeom>
        </p:spPr>
      </p:pic>
      <p:sp>
        <p:nvSpPr>
          <p:cNvPr id="6" name="text-175"/>
          <p:cNvSpPr txBox="1"/>
          <p:nvPr/>
        </p:nvSpPr>
        <p:spPr>
          <a:xfrm>
            <a:off x="1005840" y="2286000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bg1"/>
                </a:solidFill>
              </a:rPr>
              <a:t>Kafka · outbox · inbox</a:t>
            </a:r>
            <a:endParaRPr lang="en-US" sz="1900" dirty="0"/>
          </a:p>
        </p:txBody>
      </p:sp>
      <p:pic>
        <p:nvPicPr>
          <p:cNvPr id="7" name="icon-17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62072"/>
            <a:ext cx="274320" cy="274320"/>
          </a:xfrm>
          <a:prstGeom prst="rect">
            <a:avLst/>
          </a:prstGeom>
        </p:spPr>
      </p:pic>
      <p:sp>
        <p:nvSpPr>
          <p:cNvPr id="8" name="text-177"/>
          <p:cNvSpPr txBox="1"/>
          <p:nvPr/>
        </p:nvSpPr>
        <p:spPr>
          <a:xfrm>
            <a:off x="1005840" y="2788920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bg1"/>
                </a:solidFill>
              </a:rPr>
              <a:t>Kubernetes · Helm · ArgoCD</a:t>
            </a:r>
            <a:endParaRPr lang="en-US" sz="1900" dirty="0"/>
          </a:p>
        </p:txBody>
      </p:sp>
      <p:pic>
        <p:nvPicPr>
          <p:cNvPr id="9" name="icon-17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364992"/>
            <a:ext cx="274320" cy="274320"/>
          </a:xfrm>
          <a:prstGeom prst="rect">
            <a:avLst/>
          </a:prstGeom>
        </p:spPr>
      </p:pic>
      <p:sp>
        <p:nvSpPr>
          <p:cNvPr id="10" name="text-179"/>
          <p:cNvSpPr txBox="1"/>
          <p:nvPr/>
        </p:nvSpPr>
        <p:spPr>
          <a:xfrm>
            <a:off x="1005840" y="3291840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bg1"/>
                </a:solidFill>
              </a:rPr>
              <a:t>CI/CD со GitHub Actions</a:t>
            </a:r>
            <a:endParaRPr lang="en-US" sz="1900" dirty="0"/>
          </a:p>
        </p:txBody>
      </p:sp>
      <p:pic>
        <p:nvPicPr>
          <p:cNvPr id="11" name="icon-18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67912"/>
            <a:ext cx="274320" cy="274320"/>
          </a:xfrm>
          <a:prstGeom prst="rect">
            <a:avLst/>
          </a:prstGeom>
        </p:spPr>
      </p:pic>
      <p:sp>
        <p:nvSpPr>
          <p:cNvPr id="12" name="text-181"/>
          <p:cNvSpPr txBox="1"/>
          <p:nvPr/>
        </p:nvSpPr>
        <p:spPr>
          <a:xfrm>
            <a:off x="1005840" y="3794760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bg1"/>
                </a:solidFill>
              </a:rPr>
              <a:t>Метрики · логови · traces</a:t>
            </a:r>
            <a:endParaRPr lang="en-US" sz="1900" dirty="0"/>
          </a:p>
        </p:txBody>
      </p:sp>
      <p:pic>
        <p:nvPicPr>
          <p:cNvPr id="13" name="icon-18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70832"/>
            <a:ext cx="274320" cy="274320"/>
          </a:xfrm>
          <a:prstGeom prst="rect">
            <a:avLst/>
          </a:prstGeom>
        </p:spPr>
      </p:pic>
      <p:sp>
        <p:nvSpPr>
          <p:cNvPr id="14" name="text-183"/>
          <p:cNvSpPr txBox="1"/>
          <p:nvPr/>
        </p:nvSpPr>
        <p:spPr>
          <a:xfrm>
            <a:off x="1005840" y="4297680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bg1"/>
                </a:solidFill>
              </a:rPr>
              <a:t>Мерења со k6 и Chaos Mesh</a:t>
            </a:r>
            <a:endParaRPr lang="en-US" sz="1900" dirty="0"/>
          </a:p>
        </p:txBody>
      </p:sp>
      <p:sp>
        <p:nvSpPr>
          <p:cNvPr id="15" name="text-184"/>
          <p:cNvSpPr txBox="1"/>
          <p:nvPr/>
        </p:nvSpPr>
        <p:spPr>
          <a:xfrm>
            <a:off x="676656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НЕ ВЛЕГУВА</a:t>
            </a:r>
            <a:endParaRPr lang="en-US" sz="1200" dirty="0"/>
          </a:p>
        </p:txBody>
      </p:sp>
      <p:pic>
        <p:nvPicPr>
          <p:cNvPr id="16" name="icon-18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359152"/>
            <a:ext cx="274320" cy="274320"/>
          </a:xfrm>
          <a:prstGeom prst="rect">
            <a:avLst/>
          </a:prstGeom>
        </p:spPr>
      </p:pic>
      <p:sp>
        <p:nvSpPr>
          <p:cNvPr id="17" name="text-186"/>
          <p:cNvSpPr txBox="1"/>
          <p:nvPr/>
        </p:nvSpPr>
        <p:spPr>
          <a:xfrm>
            <a:off x="7223760" y="228600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strike="sngStrike" dirty="0">
                <a:solidFill>
                  <a:schemeClr val="accent5"/>
                </a:solidFill>
              </a:rPr>
              <a:t>Посебна база по сервис</a:t>
            </a:r>
            <a:endParaRPr lang="en-US" sz="1900" dirty="0"/>
          </a:p>
        </p:txBody>
      </p:sp>
      <p:pic>
        <p:nvPicPr>
          <p:cNvPr id="18" name="icon-18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862072"/>
            <a:ext cx="274320" cy="274320"/>
          </a:xfrm>
          <a:prstGeom prst="rect">
            <a:avLst/>
          </a:prstGeom>
        </p:spPr>
      </p:pic>
      <p:sp>
        <p:nvSpPr>
          <p:cNvPr id="19" name="text-188"/>
          <p:cNvSpPr txBox="1"/>
          <p:nvPr/>
        </p:nvSpPr>
        <p:spPr>
          <a:xfrm>
            <a:off x="7223760" y="278892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strike="sngStrike" dirty="0">
                <a:solidFill>
                  <a:schemeClr val="accent5"/>
                </a:solidFill>
              </a:rPr>
              <a:t>Service mesh</a:t>
            </a:r>
            <a:endParaRPr lang="en-US" sz="1900" dirty="0"/>
          </a:p>
        </p:txBody>
      </p:sp>
      <p:pic>
        <p:nvPicPr>
          <p:cNvPr id="20" name="icon-18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3364992"/>
            <a:ext cx="274320" cy="274320"/>
          </a:xfrm>
          <a:prstGeom prst="rect">
            <a:avLst/>
          </a:prstGeom>
        </p:spPr>
      </p:pic>
      <p:sp>
        <p:nvSpPr>
          <p:cNvPr id="21" name="text-190"/>
          <p:cNvSpPr txBox="1"/>
          <p:nvPr/>
        </p:nvSpPr>
        <p:spPr>
          <a:xfrm>
            <a:off x="7223760" y="329184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strike="sngStrike" dirty="0">
                <a:solidFill>
                  <a:schemeClr val="accent5"/>
                </a:solidFill>
              </a:rPr>
              <a:t>Хостинг во облак</a:t>
            </a:r>
            <a:endParaRPr lang="en-US" sz="1900" dirty="0"/>
          </a:p>
        </p:txBody>
      </p:sp>
      <p:pic>
        <p:nvPicPr>
          <p:cNvPr id="22" name="icon-19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3867912"/>
            <a:ext cx="274320" cy="274320"/>
          </a:xfrm>
          <a:prstGeom prst="rect">
            <a:avLst/>
          </a:prstGeom>
        </p:spPr>
      </p:pic>
      <p:sp>
        <p:nvSpPr>
          <p:cNvPr id="23" name="text-192"/>
          <p:cNvSpPr txBox="1"/>
          <p:nvPr/>
        </p:nvSpPr>
        <p:spPr>
          <a:xfrm>
            <a:off x="7223760" y="379476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strike="sngStrike" dirty="0">
                <a:solidFill>
                  <a:schemeClr val="accent5"/>
                </a:solidFill>
              </a:rPr>
              <a:t>Нова функционалност</a:t>
            </a:r>
            <a:endParaRPr lang="en-US" sz="1900" dirty="0"/>
          </a:p>
        </p:txBody>
      </p:sp>
      <p:sp>
        <p:nvSpPr>
          <p:cNvPr id="24" name="close-rule"/>
          <p:cNvSpPr/>
          <p:nvPr/>
        </p:nvSpPr>
        <p:spPr>
          <a:xfrm>
            <a:off x="548640" y="4846320"/>
            <a:ext cx="11094415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rket Signal">
  <a:themeElements>
    <a:clrScheme name="AutoMarket Signal">
      <a:dk1>
        <a:srgbClr val="15181D"/>
      </a:dk1>
      <a:lt1>
        <a:srgbClr val="FFFFFF"/>
      </a:lt1>
      <a:dk2>
        <a:srgbClr val="161B24"/>
      </a:dk2>
      <a:lt2>
        <a:srgbClr val="F1F3F6"/>
      </a:lt2>
      <a:accent1>
        <a:srgbClr val="C2410C"/>
      </a:accent1>
      <a:accent2>
        <a:srgbClr val="5B646F"/>
      </a:accent2>
      <a:accent3>
        <a:srgbClr val="1F7A4D"/>
      </a:accent3>
      <a:accent4>
        <a:srgbClr val="B42318"/>
      </a:accent4>
      <a:accent5>
        <a:srgbClr val="D3D9E0"/>
      </a:accent5>
      <a:accent6>
        <a:srgbClr val="F28C5B"/>
      </a:accent6>
      <a:hlink>
        <a:srgbClr val="C2410C"/>
      </a:hlink>
      <a:folHlink>
        <a:srgbClr val="5B646F"/>
      </a:folHlink>
    </a:clrScheme>
    <a:fontScheme name="AutoMarket Sign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1206</Words>
  <Application>Microsoft Office PowerPoint</Application>
  <PresentationFormat>Widescreen</PresentationFormat>
  <Paragraphs>127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Cambria</vt:lpstr>
      <vt:lpstr>Courier New</vt:lpstr>
      <vt:lpstr>AutoMarket Signal</vt:lpstr>
      <vt:lpstr>Event-driven микросервиси со модерна оркестрација и observability</vt:lpstr>
      <vt:lpstr>Monolith -&gt; Microservice architecture</vt:lpstr>
      <vt:lpstr>Сервиси што разговараат преку настани</vt:lpstr>
      <vt:lpstr>Event driven design</vt:lpstr>
      <vt:lpstr>Автоматска испорака, видлив систем</vt:lpstr>
      <vt:lpstr>Не „еве, работи“ — туку четири бројки</vt:lpstr>
      <vt:lpstr>Тежината е на едно место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AutoMarket — предлог за дипломска работа</dc:title>
  <dc:subject>Event-driven микросервиси со модерна оркестрација и observability</dc:subject>
  <dc:creator>[Име Презиме]</dc:creator>
  <cp:lastModifiedBy>Костоски Даниел</cp:lastModifiedBy>
  <cp:revision>2</cp:revision>
  <dcterms:created xsi:type="dcterms:W3CDTF">2026-10-17T19:14:32Z</dcterms:created>
  <dcterms:modified xsi:type="dcterms:W3CDTF">2026-10-18T09:56:23Z</dcterms:modified>
</cp:coreProperties>
</file>