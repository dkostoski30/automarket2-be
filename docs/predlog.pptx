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овед" id="{f4110c19-986a-580b-087e-97893b58afe9}">
          <p14:sldIdLst>
            <p14:sldId id="256"/>
            <p14:sldId id="257"/>
            <p14:sldId id="258"/>
            <p14:sldId id="259"/>
          </p14:sldIdLst>
        </p14:section>
        <p14:section name="Архитектура" id="{f5277a00-c28b-1250-29e8-73dfb2dc21e0}">
          <p14:sldIdLst>
            <p14:sldId id="260"/>
            <p14:sldId id="261"/>
            <p14:sldId id="262"/>
            <p14:sldId id="263"/>
          </p14:sldIdLst>
        </p14:section>
        <p14:section name="Инфраструктура" id="{13a16405-449d-c9c4-cf3e-85d8af63a293}">
          <p14:sldIdLst>
            <p14:sldId id="264"/>
            <p14:sldId id="265"/>
            <p14:sldId id="266"/>
          </p14:sldIdLst>
        </p14:section>
        <p14:section name="Евалуација и план" id="{ca752755-8878-9ecd-7d98-61e5d82d2acd}">
          <p14:sldIdLst>
            <p14:sldId id="267"/>
            <p14:sldId id="268"/>
            <p14:sldId id="269"/>
            <p14:sldId id="270"/>
          </p14:sldIdLst>
        </p14:section>
        <p14:section name="Заклучок" id="{bec37e15-78ca-1bbe-de0b-748b377ad5a6}">
          <p14:sldIdLst>
            <p14:sldId id="271"/>
          </p14:sldIdLst>
        </p14:section>
        <p14:section name="Додаток" id="{2b3e8a91-466c-8e51-ab6e-8c7ba17700eb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Добар ден. Предлогот е за дипломска работа на тема event-driven микросервисна архитектура.
Во една реченица: имам постоечка монолитна апликација за огласи за автомобили и предлагам да ја разделам на сервиси што комуницираат преку настани, да ја оркестрирам со Kubernetes, да ја направам целосно набљудлива — и потоа да ги измерам двете верзии една против друга.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Микросервисите изгледаат едноставно на дијаграм — неколку кутии и стрелки. Проблемите се појавуваат кога нешто ќе падне.
Прво: ако сервисите делат табели или синхроно се повикуваат, добиваме дистрибуиран монолит — сета цена на дистрибуцијата, без ниту една придобивка.
Второ: запис во база плус порака до брокер се две операции. Ако втората падне, податоците тивко се разминуваат.
Трето: асинхроните дефекти не се гледаат однадвор. API-то си враќа 200, а настаните не течат.
Тоа е темата: не само да се изгради систем, туку да се докаже дека е коректен и кога нешто паѓа.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Истата функционалност, изградена на два различни начини.
Лево е стариот .NET проект со Razor Pages: една апликација, сета логика заедно, една база. Од него знам што прави системот, и тој ми останува основа за споредба.
Десно е предлогот: Angular SPA, API Gateway со JWT, шест сервиси со своја шема во базата, Kafka за настани, Kubernetes за оркестрација и observability стек.
Важно: работен прототип веќе постои, а дел од инфраструктурата го претставив на предметот DevOps — значи темата не е ризична, туку изводлива.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Целта е систем што е production-grade — не само дека работи, туку дека може да се докаже како се однесува.
Четири прашања на кои трудот одговара со мерење:
П1 — губиме ли настани кога брокерот паѓа?
П2 — ако истиот настан стигне двапати, дали ефектот се случува само еднаш?
П3 — колку чини дистрибуцијата во латенција, пропусност и ресурси, споредено со монолитот?
П4 — колку брзо го забележуваме и лоцираме дефектот кога нешто ќе тргне наопаку?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Поделбата не е по слоеви — контролери, сервиси, репозиториуми — туку по домен.
Шест сервиси: корисници, огласи, блог, разговори, плаќања и известувања. Секој ги поседува своите табели во своја PostgreSQL шема и не смее да чита туѓи табели.
Сервисот за известувања нема база — само реагира на настани и праќа email.
Клиентот разговара само со API Gateway-от, кој го проверува токенот и го рутира барањето.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Целната архитектура, одозгора надолу.
Клиентот влегува преку Ingress во API Gateway-от — единствената влезна точка. Тој го валидира JWT токенот, применува rate limiting и рутира кон сервисите.
Сервисите синхроно ги користат само своите табели во PostgreSQL. Меѓусебно разговараат преку Kafka — по еден topic за секој агрегат, со dead-letter topic за пораки што не можат да се обработат. Redis е за кеш и rate limiting, MinIO за слики.
Десно е observability: сите сервиси праќаат телеметрија во OpenTelemetry collector, оттаму во Prometheus, Loki и Tempo, а Grafana ги прикажува и алармира.
Сè освен клиентот работи во Kubernetes, опишано со Helm и синхронизирано од Git со ArgoCD.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Секој сервис има свои табели. Погледнете што има, а што нема, сервисот за огласи.
Кога ќе отворите оглас, треба да се види името и телефонот на продавачот. Сервисот за огласи го има само продавач_id — бројката. Името е во другата табела, во другиот сервис.
Може да го праша сервисот за корисници секој пат. Но тогаш, ако тој сервис не работи, не се отвораат ни огласите.
Затоа го правам обратно: при регистрација сервисот за корисници праќа настан, а сервисот за огласи си запишува тоа што му треба во своја табела „продавачи“.
Сега огласот се отвора само од своите табели. Цената е кратко доцнење на копијата — eventual consistency — и тоа е компромис што трудот го документира.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Марко си го менува телефонот. Две работи треба да се случат, една по друга: прво сервисот за корисници го запишува новиот телефон, па праќа порака за да дознае и сервисот за огласи.
Чекор 1 веќе е направен и не се враќа назад. Ако чекор 2 падне, телефонот е нов во едниот сервис, стар во другиот — и ништо никаде не пишува дека тоа се случило.
Решението е да не ги разделувам. Пораката се запишува во истата база, во истата трансакција како и телефонот — како обичен ред во табела outbox. Или двете, или ниедно.
Потоа мал relay ја чита таа табела и ги праќа пораките. Ако Kafka не работи, пораката чека; кога ќе се врати, се праќа. Ништо не се губи — само се задржува.
А ако истата порака стигне двапати, примачот преку inbox табела препознава дека веќе ја обработил.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Production-grade значи и дека испораката е автоматизирана.
Секој push поминува низ GitHub Actions: тестови, build и Docker image во registry. ArgoCD ја следи Git репозиториумот и го синхронизира кластерот со она што е запишано таму — GitOps, без рачен kubectl apply. Сервисите се спакувани како Helm charts.
Во кластерот: health проби за рестарт и рутирање само до здрави pods, автоскалирање, PodDisruptionBudget за достапност при одржување, NetworkPolicy со default-deny, конфигурација и тајни надвор од кодот, и Ingress како единствена влезна точка.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Кај асинхрон систем најопасните дефекти се тивки: API-то враќа 200, а настаните престанале да течат.
Затоа observability е дел од темата, не додаток. Три столба:
Метрики во Prometheus — дали нешто не е во ред: латенција, грешки, Kafka consumer lag, колку стара е најстарата неиспратена порака во outbox.
Логови во Loki — што точно се случило, пребарливи по trace id.
Traces во Tempo — каде се случило: едно барање следено од gateway-от, низ сервисот, низ Kafka, до сите consumers.
Сè се собира преку OpenTelemetry, а Grafana ги прикажува и алармира — на пример кога outbox престане да се празни или кога порака заврши во dead-letter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Стекот накратко. Апликацијата е Java 21 со Spring Boot 3 и Spring Cloud Gateway, со Angular клиент.
PostgreSQL со шема по сервис и Flyway миграции, Redis за кеш, MinIO како S3 за слики.
Kafka во KRaft режим за настани, со outbox, inbox и dead-letter topics.
Docker, Kubernetes локално со k3d, Helm; GitHub Actions и ArgoCD за испорака.
OpenTelemetry, Prometheus, Grafana, Loki и Tempo за observability.
За евалуација: JUnit и Testcontainers, k6 за оптоварување, Chaos Mesh за контролирани откази.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сакам да завршам со „еве, работи“. Четири проверки, секоја со бројка на крајот:
1. Ја гасам Kafka среде операција, со Chaos Mesh — очекуван резултат: нула изгубени настани.
2. Истиот настан го праќам двапати — очекувам едно известување, не две.
3. Истото оптоварување со k6 врз монолитот и врз сервисите — споредувам p95 латенција, пропусност и потрошувачка на ресурси.
4. Убивам pod или прекинувам мрежа — мерам колку брзо се јавува аларм и колку брзо, преку traces и логови, ја наоѓам причината.
Секоја проверка одговара на едно од четирите истражувачки прашања.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Функционалноста ја држам мала намерно — истата е како кај монолитот. Тежината е на едно место: архитектурата, инфраструктурата и мерењето.
Влегува: Kafka со outbox и inbox, Kubernetes локално, Helm и ArgoCD, CI/CD, целосен observability стек и експериментите со k6 и Chaos Mesh.
Не влегува: посебна база по сервис — шемата по сервис е доволна; service mesh; хостинг во облак; и нова функционалност.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Планот е околу петнаесет недели, во пет фази:
Прво стабилизација и CI/CD — тестовите стануваат услов за merge, а images се градат и објавуваат автоматски.
Потоа Helm и GitOps со ArgoCD.
Потоа observability — OpenTelemetry, Loki, Tempo, dashboards и аларми.
Потоа експериментите — baseline на монолитот, k6 и Chaos Mesh сценарија.
И на крај анализа на резултатите и пишување. Роковите се ориентациони и можам да ги прилагодам.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Што ќе остане од трудот:
Една референтна архитектура — event-driven микросервиси на Kubernetes, со GitOps и observability.
Емпириска споредба на истата апликација во две архитектури — тоа е главниот придонес.
Експерименти што може повторно да се извршат.
И искрено документирани компромиси — вклучително и кога микросервисите не се исплатат.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 заокружам: стариот .NET проект ќе го преработам, но тој ми останува и основа за споредба. Прототипот веќе постои, па ризикот е мал.
Ако темата ви изгледа во ред, следуваат доградбата на инфраструктурата, мерењата и пишувањето. Ви благодарам — повелете прашања.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Резервен слајд — одговори на прашањата што најверојатно ќе се појават. Не го прикажувам, освен ако не прашаат.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097280"/>
            <a:ext cx="71323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554480"/>
            <a:ext cx="71323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03320"/>
            <a:ext cx="6949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8920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400"/>
              </a:spcAft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AutoMarket · предлог за дипломска работа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ED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AutoMarket · предлог за дипломска работа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68580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17320" y="1325880"/>
            <a:ext cx="9692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32461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25196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0972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ПРЕДЛОГ ЗА ДИПЛОМСКА РАБОТА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554480"/>
            <a:ext cx="7132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Event-driven микросервисна архитектура со модерна оркестрација и observability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03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Дизајн, имплементација и евалуација — студија на случај AutoMarket, платформа за огласи за автомобили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8920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[Име Презиме] · [бр. на индекс]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Ментор: [проф. д-р Име Презиме]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[Факултет] · октомври 2026</a:t>
            </a:r>
            <a:endParaRPr lang="en-US" sz="1400" dirty="0"/>
          </a:p>
        </p:txBody>
      </p:sp>
      <p:sp>
        <p:nvSpPr>
          <p:cNvPr id="6" name="bus"/>
          <p:cNvSpPr/>
          <p:nvPr/>
        </p:nvSpPr>
        <p:spPr>
          <a:xfrm>
            <a:off x="9898380" y="1280160"/>
            <a:ext cx="0" cy="388620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7" name="tile-1"/>
          <p:cNvSpPr/>
          <p:nvPr/>
        </p:nvSpPr>
        <p:spPr>
          <a:xfrm>
            <a:off x="822960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chemeClr val="bg1">
              <a:alpha val="7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on-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4796" y="1572768"/>
            <a:ext cx="384048" cy="384048"/>
          </a:xfrm>
          <a:prstGeom prst="rect">
            <a:avLst/>
          </a:prstGeom>
        </p:spPr>
      </p:pic>
      <p:sp>
        <p:nvSpPr>
          <p:cNvPr id="9" name="text-3"/>
          <p:cNvSpPr txBox="1"/>
          <p:nvPr/>
        </p:nvSpPr>
        <p:spPr>
          <a:xfrm>
            <a:off x="8229600" y="20391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endParaRPr lang="en-US" sz="1000" dirty="0"/>
          </a:p>
        </p:txBody>
      </p:sp>
      <p:sp>
        <p:nvSpPr>
          <p:cNvPr id="10" name="arrow-4"/>
          <p:cNvSpPr/>
          <p:nvPr/>
        </p:nvSpPr>
        <p:spPr>
          <a:xfrm>
            <a:off x="9464040" y="189738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1" name="tile-5"/>
          <p:cNvSpPr/>
          <p:nvPr/>
        </p:nvSpPr>
        <p:spPr>
          <a:xfrm>
            <a:off x="1033272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chemeClr val="bg1">
              <a:alpha val="7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con-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7916" y="1572768"/>
            <a:ext cx="384048" cy="384048"/>
          </a:xfrm>
          <a:prstGeom prst="rect">
            <a:avLst/>
          </a:prstGeom>
        </p:spPr>
      </p:pic>
      <p:sp>
        <p:nvSpPr>
          <p:cNvPr id="13" name="text-7"/>
          <p:cNvSpPr txBox="1"/>
          <p:nvPr/>
        </p:nvSpPr>
        <p:spPr>
          <a:xfrm>
            <a:off x="10332720" y="20391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listing</a:t>
            </a:r>
            <a:endParaRPr lang="en-US" sz="1000" dirty="0"/>
          </a:p>
        </p:txBody>
      </p:sp>
      <p:sp>
        <p:nvSpPr>
          <p:cNvPr id="14" name="arrow-8"/>
          <p:cNvSpPr/>
          <p:nvPr/>
        </p:nvSpPr>
        <p:spPr>
          <a:xfrm>
            <a:off x="9898380" y="189738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5" name="tile-9"/>
          <p:cNvSpPr/>
          <p:nvPr/>
        </p:nvSpPr>
        <p:spPr>
          <a:xfrm>
            <a:off x="8229600" y="2606040"/>
            <a:ext cx="1234440" cy="960120"/>
          </a:xfrm>
          <a:prstGeom prst="roundRect">
            <a:avLst>
              <a:gd name="adj" fmla="val 7619"/>
            </a:avLst>
          </a:prstGeom>
          <a:solidFill>
            <a:schemeClr val="bg1">
              <a:alpha val="7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4796" y="2761488"/>
            <a:ext cx="384048" cy="384048"/>
          </a:xfrm>
          <a:prstGeom prst="rect">
            <a:avLst/>
          </a:prstGeom>
        </p:spPr>
      </p:pic>
      <p:sp>
        <p:nvSpPr>
          <p:cNvPr id="17" name="text-11"/>
          <p:cNvSpPr txBox="1"/>
          <p:nvPr/>
        </p:nvSpPr>
        <p:spPr>
          <a:xfrm>
            <a:off x="8229600" y="3227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</a:t>
            </a:r>
            <a:endParaRPr lang="en-US" sz="1000" dirty="0"/>
          </a:p>
        </p:txBody>
      </p:sp>
      <p:sp>
        <p:nvSpPr>
          <p:cNvPr id="18" name="arrow-12"/>
          <p:cNvSpPr/>
          <p:nvPr/>
        </p:nvSpPr>
        <p:spPr>
          <a:xfrm>
            <a:off x="9464040" y="308610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9" name="tile-13"/>
          <p:cNvSpPr/>
          <p:nvPr/>
        </p:nvSpPr>
        <p:spPr>
          <a:xfrm>
            <a:off x="10332720" y="2606040"/>
            <a:ext cx="1234440" cy="960120"/>
          </a:xfrm>
          <a:prstGeom prst="roundRect">
            <a:avLst>
              <a:gd name="adj" fmla="val 7619"/>
            </a:avLst>
          </a:prstGeom>
          <a:solidFill>
            <a:schemeClr val="bg1">
              <a:alpha val="7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-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7916" y="2761488"/>
            <a:ext cx="384048" cy="384048"/>
          </a:xfrm>
          <a:prstGeom prst="rect">
            <a:avLst/>
          </a:prstGeom>
        </p:spPr>
      </p:pic>
      <p:sp>
        <p:nvSpPr>
          <p:cNvPr id="21" name="text-15"/>
          <p:cNvSpPr txBox="1"/>
          <p:nvPr/>
        </p:nvSpPr>
        <p:spPr>
          <a:xfrm>
            <a:off x="10332720" y="3227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</a:t>
            </a:r>
            <a:endParaRPr lang="en-US" sz="1000" dirty="0"/>
          </a:p>
        </p:txBody>
      </p:sp>
      <p:sp>
        <p:nvSpPr>
          <p:cNvPr id="22" name="arrow-16"/>
          <p:cNvSpPr/>
          <p:nvPr/>
        </p:nvSpPr>
        <p:spPr>
          <a:xfrm>
            <a:off x="9898380" y="308610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23" name="tile-17"/>
          <p:cNvSpPr/>
          <p:nvPr/>
        </p:nvSpPr>
        <p:spPr>
          <a:xfrm>
            <a:off x="8229600" y="3794760"/>
            <a:ext cx="1234440" cy="960120"/>
          </a:xfrm>
          <a:prstGeom prst="roundRect">
            <a:avLst>
              <a:gd name="adj" fmla="val 7619"/>
            </a:avLst>
          </a:prstGeom>
          <a:solidFill>
            <a:schemeClr val="bg1">
              <a:alpha val="7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con-1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4796" y="3950208"/>
            <a:ext cx="384048" cy="384048"/>
          </a:xfrm>
          <a:prstGeom prst="rect">
            <a:avLst/>
          </a:prstGeom>
        </p:spPr>
      </p:pic>
      <p:sp>
        <p:nvSpPr>
          <p:cNvPr id="25" name="text-19"/>
          <p:cNvSpPr txBox="1"/>
          <p:nvPr/>
        </p:nvSpPr>
        <p:spPr>
          <a:xfrm>
            <a:off x="8229600" y="441655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</a:t>
            </a:r>
            <a:endParaRPr lang="en-US" sz="1000" dirty="0"/>
          </a:p>
        </p:txBody>
      </p:sp>
      <p:sp>
        <p:nvSpPr>
          <p:cNvPr id="26" name="arrow-20"/>
          <p:cNvSpPr/>
          <p:nvPr/>
        </p:nvSpPr>
        <p:spPr>
          <a:xfrm>
            <a:off x="9464040" y="427482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27" name="tile-21"/>
          <p:cNvSpPr/>
          <p:nvPr/>
        </p:nvSpPr>
        <p:spPr>
          <a:xfrm>
            <a:off x="10332720" y="3794760"/>
            <a:ext cx="1234440" cy="960120"/>
          </a:xfrm>
          <a:prstGeom prst="roundRect">
            <a:avLst>
              <a:gd name="adj" fmla="val 7619"/>
            </a:avLst>
          </a:prstGeom>
          <a:solidFill>
            <a:schemeClr val="bg1">
              <a:alpha val="7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con-2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7916" y="3950208"/>
            <a:ext cx="384048" cy="384048"/>
          </a:xfrm>
          <a:prstGeom prst="rect">
            <a:avLst/>
          </a:prstGeom>
        </p:spPr>
      </p:pic>
      <p:sp>
        <p:nvSpPr>
          <p:cNvPr id="29" name="text-23"/>
          <p:cNvSpPr txBox="1"/>
          <p:nvPr/>
        </p:nvSpPr>
        <p:spPr>
          <a:xfrm>
            <a:off x="10332720" y="441655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</a:t>
            </a:r>
            <a:endParaRPr lang="en-US" sz="1000" dirty="0"/>
          </a:p>
        </p:txBody>
      </p:sp>
      <p:sp>
        <p:nvSpPr>
          <p:cNvPr id="30" name="arrow-24"/>
          <p:cNvSpPr/>
          <p:nvPr/>
        </p:nvSpPr>
        <p:spPr>
          <a:xfrm>
            <a:off x="9898380" y="427482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31" name="text-25"/>
          <p:cNvSpPr txBox="1"/>
          <p:nvPr/>
        </p:nvSpPr>
        <p:spPr>
          <a:xfrm>
            <a:off x="8892540" y="5257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bus · kafka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МОТИВАЦИЈА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Лесни за цртање, тешки за правилна изведба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Поделбата на сервиси на дијаграм е брза. Вистинската работа почнува кога нешто ќе падне.</a:t>
            </a:r>
            <a:endParaRPr lang="en-US" sz="1600" dirty="0"/>
          </a:p>
        </p:txBody>
      </p:sp>
      <p:sp>
        <p:nvSpPr>
          <p:cNvPr id="5" name="card-26"/>
          <p:cNvSpPr/>
          <p:nvPr/>
        </p:nvSpPr>
        <p:spPr>
          <a:xfrm>
            <a:off x="548640" y="2057400"/>
            <a:ext cx="3515258" cy="30632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6" name="icon-bg-27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7" name="icon-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567635"/>
            <a:ext cx="351130" cy="351130"/>
          </a:xfrm>
          <a:prstGeom prst="rect">
            <a:avLst/>
          </a:prstGeom>
        </p:spPr>
      </p:pic>
      <p:sp>
        <p:nvSpPr>
          <p:cNvPr id="8" name="text-29"/>
          <p:cNvSpPr txBox="1"/>
          <p:nvPr/>
        </p:nvSpPr>
        <p:spPr>
          <a:xfrm>
            <a:off x="868680" y="32004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Дистрибуиран монолит</a:t>
            </a:r>
            <a:endParaRPr lang="en-US" sz="1900" dirty="0"/>
          </a:p>
        </p:txBody>
      </p:sp>
      <p:sp>
        <p:nvSpPr>
          <p:cNvPr id="9" name="text-30"/>
          <p:cNvSpPr txBox="1"/>
          <p:nvPr/>
        </p:nvSpPr>
        <p:spPr>
          <a:xfrm>
            <a:off x="868680" y="3931920"/>
            <a:ext cx="28751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Сервисите се одвоени на дијаграмот, но делат табели и синхрони повици — падот на еден ги урива и другите.</a:t>
            </a:r>
            <a:endParaRPr lang="en-US" sz="1500" dirty="0"/>
          </a:p>
        </p:txBody>
      </p:sp>
      <p:sp>
        <p:nvSpPr>
          <p:cNvPr id="10" name="card-31"/>
          <p:cNvSpPr/>
          <p:nvPr/>
        </p:nvSpPr>
        <p:spPr>
          <a:xfrm>
            <a:off x="4338218" y="2057400"/>
            <a:ext cx="3515258" cy="30632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1" name="icon-bg-32"/>
          <p:cNvSpPr/>
          <p:nvPr/>
        </p:nvSpPr>
        <p:spPr>
          <a:xfrm>
            <a:off x="4658258" y="237744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2" name="icon-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454" y="2567635"/>
            <a:ext cx="351130" cy="351130"/>
          </a:xfrm>
          <a:prstGeom prst="rect">
            <a:avLst/>
          </a:prstGeom>
        </p:spPr>
      </p:pic>
      <p:sp>
        <p:nvSpPr>
          <p:cNvPr id="13" name="text-34"/>
          <p:cNvSpPr txBox="1"/>
          <p:nvPr/>
        </p:nvSpPr>
        <p:spPr>
          <a:xfrm>
            <a:off x="4658258" y="32004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Изгубени настани</a:t>
            </a:r>
            <a:endParaRPr lang="en-US" sz="1900" dirty="0"/>
          </a:p>
        </p:txBody>
      </p:sp>
      <p:sp>
        <p:nvSpPr>
          <p:cNvPr id="14" name="text-35"/>
          <p:cNvSpPr txBox="1"/>
          <p:nvPr/>
        </p:nvSpPr>
        <p:spPr>
          <a:xfrm>
            <a:off x="4658258" y="3931920"/>
            <a:ext cx="28751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Запис во база и порака до брокер се две одделни операции. Ако втората не успее, системот тивко станува неконзистентен.</a:t>
            </a:r>
            <a:endParaRPr lang="en-US" sz="1500" dirty="0"/>
          </a:p>
        </p:txBody>
      </p:sp>
      <p:sp>
        <p:nvSpPr>
          <p:cNvPr id="15" name="card-36"/>
          <p:cNvSpPr/>
          <p:nvPr/>
        </p:nvSpPr>
        <p:spPr>
          <a:xfrm>
            <a:off x="8127797" y="2057400"/>
            <a:ext cx="3515258" cy="30632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6" name="icon-bg-37"/>
          <p:cNvSpPr/>
          <p:nvPr/>
        </p:nvSpPr>
        <p:spPr>
          <a:xfrm>
            <a:off x="8447837" y="237744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con-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032" y="2567635"/>
            <a:ext cx="351130" cy="351130"/>
          </a:xfrm>
          <a:prstGeom prst="rect">
            <a:avLst/>
          </a:prstGeom>
        </p:spPr>
      </p:pic>
      <p:sp>
        <p:nvSpPr>
          <p:cNvPr id="18" name="text-39"/>
          <p:cNvSpPr txBox="1"/>
          <p:nvPr/>
        </p:nvSpPr>
        <p:spPr>
          <a:xfrm>
            <a:off x="8447837" y="32004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Невидливи дефекти</a:t>
            </a:r>
            <a:endParaRPr lang="en-US" sz="1900" dirty="0"/>
          </a:p>
        </p:txBody>
      </p:sp>
      <p:sp>
        <p:nvSpPr>
          <p:cNvPr id="19" name="text-40"/>
          <p:cNvSpPr txBox="1"/>
          <p:nvPr/>
        </p:nvSpPr>
        <p:spPr>
          <a:xfrm>
            <a:off x="8447837" y="3931920"/>
            <a:ext cx="28751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API-то враќа 200, а настаните престанале да течат. Без метрики, логови и traces, никој не забележува.</a:t>
            </a:r>
            <a:endParaRPr lang="en-US" sz="1500" dirty="0"/>
          </a:p>
        </p:txBody>
      </p:sp>
      <p:sp>
        <p:nvSpPr>
          <p:cNvPr id="20" name="text-41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Темата на трудот: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како се гради — и докажува — систем што останува коректен и кога нешто паѓа.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ПОЧЕТНА ТОЧКА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Истата функционалност, изградена двапати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Стариот проект ми е основа за споредба — од него веќе знам што треба да прави системот.</a:t>
            </a:r>
            <a:endParaRPr lang="en-US" sz="1600" dirty="0"/>
          </a:p>
        </p:txBody>
      </p:sp>
      <p:sp>
        <p:nvSpPr>
          <p:cNvPr id="5" name="text-42"/>
          <p:cNvSpPr txBox="1"/>
          <p:nvPr/>
        </p:nvSpPr>
        <p:spPr>
          <a:xfrm>
            <a:off x="548640" y="19659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ПОСТОИ ДЕНЕС · МОНОЛИТ</a:t>
            </a:r>
            <a:endParaRPr lang="en-US" sz="1000" dirty="0"/>
          </a:p>
        </p:txBody>
      </p:sp>
      <p:sp>
        <p:nvSpPr>
          <p:cNvPr id="6" name="box-43"/>
          <p:cNvSpPr/>
          <p:nvPr/>
        </p:nvSpPr>
        <p:spPr>
          <a:xfrm>
            <a:off x="548640" y="2331720"/>
            <a:ext cx="3840480" cy="777240"/>
          </a:xfrm>
          <a:prstGeom prst="rect">
            <a:avLst/>
          </a:prstGeom>
          <a:solidFill>
            <a:schemeClr val="accent5">
              <a:alpha val="5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7" name="text-44"/>
          <p:cNvSpPr txBox="1"/>
          <p:nvPr/>
        </p:nvSpPr>
        <p:spPr>
          <a:xfrm>
            <a:off x="603504" y="2331720"/>
            <a:ext cx="3730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.NET · Razor Pages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серверски рендерирани страници</a:t>
            </a:r>
            <a:endParaRPr lang="en-US" sz="1400" dirty="0"/>
          </a:p>
        </p:txBody>
      </p:sp>
      <p:sp>
        <p:nvSpPr>
          <p:cNvPr id="8" name="box-45"/>
          <p:cNvSpPr/>
          <p:nvPr/>
        </p:nvSpPr>
        <p:spPr>
          <a:xfrm>
            <a:off x="548640" y="3246120"/>
            <a:ext cx="3840480" cy="777240"/>
          </a:xfrm>
          <a:prstGeom prst="rect">
            <a:avLst/>
          </a:prstGeom>
          <a:solidFill>
            <a:schemeClr val="accent5">
              <a:alpha val="5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9" name="text-46"/>
          <p:cNvSpPr txBox="1"/>
          <p:nvPr/>
        </p:nvSpPr>
        <p:spPr>
          <a:xfrm>
            <a:off x="603504" y="3246120"/>
            <a:ext cx="3730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Една апликација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сета логика заедно</a:t>
            </a:r>
            <a:endParaRPr lang="en-US" sz="1400" dirty="0"/>
          </a:p>
        </p:txBody>
      </p:sp>
      <p:sp>
        <p:nvSpPr>
          <p:cNvPr id="10" name="box-47"/>
          <p:cNvSpPr/>
          <p:nvPr/>
        </p:nvSpPr>
        <p:spPr>
          <a:xfrm>
            <a:off x="548640" y="4160520"/>
            <a:ext cx="3840480" cy="777240"/>
          </a:xfrm>
          <a:prstGeom prst="rect">
            <a:avLst/>
          </a:prstGeom>
          <a:solidFill>
            <a:schemeClr val="accent5">
              <a:alpha val="5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-48"/>
          <p:cNvSpPr txBox="1"/>
          <p:nvPr/>
        </p:nvSpPr>
        <p:spPr>
          <a:xfrm>
            <a:off x="603504" y="4160520"/>
            <a:ext cx="3730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Една база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400" dirty="0"/>
          </a:p>
        </p:txBody>
      </p:sp>
      <p:sp>
        <p:nvSpPr>
          <p:cNvPr id="12" name="arrow-49"/>
          <p:cNvSpPr/>
          <p:nvPr/>
        </p:nvSpPr>
        <p:spPr>
          <a:xfrm>
            <a:off x="4617720" y="3634740"/>
            <a:ext cx="100584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text-50"/>
          <p:cNvSpPr txBox="1"/>
          <p:nvPr/>
        </p:nvSpPr>
        <p:spPr>
          <a:xfrm>
            <a:off x="5852160" y="196596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ПРЕДЛОГОТ · МИКРОСЕРВИСИ</a:t>
            </a:r>
            <a:endParaRPr lang="en-US" sz="1000" dirty="0"/>
          </a:p>
        </p:txBody>
      </p:sp>
      <p:sp>
        <p:nvSpPr>
          <p:cNvPr id="14" name="box-51"/>
          <p:cNvSpPr/>
          <p:nvPr/>
        </p:nvSpPr>
        <p:spPr>
          <a:xfrm>
            <a:off x="5852160" y="2331720"/>
            <a:ext cx="2804008" cy="77724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-52"/>
          <p:cNvSpPr txBox="1"/>
          <p:nvPr/>
        </p:nvSpPr>
        <p:spPr>
          <a:xfrm>
            <a:off x="5907024" y="2331720"/>
            <a:ext cx="2694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Angular SPA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</a:t>
            </a:r>
            <a:endParaRPr lang="en-US" sz="1400" dirty="0"/>
          </a:p>
        </p:txBody>
      </p:sp>
      <p:sp>
        <p:nvSpPr>
          <p:cNvPr id="16" name="box-53"/>
          <p:cNvSpPr/>
          <p:nvPr/>
        </p:nvSpPr>
        <p:spPr>
          <a:xfrm>
            <a:off x="8839048" y="2331720"/>
            <a:ext cx="2804008" cy="77724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-54"/>
          <p:cNvSpPr txBox="1"/>
          <p:nvPr/>
        </p:nvSpPr>
        <p:spPr>
          <a:xfrm>
            <a:off x="8893912" y="2331720"/>
            <a:ext cx="2694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Apache Kafka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настани меѓу сервисите</a:t>
            </a:r>
            <a:endParaRPr lang="en-US" sz="1400" dirty="0"/>
          </a:p>
        </p:txBody>
      </p:sp>
      <p:sp>
        <p:nvSpPr>
          <p:cNvPr id="18" name="box-55"/>
          <p:cNvSpPr/>
          <p:nvPr/>
        </p:nvSpPr>
        <p:spPr>
          <a:xfrm>
            <a:off x="5852160" y="3246120"/>
            <a:ext cx="2804008" cy="77724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-56"/>
          <p:cNvSpPr txBox="1"/>
          <p:nvPr/>
        </p:nvSpPr>
        <p:spPr>
          <a:xfrm>
            <a:off x="5907024" y="3246120"/>
            <a:ext cx="2694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API Gateway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 · CORS · rate limiting</a:t>
            </a:r>
            <a:endParaRPr lang="en-US" sz="1400" dirty="0"/>
          </a:p>
        </p:txBody>
      </p:sp>
      <p:sp>
        <p:nvSpPr>
          <p:cNvPr id="20" name="box-57"/>
          <p:cNvSpPr/>
          <p:nvPr/>
        </p:nvSpPr>
        <p:spPr>
          <a:xfrm>
            <a:off x="8839048" y="3246120"/>
            <a:ext cx="2804008" cy="77724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-58"/>
          <p:cNvSpPr txBox="1"/>
          <p:nvPr/>
        </p:nvSpPr>
        <p:spPr>
          <a:xfrm>
            <a:off x="8893912" y="3246120"/>
            <a:ext cx="2694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Kubernetes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оркестрација · GitOps</a:t>
            </a:r>
            <a:endParaRPr lang="en-US" sz="1400" dirty="0"/>
          </a:p>
        </p:txBody>
      </p:sp>
      <p:sp>
        <p:nvSpPr>
          <p:cNvPr id="22" name="box-59"/>
          <p:cNvSpPr/>
          <p:nvPr/>
        </p:nvSpPr>
        <p:spPr>
          <a:xfrm>
            <a:off x="5852160" y="4160520"/>
            <a:ext cx="2804008" cy="77724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-60"/>
          <p:cNvSpPr txBox="1"/>
          <p:nvPr/>
        </p:nvSpPr>
        <p:spPr>
          <a:xfrm>
            <a:off x="5907024" y="4160520"/>
            <a:ext cx="2694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6 сервиси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шема по сервис</a:t>
            </a:r>
            <a:endParaRPr lang="en-US" sz="1400" dirty="0"/>
          </a:p>
        </p:txBody>
      </p:sp>
      <p:sp>
        <p:nvSpPr>
          <p:cNvPr id="24" name="box-61"/>
          <p:cNvSpPr/>
          <p:nvPr/>
        </p:nvSpPr>
        <p:spPr>
          <a:xfrm>
            <a:off x="8839048" y="4160520"/>
            <a:ext cx="2804008" cy="77724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-62"/>
          <p:cNvSpPr txBox="1"/>
          <p:nvPr/>
        </p:nvSpPr>
        <p:spPr>
          <a:xfrm>
            <a:off x="8893912" y="4160520"/>
            <a:ext cx="2694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Observability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 · логови · traces</a:t>
            </a:r>
            <a:endParaRPr lang="en-US" sz="1400" dirty="0"/>
          </a:p>
        </p:txBody>
      </p:sp>
      <p:sp>
        <p:nvSpPr>
          <p:cNvPr id="26" name="card-63"/>
          <p:cNvSpPr/>
          <p:nvPr/>
        </p:nvSpPr>
        <p:spPr>
          <a:xfrm>
            <a:off x="548640" y="5303520"/>
            <a:ext cx="11094415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27" name="icon-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04688"/>
            <a:ext cx="329184" cy="329184"/>
          </a:xfrm>
          <a:prstGeom prst="rect">
            <a:avLst/>
          </a:prstGeom>
        </p:spPr>
      </p:pic>
      <p:sp>
        <p:nvSpPr>
          <p:cNvPr id="28" name="text-65"/>
          <p:cNvSpPr txBox="1"/>
          <p:nvPr/>
        </p:nvSpPr>
        <p:spPr>
          <a:xfrm>
            <a:off x="1280160" y="5303520"/>
            <a:ext cx="10134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Работен прототип на новата архитектура веќе постои,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 дел од инфраструктурата беше претставен на предметот DevOps — темата е изводлива во рокот.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ЦЕЛ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Цел и истражувачки прашања</a:t>
            </a:r>
            <a:endParaRPr lang="en-US" sz="3000" dirty="0"/>
          </a:p>
        </p:txBody>
      </p:sp>
      <p:sp>
        <p:nvSpPr>
          <p:cNvPr id="4" name="card-66"/>
          <p:cNvSpPr/>
          <p:nvPr/>
        </p:nvSpPr>
        <p:spPr>
          <a:xfrm>
            <a:off x="548640" y="1645920"/>
            <a:ext cx="4663440" cy="4526280"/>
          </a:xfrm>
          <a:prstGeom prst="rect">
            <a:avLst/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5" name="icon-bg-67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pic>
        <p:nvPicPr>
          <p:cNvPr id="6" name="icon-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201875"/>
            <a:ext cx="351130" cy="351130"/>
          </a:xfrm>
          <a:prstGeom prst="rect">
            <a:avLst/>
          </a:prstGeom>
        </p:spPr>
      </p:pic>
      <p:sp>
        <p:nvSpPr>
          <p:cNvPr id="7" name="text-69"/>
          <p:cNvSpPr txBox="1"/>
          <p:nvPr/>
        </p:nvSpPr>
        <p:spPr>
          <a:xfrm>
            <a:off x="914400" y="2926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ЦЕЛ НА ТРУДОТ</a:t>
            </a:r>
            <a:endParaRPr lang="en-US" sz="1000" dirty="0"/>
          </a:p>
        </p:txBody>
      </p:sp>
      <p:sp>
        <p:nvSpPr>
          <p:cNvPr id="8" name="text-70"/>
          <p:cNvSpPr txBox="1"/>
          <p:nvPr/>
        </p:nvSpPr>
        <p:spPr>
          <a:xfrm>
            <a:off x="914400" y="329184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 се дизајнира, изгради и евалуира production-grade микросервисна архитектура заснована на настани — оркестрирана со Kubernetes и целосно набљудлива — и да се спореди со монолитната верзија на истата апликација.</a:t>
            </a:r>
            <a:endParaRPr lang="en-US" sz="1900" dirty="0"/>
          </a:p>
        </p:txBody>
      </p:sp>
      <p:sp>
        <p:nvSpPr>
          <p:cNvPr id="9" name="card-71"/>
          <p:cNvSpPr/>
          <p:nvPr/>
        </p:nvSpPr>
        <p:spPr>
          <a:xfrm>
            <a:off x="5486400" y="1645920"/>
            <a:ext cx="6156655" cy="9875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0" name="text-72"/>
          <p:cNvSpPr txBox="1"/>
          <p:nvPr/>
        </p:nvSpPr>
        <p:spPr>
          <a:xfrm>
            <a:off x="5760720" y="1645920"/>
            <a:ext cx="548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П1</a:t>
            </a:r>
            <a:endParaRPr lang="en-US" sz="1800" dirty="0"/>
          </a:p>
        </p:txBody>
      </p:sp>
      <p:sp>
        <p:nvSpPr>
          <p:cNvPr id="11" name="text-73"/>
          <p:cNvSpPr txBox="1"/>
          <p:nvPr/>
        </p:nvSpPr>
        <p:spPr>
          <a:xfrm>
            <a:off x="6400800" y="1645920"/>
            <a:ext cx="49679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Дали transactional outbox гарантира нула изгубени настани кога брокерот паѓа?</a:t>
            </a:r>
            <a:endParaRPr lang="en-US" sz="1600" dirty="0"/>
          </a:p>
        </p:txBody>
      </p:sp>
      <p:sp>
        <p:nvSpPr>
          <p:cNvPr id="12" name="card-74"/>
          <p:cNvSpPr/>
          <p:nvPr/>
        </p:nvSpPr>
        <p:spPr>
          <a:xfrm>
            <a:off x="5486400" y="2825496"/>
            <a:ext cx="6156655" cy="9875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3" name="text-75"/>
          <p:cNvSpPr txBox="1"/>
          <p:nvPr/>
        </p:nvSpPr>
        <p:spPr>
          <a:xfrm>
            <a:off x="5760720" y="2825496"/>
            <a:ext cx="548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П2</a:t>
            </a:r>
            <a:endParaRPr lang="en-US" sz="1800" dirty="0"/>
          </a:p>
        </p:txBody>
      </p:sp>
      <p:sp>
        <p:nvSpPr>
          <p:cNvPr id="14" name="text-76"/>
          <p:cNvSpPr txBox="1"/>
          <p:nvPr/>
        </p:nvSpPr>
        <p:spPr>
          <a:xfrm>
            <a:off x="6400800" y="2825496"/>
            <a:ext cx="49679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Дали идемпотентните consumers даваат ефект „точно еднаш“ при at-least-once достава?</a:t>
            </a:r>
            <a:endParaRPr lang="en-US" sz="1600" dirty="0"/>
          </a:p>
        </p:txBody>
      </p:sp>
      <p:sp>
        <p:nvSpPr>
          <p:cNvPr id="15" name="card-77"/>
          <p:cNvSpPr/>
          <p:nvPr/>
        </p:nvSpPr>
        <p:spPr>
          <a:xfrm>
            <a:off x="5486400" y="4005072"/>
            <a:ext cx="6156655" cy="9875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6" name="text-78"/>
          <p:cNvSpPr txBox="1"/>
          <p:nvPr/>
        </p:nvSpPr>
        <p:spPr>
          <a:xfrm>
            <a:off x="5760720" y="4005072"/>
            <a:ext cx="548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П3</a:t>
            </a:r>
            <a:endParaRPr lang="en-US" sz="1800" dirty="0"/>
          </a:p>
        </p:txBody>
      </p:sp>
      <p:sp>
        <p:nvSpPr>
          <p:cNvPr id="17" name="text-79"/>
          <p:cNvSpPr txBox="1"/>
          <p:nvPr/>
        </p:nvSpPr>
        <p:spPr>
          <a:xfrm>
            <a:off x="6400800" y="4005072"/>
            <a:ext cx="49679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Колкава е цената на дистрибуцијата — латенција, пропусност, ресурси — наспроти монолитот?</a:t>
            </a:r>
            <a:endParaRPr lang="en-US" sz="1600" dirty="0"/>
          </a:p>
        </p:txBody>
      </p:sp>
      <p:sp>
        <p:nvSpPr>
          <p:cNvPr id="18" name="card-80"/>
          <p:cNvSpPr/>
          <p:nvPr/>
        </p:nvSpPr>
        <p:spPr>
          <a:xfrm>
            <a:off x="5486400" y="5184648"/>
            <a:ext cx="6156655" cy="9875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9" name="text-81"/>
          <p:cNvSpPr txBox="1"/>
          <p:nvPr/>
        </p:nvSpPr>
        <p:spPr>
          <a:xfrm>
            <a:off x="5760720" y="5184648"/>
            <a:ext cx="548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П4</a:t>
            </a:r>
            <a:endParaRPr lang="en-US" sz="1800" dirty="0"/>
          </a:p>
        </p:txBody>
      </p:sp>
      <p:sp>
        <p:nvSpPr>
          <p:cNvPr id="20" name="text-82"/>
          <p:cNvSpPr txBox="1"/>
          <p:nvPr/>
        </p:nvSpPr>
        <p:spPr>
          <a:xfrm>
            <a:off x="6400800" y="5184648"/>
            <a:ext cx="496793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Колку брзо observability стекот открива и лоцира дефект во асинхрониот тек?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ДЕКОМПОЗИЦИЈА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Поделбата е по домен, не по слоеви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Секој сервис ги поседува своите табели, во своја PostgreSQL шема. Никој не чита туѓи табели.</a:t>
            </a:r>
            <a:endParaRPr lang="en-US" sz="1600" dirty="0"/>
          </a:p>
        </p:txBody>
      </p:sp>
      <p:sp>
        <p:nvSpPr>
          <p:cNvPr id="5" name="box-83"/>
          <p:cNvSpPr/>
          <p:nvPr/>
        </p:nvSpPr>
        <p:spPr>
          <a:xfrm>
            <a:off x="548640" y="2011680"/>
            <a:ext cx="11094415" cy="566928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-84"/>
          <p:cNvSpPr txBox="1"/>
          <p:nvPr/>
        </p:nvSpPr>
        <p:spPr>
          <a:xfrm>
            <a:off x="603504" y="2011680"/>
            <a:ext cx="1098468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API Gateway — единствена влезна точка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 валидација · CORS · rate limiting · рутирање</a:t>
            </a:r>
            <a:endParaRPr lang="en-US" sz="1400" dirty="0"/>
          </a:p>
        </p:txBody>
      </p:sp>
      <p:sp>
        <p:nvSpPr>
          <p:cNvPr id="7" name="card-85"/>
          <p:cNvSpPr/>
          <p:nvPr/>
        </p:nvSpPr>
        <p:spPr>
          <a:xfrm>
            <a:off x="548640" y="2852928"/>
            <a:ext cx="3515258" cy="1417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8" name="icon-bg-86"/>
          <p:cNvSpPr/>
          <p:nvPr/>
        </p:nvSpPr>
        <p:spPr>
          <a:xfrm>
            <a:off x="822960" y="31272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9" name="icon-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3274649"/>
            <a:ext cx="272125" cy="272125"/>
          </a:xfrm>
          <a:prstGeom prst="rect">
            <a:avLst/>
          </a:prstGeom>
        </p:spPr>
      </p:pic>
      <p:sp>
        <p:nvSpPr>
          <p:cNvPr id="10" name="text-88"/>
          <p:cNvSpPr txBox="1"/>
          <p:nvPr/>
        </p:nvSpPr>
        <p:spPr>
          <a:xfrm>
            <a:off x="1572768" y="3099816"/>
            <a:ext cx="23265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Корисници</a:t>
            </a:r>
            <a:endParaRPr lang="en-US" sz="1800" dirty="0"/>
          </a:p>
        </p:txBody>
      </p:sp>
      <p:sp>
        <p:nvSpPr>
          <p:cNvPr id="11" name="text-89"/>
          <p:cNvSpPr txBox="1"/>
          <p:nvPr/>
        </p:nvSpPr>
        <p:spPr>
          <a:xfrm>
            <a:off x="1572768" y="3456432"/>
            <a:ext cx="2326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endParaRPr lang="en-US" sz="1000" dirty="0"/>
          </a:p>
        </p:txBody>
      </p:sp>
      <p:sp>
        <p:nvSpPr>
          <p:cNvPr id="12" name="text-90"/>
          <p:cNvSpPr txBox="1"/>
          <p:nvPr/>
        </p:nvSpPr>
        <p:spPr>
          <a:xfrm>
            <a:off x="822960" y="3813048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регистрација, најава, JWT, улоги</a:t>
            </a:r>
            <a:endParaRPr lang="en-US" sz="1400" dirty="0"/>
          </a:p>
        </p:txBody>
      </p:sp>
      <p:sp>
        <p:nvSpPr>
          <p:cNvPr id="13" name="card-91"/>
          <p:cNvSpPr/>
          <p:nvPr/>
        </p:nvSpPr>
        <p:spPr>
          <a:xfrm>
            <a:off x="4338218" y="2852928"/>
            <a:ext cx="3515258" cy="1417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4" name="icon-bg-92"/>
          <p:cNvSpPr/>
          <p:nvPr/>
        </p:nvSpPr>
        <p:spPr>
          <a:xfrm>
            <a:off x="4612538" y="31272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5" name="icon-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940" y="3274649"/>
            <a:ext cx="272125" cy="272125"/>
          </a:xfrm>
          <a:prstGeom prst="rect">
            <a:avLst/>
          </a:prstGeom>
        </p:spPr>
      </p:pic>
      <p:sp>
        <p:nvSpPr>
          <p:cNvPr id="16" name="text-94"/>
          <p:cNvSpPr txBox="1"/>
          <p:nvPr/>
        </p:nvSpPr>
        <p:spPr>
          <a:xfrm>
            <a:off x="5362346" y="3099816"/>
            <a:ext cx="23265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Огласи</a:t>
            </a:r>
            <a:endParaRPr lang="en-US" sz="1800" dirty="0"/>
          </a:p>
        </p:txBody>
      </p:sp>
      <p:sp>
        <p:nvSpPr>
          <p:cNvPr id="17" name="text-95"/>
          <p:cNvSpPr txBox="1"/>
          <p:nvPr/>
        </p:nvSpPr>
        <p:spPr>
          <a:xfrm>
            <a:off x="5362346" y="3456432"/>
            <a:ext cx="2326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listing</a:t>
            </a:r>
            <a:endParaRPr lang="en-US" sz="1000" dirty="0"/>
          </a:p>
        </p:txBody>
      </p:sp>
      <p:sp>
        <p:nvSpPr>
          <p:cNvPr id="18" name="text-96"/>
          <p:cNvSpPr txBox="1"/>
          <p:nvPr/>
        </p:nvSpPr>
        <p:spPr>
          <a:xfrm>
            <a:off x="4612538" y="3813048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огласи, слики, омилени, модерација</a:t>
            </a:r>
            <a:endParaRPr lang="en-US" sz="1400" dirty="0"/>
          </a:p>
        </p:txBody>
      </p:sp>
      <p:sp>
        <p:nvSpPr>
          <p:cNvPr id="19" name="card-97"/>
          <p:cNvSpPr/>
          <p:nvPr/>
        </p:nvSpPr>
        <p:spPr>
          <a:xfrm>
            <a:off x="8127797" y="2852928"/>
            <a:ext cx="3515258" cy="1417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0" name="icon-bg-98"/>
          <p:cNvSpPr/>
          <p:nvPr/>
        </p:nvSpPr>
        <p:spPr>
          <a:xfrm>
            <a:off x="8402117" y="31272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1" name="icon-9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518" y="3274649"/>
            <a:ext cx="272125" cy="272125"/>
          </a:xfrm>
          <a:prstGeom prst="rect">
            <a:avLst/>
          </a:prstGeom>
        </p:spPr>
      </p:pic>
      <p:sp>
        <p:nvSpPr>
          <p:cNvPr id="22" name="text-100"/>
          <p:cNvSpPr txBox="1"/>
          <p:nvPr/>
        </p:nvSpPr>
        <p:spPr>
          <a:xfrm>
            <a:off x="9151925" y="3099816"/>
            <a:ext cx="23265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Блог</a:t>
            </a:r>
            <a:endParaRPr lang="en-US" sz="1800" dirty="0"/>
          </a:p>
        </p:txBody>
      </p:sp>
      <p:sp>
        <p:nvSpPr>
          <p:cNvPr id="23" name="text-101"/>
          <p:cNvSpPr txBox="1"/>
          <p:nvPr/>
        </p:nvSpPr>
        <p:spPr>
          <a:xfrm>
            <a:off x="9151925" y="3456432"/>
            <a:ext cx="2326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</a:t>
            </a:r>
            <a:endParaRPr lang="en-US" sz="1000" dirty="0"/>
          </a:p>
        </p:txBody>
      </p:sp>
      <p:sp>
        <p:nvSpPr>
          <p:cNvPr id="24" name="text-102"/>
          <p:cNvSpPr txBox="1"/>
          <p:nvPr/>
        </p:nvSpPr>
        <p:spPr>
          <a:xfrm>
            <a:off x="8402117" y="3813048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објави и уреднички содржини</a:t>
            </a:r>
            <a:endParaRPr lang="en-US" sz="1400" dirty="0"/>
          </a:p>
        </p:txBody>
      </p:sp>
      <p:sp>
        <p:nvSpPr>
          <p:cNvPr id="25" name="card-103"/>
          <p:cNvSpPr/>
          <p:nvPr/>
        </p:nvSpPr>
        <p:spPr>
          <a:xfrm>
            <a:off x="548640" y="4498848"/>
            <a:ext cx="3515258" cy="1417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6" name="icon-bg-104"/>
          <p:cNvSpPr/>
          <p:nvPr/>
        </p:nvSpPr>
        <p:spPr>
          <a:xfrm>
            <a:off x="822960" y="477316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7" name="icon-10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61" y="4920569"/>
            <a:ext cx="272125" cy="272125"/>
          </a:xfrm>
          <a:prstGeom prst="rect">
            <a:avLst/>
          </a:prstGeom>
        </p:spPr>
      </p:pic>
      <p:sp>
        <p:nvSpPr>
          <p:cNvPr id="28" name="text-106"/>
          <p:cNvSpPr txBox="1"/>
          <p:nvPr/>
        </p:nvSpPr>
        <p:spPr>
          <a:xfrm>
            <a:off x="1572768" y="4745736"/>
            <a:ext cx="23265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Разговори</a:t>
            </a:r>
            <a:endParaRPr lang="en-US" sz="1800" dirty="0"/>
          </a:p>
        </p:txBody>
      </p:sp>
      <p:sp>
        <p:nvSpPr>
          <p:cNvPr id="29" name="text-107"/>
          <p:cNvSpPr txBox="1"/>
          <p:nvPr/>
        </p:nvSpPr>
        <p:spPr>
          <a:xfrm>
            <a:off x="1572768" y="5102352"/>
            <a:ext cx="2326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</a:t>
            </a:r>
            <a:endParaRPr lang="en-US" sz="1000" dirty="0"/>
          </a:p>
        </p:txBody>
      </p:sp>
      <p:sp>
        <p:nvSpPr>
          <p:cNvPr id="30" name="text-108"/>
          <p:cNvSpPr txBox="1"/>
          <p:nvPr/>
        </p:nvSpPr>
        <p:spPr>
          <a:xfrm>
            <a:off x="822960" y="5458968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пораки купувач ↔ продавач</a:t>
            </a:r>
            <a:endParaRPr lang="en-US" sz="1400" dirty="0"/>
          </a:p>
        </p:txBody>
      </p:sp>
      <p:sp>
        <p:nvSpPr>
          <p:cNvPr id="31" name="card-109"/>
          <p:cNvSpPr/>
          <p:nvPr/>
        </p:nvSpPr>
        <p:spPr>
          <a:xfrm>
            <a:off x="4338218" y="4498848"/>
            <a:ext cx="3515258" cy="1417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2" name="icon-bg-110"/>
          <p:cNvSpPr/>
          <p:nvPr/>
        </p:nvSpPr>
        <p:spPr>
          <a:xfrm>
            <a:off x="4612538" y="477316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3" name="icon-1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940" y="4920569"/>
            <a:ext cx="272125" cy="272125"/>
          </a:xfrm>
          <a:prstGeom prst="rect">
            <a:avLst/>
          </a:prstGeom>
        </p:spPr>
      </p:pic>
      <p:sp>
        <p:nvSpPr>
          <p:cNvPr id="34" name="text-112"/>
          <p:cNvSpPr txBox="1"/>
          <p:nvPr/>
        </p:nvSpPr>
        <p:spPr>
          <a:xfrm>
            <a:off x="5362346" y="4745736"/>
            <a:ext cx="23265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Плаќања</a:t>
            </a:r>
            <a:endParaRPr lang="en-US" sz="1800" dirty="0"/>
          </a:p>
        </p:txBody>
      </p:sp>
      <p:sp>
        <p:nvSpPr>
          <p:cNvPr id="35" name="text-113"/>
          <p:cNvSpPr txBox="1"/>
          <p:nvPr/>
        </p:nvSpPr>
        <p:spPr>
          <a:xfrm>
            <a:off x="5362346" y="5102352"/>
            <a:ext cx="2326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</a:t>
            </a:r>
            <a:endParaRPr lang="en-US" sz="1000" dirty="0"/>
          </a:p>
        </p:txBody>
      </p:sp>
      <p:sp>
        <p:nvSpPr>
          <p:cNvPr id="36" name="text-114"/>
          <p:cNvSpPr txBox="1"/>
          <p:nvPr/>
        </p:nvSpPr>
        <p:spPr>
          <a:xfrm>
            <a:off x="4612538" y="5458968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претплати преку Stripe</a:t>
            </a:r>
            <a:endParaRPr lang="en-US" sz="1400" dirty="0"/>
          </a:p>
        </p:txBody>
      </p:sp>
      <p:sp>
        <p:nvSpPr>
          <p:cNvPr id="37" name="card-115"/>
          <p:cNvSpPr/>
          <p:nvPr/>
        </p:nvSpPr>
        <p:spPr>
          <a:xfrm>
            <a:off x="8127797" y="4498848"/>
            <a:ext cx="3515258" cy="1417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8" name="icon-bg-116"/>
          <p:cNvSpPr/>
          <p:nvPr/>
        </p:nvSpPr>
        <p:spPr>
          <a:xfrm>
            <a:off x="8402117" y="477316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9" name="icon-1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518" y="4920569"/>
            <a:ext cx="272125" cy="272125"/>
          </a:xfrm>
          <a:prstGeom prst="rect">
            <a:avLst/>
          </a:prstGeom>
        </p:spPr>
      </p:pic>
      <p:sp>
        <p:nvSpPr>
          <p:cNvPr id="40" name="text-118"/>
          <p:cNvSpPr txBox="1"/>
          <p:nvPr/>
        </p:nvSpPr>
        <p:spPr>
          <a:xfrm>
            <a:off x="9151925" y="4745736"/>
            <a:ext cx="23265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Известувања</a:t>
            </a:r>
            <a:endParaRPr lang="en-US" sz="1800" dirty="0"/>
          </a:p>
        </p:txBody>
      </p:sp>
      <p:sp>
        <p:nvSpPr>
          <p:cNvPr id="41" name="text-119"/>
          <p:cNvSpPr txBox="1"/>
          <p:nvPr/>
        </p:nvSpPr>
        <p:spPr>
          <a:xfrm>
            <a:off x="9151925" y="5102352"/>
            <a:ext cx="2326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 · без база</a:t>
            </a:r>
            <a:endParaRPr lang="en-US" sz="1000" dirty="0"/>
          </a:p>
        </p:txBody>
      </p:sp>
      <p:sp>
        <p:nvSpPr>
          <p:cNvPr id="42" name="text-120"/>
          <p:cNvSpPr txBox="1"/>
          <p:nvPr/>
        </p:nvSpPr>
        <p:spPr>
          <a:xfrm>
            <a:off x="8402117" y="5458968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email известувања од настани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АРХИТЕКТУРА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Целна архитектура</a:t>
            </a:r>
            <a:endParaRPr lang="en-US" sz="3000" dirty="0"/>
          </a:p>
        </p:txBody>
      </p:sp>
      <p:sp>
        <p:nvSpPr>
          <p:cNvPr id="4" name="k8s-boundary"/>
          <p:cNvSpPr/>
          <p:nvPr/>
        </p:nvSpPr>
        <p:spPr>
          <a:xfrm>
            <a:off x="2606040" y="1554480"/>
            <a:ext cx="9037015" cy="4709160"/>
          </a:xfrm>
          <a:prstGeom prst="roundRect">
            <a:avLst>
              <a:gd name="adj" fmla="val 1942"/>
            </a:avLst>
          </a:prstGeom>
          <a:solidFill>
            <a:schemeClr val="bg1">
              <a:alpha val="6000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5" name="text-121"/>
          <p:cNvSpPr txBox="1"/>
          <p:nvPr/>
        </p:nvSpPr>
        <p:spPr>
          <a:xfrm>
            <a:off x="2788920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KUBERNETES КЛАСТЕР</a:t>
            </a:r>
            <a:endParaRPr lang="en-US" sz="1000" dirty="0"/>
          </a:p>
        </p:txBody>
      </p:sp>
      <p:sp>
        <p:nvSpPr>
          <p:cNvPr id="6" name="box-122"/>
          <p:cNvSpPr/>
          <p:nvPr/>
        </p:nvSpPr>
        <p:spPr>
          <a:xfrm>
            <a:off x="548640" y="1965960"/>
            <a:ext cx="1783080" cy="7772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-123"/>
          <p:cNvSpPr txBox="1"/>
          <p:nvPr/>
        </p:nvSpPr>
        <p:spPr>
          <a:xfrm>
            <a:off x="603504" y="1965960"/>
            <a:ext cx="1673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Клиент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Angular SPA</a:t>
            </a:r>
            <a:endParaRPr lang="en-US" sz="1400" dirty="0"/>
          </a:p>
        </p:txBody>
      </p:sp>
      <p:sp>
        <p:nvSpPr>
          <p:cNvPr id="8" name="box-124"/>
          <p:cNvSpPr/>
          <p:nvPr/>
        </p:nvSpPr>
        <p:spPr>
          <a:xfrm>
            <a:off x="2834640" y="1965960"/>
            <a:ext cx="2011680" cy="7772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25"/>
          <p:cNvSpPr txBox="1"/>
          <p:nvPr/>
        </p:nvSpPr>
        <p:spPr>
          <a:xfrm>
            <a:off x="2889504" y="1965960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Ingress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NGINX</a:t>
            </a:r>
            <a:endParaRPr lang="en-US" sz="1400" dirty="0"/>
          </a:p>
        </p:txBody>
      </p:sp>
      <p:sp>
        <p:nvSpPr>
          <p:cNvPr id="10" name="box-126"/>
          <p:cNvSpPr/>
          <p:nvPr/>
        </p:nvSpPr>
        <p:spPr>
          <a:xfrm>
            <a:off x="5212080" y="1965960"/>
            <a:ext cx="3749040" cy="77724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-127"/>
          <p:cNvSpPr txBox="1"/>
          <p:nvPr/>
        </p:nvSpPr>
        <p:spPr>
          <a:xfrm>
            <a:off x="5266944" y="196596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API Gateway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 · CORS · rate limit</a:t>
            </a:r>
            <a:endParaRPr lang="en-US" sz="1400" dirty="0"/>
          </a:p>
        </p:txBody>
      </p:sp>
      <p:sp>
        <p:nvSpPr>
          <p:cNvPr id="12" name="arrow-128"/>
          <p:cNvSpPr/>
          <p:nvPr/>
        </p:nvSpPr>
        <p:spPr>
          <a:xfrm>
            <a:off x="2331720" y="2354580"/>
            <a:ext cx="50292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arrow-129"/>
          <p:cNvSpPr/>
          <p:nvPr/>
        </p:nvSpPr>
        <p:spPr>
          <a:xfrm>
            <a:off x="4846320" y="2354580"/>
            <a:ext cx="3657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4" name="svc-130"/>
          <p:cNvSpPr/>
          <p:nvPr/>
        </p:nvSpPr>
        <p:spPr>
          <a:xfrm>
            <a:off x="2834640" y="3154680"/>
            <a:ext cx="1969008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-131"/>
          <p:cNvSpPr txBox="1"/>
          <p:nvPr/>
        </p:nvSpPr>
        <p:spPr>
          <a:xfrm>
            <a:off x="2834640" y="3154680"/>
            <a:ext cx="1969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Корисници  </a:t>
            </a:r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endParaRPr lang="en-US" sz="1400" dirty="0"/>
          </a:p>
        </p:txBody>
      </p:sp>
      <p:sp>
        <p:nvSpPr>
          <p:cNvPr id="16" name="svc-132"/>
          <p:cNvSpPr/>
          <p:nvPr/>
        </p:nvSpPr>
        <p:spPr>
          <a:xfrm>
            <a:off x="4913376" y="3154680"/>
            <a:ext cx="1969008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33"/>
          <p:cNvSpPr txBox="1"/>
          <p:nvPr/>
        </p:nvSpPr>
        <p:spPr>
          <a:xfrm>
            <a:off x="4913376" y="3154680"/>
            <a:ext cx="1969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Огласи  </a:t>
            </a:r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listing</a:t>
            </a:r>
            <a:endParaRPr lang="en-US" sz="1400" dirty="0"/>
          </a:p>
        </p:txBody>
      </p:sp>
      <p:sp>
        <p:nvSpPr>
          <p:cNvPr id="18" name="svc-134"/>
          <p:cNvSpPr/>
          <p:nvPr/>
        </p:nvSpPr>
        <p:spPr>
          <a:xfrm>
            <a:off x="6992112" y="3154680"/>
            <a:ext cx="1969008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135"/>
          <p:cNvSpPr txBox="1"/>
          <p:nvPr/>
        </p:nvSpPr>
        <p:spPr>
          <a:xfrm>
            <a:off x="6992112" y="3154680"/>
            <a:ext cx="1969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Блог  </a:t>
            </a:r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</a:t>
            </a:r>
            <a:endParaRPr lang="en-US" sz="1400" dirty="0"/>
          </a:p>
        </p:txBody>
      </p:sp>
      <p:sp>
        <p:nvSpPr>
          <p:cNvPr id="20" name="svc-136"/>
          <p:cNvSpPr/>
          <p:nvPr/>
        </p:nvSpPr>
        <p:spPr>
          <a:xfrm>
            <a:off x="2834640" y="3767328"/>
            <a:ext cx="1969008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37"/>
          <p:cNvSpPr txBox="1"/>
          <p:nvPr/>
        </p:nvSpPr>
        <p:spPr>
          <a:xfrm>
            <a:off x="2834640" y="3767328"/>
            <a:ext cx="1969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Разговори  </a:t>
            </a:r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</a:t>
            </a:r>
            <a:endParaRPr lang="en-US" sz="1400" dirty="0"/>
          </a:p>
        </p:txBody>
      </p:sp>
      <p:sp>
        <p:nvSpPr>
          <p:cNvPr id="22" name="svc-138"/>
          <p:cNvSpPr/>
          <p:nvPr/>
        </p:nvSpPr>
        <p:spPr>
          <a:xfrm>
            <a:off x="4913376" y="3767328"/>
            <a:ext cx="1969008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39"/>
          <p:cNvSpPr txBox="1"/>
          <p:nvPr/>
        </p:nvSpPr>
        <p:spPr>
          <a:xfrm>
            <a:off x="4913376" y="3767328"/>
            <a:ext cx="1969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Плаќања  </a:t>
            </a:r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</a:t>
            </a:r>
            <a:endParaRPr lang="en-US" sz="1400" dirty="0"/>
          </a:p>
        </p:txBody>
      </p:sp>
      <p:sp>
        <p:nvSpPr>
          <p:cNvPr id="24" name="svc-140"/>
          <p:cNvSpPr/>
          <p:nvPr/>
        </p:nvSpPr>
        <p:spPr>
          <a:xfrm>
            <a:off x="6992112" y="3767328"/>
            <a:ext cx="1969008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-141"/>
          <p:cNvSpPr txBox="1"/>
          <p:nvPr/>
        </p:nvSpPr>
        <p:spPr>
          <a:xfrm>
            <a:off x="6992112" y="3767328"/>
            <a:ext cx="1969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Известувања  </a:t>
            </a:r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notif.</a:t>
            </a:r>
            <a:endParaRPr lang="en-US" sz="1400" dirty="0"/>
          </a:p>
        </p:txBody>
      </p:sp>
      <p:sp>
        <p:nvSpPr>
          <p:cNvPr id="26" name="arrow-142"/>
          <p:cNvSpPr/>
          <p:nvPr/>
        </p:nvSpPr>
        <p:spPr>
          <a:xfrm>
            <a:off x="7086600" y="2743200"/>
            <a:ext cx="0" cy="41148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7" name="text-143"/>
          <p:cNvSpPr txBox="1"/>
          <p:nvPr/>
        </p:nvSpPr>
        <p:spPr>
          <a:xfrm>
            <a:off x="7178040" y="279806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endParaRPr lang="en-US" sz="1000" dirty="0"/>
          </a:p>
        </p:txBody>
      </p:sp>
      <p:sp>
        <p:nvSpPr>
          <p:cNvPr id="28" name="box-144"/>
          <p:cNvSpPr/>
          <p:nvPr/>
        </p:nvSpPr>
        <p:spPr>
          <a:xfrm>
            <a:off x="2834640" y="4709160"/>
            <a:ext cx="1665000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145"/>
          <p:cNvSpPr txBox="1"/>
          <p:nvPr/>
        </p:nvSpPr>
        <p:spPr>
          <a:xfrm>
            <a:off x="2889504" y="4709160"/>
            <a:ext cx="1555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PostgreSQL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шема по сервис</a:t>
            </a:r>
            <a:endParaRPr lang="en-US" sz="1400" dirty="0"/>
          </a:p>
        </p:txBody>
      </p:sp>
      <p:sp>
        <p:nvSpPr>
          <p:cNvPr id="30" name="box-146"/>
          <p:cNvSpPr/>
          <p:nvPr/>
        </p:nvSpPr>
        <p:spPr>
          <a:xfrm>
            <a:off x="4636800" y="4709160"/>
            <a:ext cx="2070000" cy="82296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1" name="text-147"/>
          <p:cNvSpPr txBox="1"/>
          <p:nvPr/>
        </p:nvSpPr>
        <p:spPr>
          <a:xfrm>
            <a:off x="4691664" y="4709160"/>
            <a:ext cx="1960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Apache Kafka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 по агрегат · DLT</a:t>
            </a:r>
            <a:endParaRPr lang="en-US" sz="1400" dirty="0"/>
          </a:p>
        </p:txBody>
      </p:sp>
      <p:sp>
        <p:nvSpPr>
          <p:cNvPr id="32" name="box-148"/>
          <p:cNvSpPr/>
          <p:nvPr/>
        </p:nvSpPr>
        <p:spPr>
          <a:xfrm>
            <a:off x="6843960" y="4709160"/>
            <a:ext cx="990000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-149"/>
          <p:cNvSpPr txBox="1"/>
          <p:nvPr/>
        </p:nvSpPr>
        <p:spPr>
          <a:xfrm>
            <a:off x="6898824" y="4709160"/>
            <a:ext cx="880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Redis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400" dirty="0"/>
          </a:p>
        </p:txBody>
      </p:sp>
      <p:sp>
        <p:nvSpPr>
          <p:cNvPr id="34" name="box-150"/>
          <p:cNvSpPr/>
          <p:nvPr/>
        </p:nvSpPr>
        <p:spPr>
          <a:xfrm>
            <a:off x="7971120" y="4709160"/>
            <a:ext cx="990000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151"/>
          <p:cNvSpPr txBox="1"/>
          <p:nvPr/>
        </p:nvSpPr>
        <p:spPr>
          <a:xfrm>
            <a:off x="8025984" y="4709160"/>
            <a:ext cx="880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MinIO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 слики</a:t>
            </a:r>
            <a:endParaRPr lang="en-US" sz="1400" dirty="0"/>
          </a:p>
        </p:txBody>
      </p:sp>
      <p:sp>
        <p:nvSpPr>
          <p:cNvPr id="36" name="arrow-152"/>
          <p:cNvSpPr/>
          <p:nvPr/>
        </p:nvSpPr>
        <p:spPr>
          <a:xfrm>
            <a:off x="3667140" y="4270248"/>
            <a:ext cx="0" cy="438912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7" name="text-153"/>
          <p:cNvSpPr txBox="1"/>
          <p:nvPr/>
        </p:nvSpPr>
        <p:spPr>
          <a:xfrm>
            <a:off x="3758580" y="4361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000" dirty="0"/>
          </a:p>
        </p:txBody>
      </p:sp>
      <p:sp>
        <p:nvSpPr>
          <p:cNvPr id="38" name="arrow-154"/>
          <p:cNvSpPr/>
          <p:nvPr/>
        </p:nvSpPr>
        <p:spPr>
          <a:xfrm>
            <a:off x="5671800" y="4270248"/>
            <a:ext cx="0" cy="43891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39" name="text-155"/>
          <p:cNvSpPr txBox="1"/>
          <p:nvPr/>
        </p:nvSpPr>
        <p:spPr>
          <a:xfrm>
            <a:off x="5781528" y="43616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настани</a:t>
            </a:r>
            <a:endParaRPr lang="en-US" sz="1000" dirty="0"/>
          </a:p>
        </p:txBody>
      </p:sp>
      <p:sp>
        <p:nvSpPr>
          <p:cNvPr id="40" name="text-156"/>
          <p:cNvSpPr txBox="1"/>
          <p:nvPr/>
        </p:nvSpPr>
        <p:spPr>
          <a:xfrm>
            <a:off x="9418320" y="1618488"/>
            <a:ext cx="2041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41" name="box-157"/>
          <p:cNvSpPr/>
          <p:nvPr/>
        </p:nvSpPr>
        <p:spPr>
          <a:xfrm>
            <a:off x="9418320" y="1965960"/>
            <a:ext cx="2041855" cy="68580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2" name="text-158"/>
          <p:cNvSpPr txBox="1"/>
          <p:nvPr/>
        </p:nvSpPr>
        <p:spPr>
          <a:xfrm>
            <a:off x="9473184" y="1965960"/>
            <a:ext cx="19321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OpenTelemetry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collector</a:t>
            </a:r>
            <a:endParaRPr lang="en-US" sz="1400" dirty="0"/>
          </a:p>
        </p:txBody>
      </p:sp>
      <p:sp>
        <p:nvSpPr>
          <p:cNvPr id="43" name="box-159"/>
          <p:cNvSpPr/>
          <p:nvPr/>
        </p:nvSpPr>
        <p:spPr>
          <a:xfrm>
            <a:off x="9418320" y="2834640"/>
            <a:ext cx="2041855" cy="5303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-160"/>
          <p:cNvSpPr txBox="1"/>
          <p:nvPr/>
        </p:nvSpPr>
        <p:spPr>
          <a:xfrm>
            <a:off x="9473184" y="2834640"/>
            <a:ext cx="19321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Prometheus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1400" dirty="0"/>
          </a:p>
        </p:txBody>
      </p:sp>
      <p:sp>
        <p:nvSpPr>
          <p:cNvPr id="45" name="box-161"/>
          <p:cNvSpPr/>
          <p:nvPr/>
        </p:nvSpPr>
        <p:spPr>
          <a:xfrm>
            <a:off x="9418320" y="3456432"/>
            <a:ext cx="2041855" cy="5303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-162"/>
          <p:cNvSpPr txBox="1"/>
          <p:nvPr/>
        </p:nvSpPr>
        <p:spPr>
          <a:xfrm>
            <a:off x="9473184" y="3456432"/>
            <a:ext cx="19321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Loki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логови</a:t>
            </a:r>
            <a:endParaRPr lang="en-US" sz="1400" dirty="0"/>
          </a:p>
        </p:txBody>
      </p:sp>
      <p:sp>
        <p:nvSpPr>
          <p:cNvPr id="47" name="box-163"/>
          <p:cNvSpPr/>
          <p:nvPr/>
        </p:nvSpPr>
        <p:spPr>
          <a:xfrm>
            <a:off x="9418320" y="4078224"/>
            <a:ext cx="2041855" cy="5303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-164"/>
          <p:cNvSpPr txBox="1"/>
          <p:nvPr/>
        </p:nvSpPr>
        <p:spPr>
          <a:xfrm>
            <a:off x="9473184" y="4078224"/>
            <a:ext cx="19321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Tempo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traces</a:t>
            </a:r>
            <a:endParaRPr lang="en-US" sz="1400" dirty="0"/>
          </a:p>
        </p:txBody>
      </p:sp>
      <p:sp>
        <p:nvSpPr>
          <p:cNvPr id="49" name="box-165"/>
          <p:cNvSpPr/>
          <p:nvPr/>
        </p:nvSpPr>
        <p:spPr>
          <a:xfrm>
            <a:off x="9418320" y="4709160"/>
            <a:ext cx="2041855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0" name="text-166"/>
          <p:cNvSpPr txBox="1"/>
          <p:nvPr/>
        </p:nvSpPr>
        <p:spPr>
          <a:xfrm>
            <a:off x="9473184" y="4709160"/>
            <a:ext cx="19321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Grafana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 · аларми</a:t>
            </a:r>
            <a:endParaRPr lang="en-US" sz="1400" dirty="0"/>
          </a:p>
        </p:txBody>
      </p:sp>
      <p:sp>
        <p:nvSpPr>
          <p:cNvPr id="51" name="arrow-167"/>
          <p:cNvSpPr/>
          <p:nvPr/>
        </p:nvSpPr>
        <p:spPr>
          <a:xfrm>
            <a:off x="10439248" y="2651760"/>
            <a:ext cx="0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2" name="arrow-168"/>
          <p:cNvSpPr/>
          <p:nvPr/>
        </p:nvSpPr>
        <p:spPr>
          <a:xfrm>
            <a:off x="10439248" y="4608576"/>
            <a:ext cx="0" cy="10058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53" name="arrow-169"/>
          <p:cNvSpPr/>
          <p:nvPr/>
        </p:nvSpPr>
        <p:spPr>
          <a:xfrm>
            <a:off x="8961120" y="3712464"/>
            <a:ext cx="45720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54" name="text-170"/>
          <p:cNvSpPr txBox="1"/>
          <p:nvPr/>
        </p:nvSpPr>
        <p:spPr>
          <a:xfrm>
            <a:off x="2834640" y="5715000"/>
            <a:ext cx="8579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Кластерот е опишан со Helm charts и синхронизиран од Git преку ArgoCD; images ги гради GitHub Actions.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ПОДАТОЦИ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Секој сервис чува копија од тоа што му треба</a:t>
            </a:r>
            <a:endParaRPr lang="en-US" sz="3000" dirty="0"/>
          </a:p>
        </p:txBody>
      </p:sp>
      <p:sp>
        <p:nvSpPr>
          <p:cNvPr id="4" name="card-171"/>
          <p:cNvSpPr/>
          <p:nvPr/>
        </p:nvSpPr>
        <p:spPr>
          <a:xfrm>
            <a:off x="548640" y="1645920"/>
            <a:ext cx="3383280" cy="1417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5" name="hdr-users"/>
          <p:cNvSpPr/>
          <p:nvPr/>
        </p:nvSpPr>
        <p:spPr>
          <a:xfrm>
            <a:off x="548640" y="1645920"/>
            <a:ext cx="3383280" cy="34747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172"/>
          <p:cNvSpPr txBox="1"/>
          <p:nvPr/>
        </p:nvSpPr>
        <p:spPr>
          <a:xfrm>
            <a:off x="731520" y="16916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СЕРВИС: КОРИСНИЦИ</a:t>
            </a:r>
            <a:endParaRPr lang="en-US" sz="1000" dirty="0"/>
          </a:p>
        </p:txBody>
      </p:sp>
      <p:sp>
        <p:nvSpPr>
          <p:cNvPr id="7" name="text-173"/>
          <p:cNvSpPr txBox="1"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табела „корисници“</a:t>
            </a:r>
            <a:endParaRPr lang="en-US" sz="1500" dirty="0"/>
          </a:p>
        </p:txBody>
      </p:sp>
      <p:sp>
        <p:nvSpPr>
          <p:cNvPr id="8" name="text-174"/>
          <p:cNvSpPr txBox="1"/>
          <p:nvPr/>
        </p:nvSpPr>
        <p:spPr>
          <a:xfrm>
            <a:off x="73152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име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телефон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email</a:t>
            </a:r>
            <a:endParaRPr lang="en-US" sz="1200" dirty="0"/>
          </a:p>
        </p:txBody>
      </p:sp>
      <p:sp>
        <p:nvSpPr>
          <p:cNvPr id="9" name="text-175"/>
          <p:cNvSpPr txBox="1"/>
          <p:nvPr/>
        </p:nvSpPr>
        <p:spPr>
          <a:xfrm>
            <a:off x="548640" y="3246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Огласот мора да ги прикаже името и телефонот на продавачот — а сервисот за огласи го има само продавач_id.</a:t>
            </a:r>
            <a:endParaRPr lang="en-US" sz="1500" dirty="0"/>
          </a:p>
        </p:txBody>
      </p:sp>
      <p:sp>
        <p:nvSpPr>
          <p:cNvPr id="10" name="card-176"/>
          <p:cNvSpPr/>
          <p:nvPr/>
        </p:nvSpPr>
        <p:spPr>
          <a:xfrm>
            <a:off x="7726680" y="1645920"/>
            <a:ext cx="3916375" cy="2697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1" name="hdr-listings"/>
          <p:cNvSpPr/>
          <p:nvPr/>
        </p:nvSpPr>
        <p:spPr>
          <a:xfrm>
            <a:off x="7726680" y="1645920"/>
            <a:ext cx="3916375" cy="34747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177"/>
          <p:cNvSpPr txBox="1"/>
          <p:nvPr/>
        </p:nvSpPr>
        <p:spPr>
          <a:xfrm>
            <a:off x="7909560" y="1691640"/>
            <a:ext cx="3550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СЕРВИС: ОГЛАСИ</a:t>
            </a:r>
            <a:endParaRPr lang="en-US" sz="1000" dirty="0"/>
          </a:p>
        </p:txBody>
      </p:sp>
      <p:sp>
        <p:nvSpPr>
          <p:cNvPr id="13" name="text-178"/>
          <p:cNvSpPr txBox="1"/>
          <p:nvPr/>
        </p:nvSpPr>
        <p:spPr>
          <a:xfrm>
            <a:off x="7909560" y="2148840"/>
            <a:ext cx="3550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табела „огласи“</a:t>
            </a:r>
            <a:endParaRPr lang="en-US" sz="1500" dirty="0"/>
          </a:p>
        </p:txBody>
      </p:sp>
      <p:sp>
        <p:nvSpPr>
          <p:cNvPr id="14" name="text-179"/>
          <p:cNvSpPr txBox="1"/>
          <p:nvPr/>
        </p:nvSpPr>
        <p:spPr>
          <a:xfrm>
            <a:off x="7909560" y="2514600"/>
            <a:ext cx="3550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марка · цена ·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продавач_id</a:t>
            </a:r>
            <a:endParaRPr lang="en-US" sz="1200" dirty="0"/>
          </a:p>
        </p:txBody>
      </p:sp>
      <p:sp>
        <p:nvSpPr>
          <p:cNvPr id="15" name="projection"/>
          <p:cNvSpPr/>
          <p:nvPr/>
        </p:nvSpPr>
        <p:spPr>
          <a:xfrm>
            <a:off x="7909560" y="2971800"/>
            <a:ext cx="3550615" cy="118872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-180"/>
          <p:cNvSpPr txBox="1"/>
          <p:nvPr/>
        </p:nvSpPr>
        <p:spPr>
          <a:xfrm>
            <a:off x="8092440" y="3063240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НОВА ТАБЕЛА · ЛОКАЛНА ПРОЕКЦИЈА</a:t>
            </a:r>
            <a:endParaRPr lang="en-US" sz="1000" dirty="0"/>
          </a:p>
        </p:txBody>
      </p:sp>
      <p:sp>
        <p:nvSpPr>
          <p:cNvPr id="17" name="text-181"/>
          <p:cNvSpPr txBox="1"/>
          <p:nvPr/>
        </p:nvSpPr>
        <p:spPr>
          <a:xfrm>
            <a:off x="8092440" y="3383280"/>
            <a:ext cx="3184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табела „продавачи“</a:t>
            </a:r>
            <a:endParaRPr lang="en-US" sz="1500" dirty="0"/>
          </a:p>
        </p:txBody>
      </p:sp>
      <p:sp>
        <p:nvSpPr>
          <p:cNvPr id="18" name="text-182"/>
          <p:cNvSpPr txBox="1"/>
          <p:nvPr/>
        </p:nvSpPr>
        <p:spPr>
          <a:xfrm>
            <a:off x="8092440" y="3749040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име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телефон</a:t>
            </a:r>
            <a:endParaRPr lang="en-US" sz="1200" dirty="0"/>
          </a:p>
        </p:txBody>
      </p:sp>
      <p:sp>
        <p:nvSpPr>
          <p:cNvPr id="19" name="text-183"/>
          <p:cNvSpPr txBox="1"/>
          <p:nvPr/>
        </p:nvSpPr>
        <p:spPr>
          <a:xfrm>
            <a:off x="4160520" y="196596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НАСТАН ПРИ РЕГИСТРАЦИЈА</a:t>
            </a:r>
            <a:endParaRPr lang="en-US" sz="1000" dirty="0"/>
          </a:p>
        </p:txBody>
      </p:sp>
      <p:sp>
        <p:nvSpPr>
          <p:cNvPr id="20" name="msg"/>
          <p:cNvSpPr/>
          <p:nvPr/>
        </p:nvSpPr>
        <p:spPr>
          <a:xfrm>
            <a:off x="4320540" y="2331720"/>
            <a:ext cx="3017520" cy="457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21" name="text-184"/>
          <p:cNvSpPr txBox="1"/>
          <p:nvPr/>
        </p:nvSpPr>
        <p:spPr>
          <a:xfrm>
            <a:off x="4320540" y="2331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„корисник 41: Марко, 070…“</a:t>
            </a:r>
            <a:endParaRPr lang="en-US" sz="1200" dirty="0"/>
          </a:p>
        </p:txBody>
      </p:sp>
      <p:sp>
        <p:nvSpPr>
          <p:cNvPr id="22" name="arrow-185"/>
          <p:cNvSpPr/>
          <p:nvPr/>
        </p:nvSpPr>
        <p:spPr>
          <a:xfrm>
            <a:off x="4160520" y="3063240"/>
            <a:ext cx="33375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3" name="text-186"/>
          <p:cNvSpPr txBox="1"/>
          <p:nvPr/>
        </p:nvSpPr>
        <p:spPr>
          <a:xfrm>
            <a:off x="4160520" y="31546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преку Kafka, асинхроно</a:t>
            </a:r>
            <a:endParaRPr lang="en-US" sz="1000" dirty="0"/>
          </a:p>
        </p:txBody>
      </p:sp>
      <p:sp>
        <p:nvSpPr>
          <p:cNvPr id="24" name="card-187"/>
          <p:cNvSpPr/>
          <p:nvPr/>
        </p:nvSpPr>
        <p:spPr>
          <a:xfrm>
            <a:off x="548640" y="4617720"/>
            <a:ext cx="5410048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5" name="icon-1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873752"/>
            <a:ext cx="384048" cy="384048"/>
          </a:xfrm>
          <a:prstGeom prst="rect">
            <a:avLst/>
          </a:prstGeom>
        </p:spPr>
      </p:pic>
      <p:sp>
        <p:nvSpPr>
          <p:cNvPr id="26" name="text-189"/>
          <p:cNvSpPr txBox="1"/>
          <p:nvPr/>
        </p:nvSpPr>
        <p:spPr>
          <a:xfrm>
            <a:off x="1371600" y="4818888"/>
            <a:ext cx="431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 прашува секој пат</a:t>
            </a:r>
            <a:endParaRPr lang="en-US" sz="1700" dirty="0"/>
          </a:p>
        </p:txBody>
      </p:sp>
      <p:sp>
        <p:nvSpPr>
          <p:cNvPr id="27" name="text-190"/>
          <p:cNvSpPr txBox="1"/>
          <p:nvPr/>
        </p:nvSpPr>
        <p:spPr>
          <a:xfrm>
            <a:off x="1371600" y="5138928"/>
            <a:ext cx="431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синхрон REST повик</a:t>
            </a:r>
            <a:endParaRPr lang="en-US" sz="1000" dirty="0"/>
          </a:p>
        </p:txBody>
      </p:sp>
      <p:sp>
        <p:nvSpPr>
          <p:cNvPr id="28" name="text-191"/>
          <p:cNvSpPr txBox="1"/>
          <p:nvPr/>
        </p:nvSpPr>
        <p:spPr>
          <a:xfrm>
            <a:off x="822960" y="548640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Ако сервисот за корисници не работи, не се отвораат ни огласите. Падот се шири низ системот.</a:t>
            </a:r>
            <a:endParaRPr lang="en-US" sz="1400" dirty="0"/>
          </a:p>
        </p:txBody>
      </p:sp>
      <p:sp>
        <p:nvSpPr>
          <p:cNvPr id="29" name="card-192"/>
          <p:cNvSpPr/>
          <p:nvPr/>
        </p:nvSpPr>
        <p:spPr>
          <a:xfrm>
            <a:off x="6233008" y="4617720"/>
            <a:ext cx="5410048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30" name="icon-1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4873752"/>
            <a:ext cx="384048" cy="384048"/>
          </a:xfrm>
          <a:prstGeom prst="rect">
            <a:avLst/>
          </a:prstGeom>
        </p:spPr>
      </p:pic>
      <p:sp>
        <p:nvSpPr>
          <p:cNvPr id="31" name="text-194"/>
          <p:cNvSpPr txBox="1"/>
          <p:nvPr/>
        </p:nvSpPr>
        <p:spPr>
          <a:xfrm>
            <a:off x="7055968" y="4818888"/>
            <a:ext cx="431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 запише однапред</a:t>
            </a:r>
            <a:endParaRPr lang="en-US" sz="1700" dirty="0"/>
          </a:p>
        </p:txBody>
      </p:sp>
      <p:sp>
        <p:nvSpPr>
          <p:cNvPr id="32" name="text-195"/>
          <p:cNvSpPr txBox="1"/>
          <p:nvPr/>
        </p:nvSpPr>
        <p:spPr>
          <a:xfrm>
            <a:off x="7055968" y="5138928"/>
            <a:ext cx="431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настан + локална проекција</a:t>
            </a:r>
            <a:endParaRPr lang="en-US" sz="1000" dirty="0"/>
          </a:p>
        </p:txBody>
      </p:sp>
      <p:sp>
        <p:nvSpPr>
          <p:cNvPr id="33" name="text-196"/>
          <p:cNvSpPr txBox="1"/>
          <p:nvPr/>
        </p:nvSpPr>
        <p:spPr>
          <a:xfrm>
            <a:off x="6507328" y="548640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Огласот се отвора само од своите табели и не прашува никого. Цената: копијата кратко доцни (eventual consistency).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КОНЗИСТЕНТНОСТ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Што ако пораката не се прати?</a:t>
            </a:r>
            <a:endParaRPr lang="en-US" sz="3000" dirty="0"/>
          </a:p>
        </p:txBody>
      </p:sp>
      <p:sp>
        <p:nvSpPr>
          <p:cNvPr id="4" name="text-197"/>
          <p:cNvSpPr txBox="1"/>
          <p:nvPr/>
        </p:nvSpPr>
        <p:spPr>
          <a:xfrm>
            <a:off x="548640" y="16002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ПРОБЛЕМОТ · DUAL WRITE</a:t>
            </a:r>
            <a:endParaRPr lang="en-US" sz="1000" dirty="0"/>
          </a:p>
        </p:txBody>
      </p:sp>
      <p:sp>
        <p:nvSpPr>
          <p:cNvPr id="5" name="text-198"/>
          <p:cNvSpPr txBox="1"/>
          <p:nvPr/>
        </p:nvSpPr>
        <p:spPr>
          <a:xfrm>
            <a:off x="548640" y="1920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Марко си го менува телефонот. Две работи треба да се случат, една по друга:</a:t>
            </a:r>
            <a:endParaRPr lang="en-US" sz="1500" dirty="0"/>
          </a:p>
        </p:txBody>
      </p:sp>
      <p:sp>
        <p:nvSpPr>
          <p:cNvPr id="6" name="step-199"/>
          <p:cNvSpPr/>
          <p:nvPr/>
        </p:nvSpPr>
        <p:spPr>
          <a:xfrm>
            <a:off x="548640" y="2606040"/>
            <a:ext cx="51206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-200"/>
          <p:cNvSpPr txBox="1"/>
          <p:nvPr/>
        </p:nvSpPr>
        <p:spPr>
          <a:xfrm>
            <a:off x="731520" y="273405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-201"/>
          <p:cNvSpPr txBox="1"/>
          <p:nvPr/>
        </p:nvSpPr>
        <p:spPr>
          <a:xfrm>
            <a:off x="1097280" y="2697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Сервисот за корисници го запишува новиот телефон во својата табела.</a:t>
            </a:r>
            <a:endParaRPr lang="en-US" sz="1400" dirty="0"/>
          </a:p>
        </p:txBody>
      </p:sp>
      <p:sp>
        <p:nvSpPr>
          <p:cNvPr id="9" name="text-202"/>
          <p:cNvSpPr txBox="1"/>
          <p:nvPr/>
        </p:nvSpPr>
        <p:spPr>
          <a:xfrm>
            <a:off x="1097280" y="31729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готово ✓</a:t>
            </a:r>
            <a:endParaRPr lang="en-US" sz="1000" dirty="0"/>
          </a:p>
        </p:txBody>
      </p:sp>
      <p:sp>
        <p:nvSpPr>
          <p:cNvPr id="10" name="step-203"/>
          <p:cNvSpPr/>
          <p:nvPr/>
        </p:nvSpPr>
        <p:spPr>
          <a:xfrm>
            <a:off x="548640" y="3630168"/>
            <a:ext cx="5120640" cy="896112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1" name="text-204"/>
          <p:cNvSpPr txBox="1"/>
          <p:nvPr/>
        </p:nvSpPr>
        <p:spPr>
          <a:xfrm>
            <a:off x="731520" y="375818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-205"/>
          <p:cNvSpPr txBox="1"/>
          <p:nvPr/>
        </p:nvSpPr>
        <p:spPr>
          <a:xfrm>
            <a:off x="1097280" y="37216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Истиот сервис праќа порака до Kafka, за да дознае и сервисот за огласи.</a:t>
            </a:r>
            <a:endParaRPr lang="en-US" sz="1400" dirty="0"/>
          </a:p>
        </p:txBody>
      </p:sp>
      <p:sp>
        <p:nvSpPr>
          <p:cNvPr id="13" name="text-206"/>
          <p:cNvSpPr txBox="1"/>
          <p:nvPr/>
        </p:nvSpPr>
        <p:spPr>
          <a:xfrm>
            <a:off x="1097280" y="41970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тука може да падне ✕</a:t>
            </a:r>
            <a:endParaRPr lang="en-US" sz="1000" dirty="0"/>
          </a:p>
        </p:txBody>
      </p:sp>
      <p:sp>
        <p:nvSpPr>
          <p:cNvPr id="14" name="problem-note"/>
          <p:cNvSpPr/>
          <p:nvPr/>
        </p:nvSpPr>
        <p:spPr>
          <a:xfrm>
            <a:off x="548640" y="4709160"/>
            <a:ext cx="5120640" cy="1463040"/>
          </a:xfrm>
          <a:prstGeom prst="rect">
            <a:avLst/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15" name="text-207"/>
          <p:cNvSpPr txBox="1"/>
          <p:nvPr/>
        </p:nvSpPr>
        <p:spPr>
          <a:xfrm>
            <a:off x="822960" y="47091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Чекор 1 не се враќа назад. Телефонот е нов во едниот сервис, а стар во другиот — и никаде не пишува дека тоа се случило.</a:t>
            </a:r>
            <a:endParaRPr lang="en-US" sz="1500" dirty="0"/>
          </a:p>
        </p:txBody>
      </p:sp>
      <p:sp>
        <p:nvSpPr>
          <p:cNvPr id="16" name="text-208"/>
          <p:cNvSpPr txBox="1"/>
          <p:nvPr/>
        </p:nvSpPr>
        <p:spPr>
          <a:xfrm>
            <a:off x="6126480" y="1600200"/>
            <a:ext cx="5516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РЕШЕНИЕТО · TRANSACTIONAL OUTBOX</a:t>
            </a:r>
            <a:endParaRPr lang="en-US" sz="1000" dirty="0"/>
          </a:p>
        </p:txBody>
      </p:sp>
      <p:sp>
        <p:nvSpPr>
          <p:cNvPr id="17" name="tx"/>
          <p:cNvSpPr/>
          <p:nvPr/>
        </p:nvSpPr>
        <p:spPr>
          <a:xfrm>
            <a:off x="6126480" y="1965960"/>
            <a:ext cx="5516575" cy="15544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8" name="tx-hdr"/>
          <p:cNvSpPr/>
          <p:nvPr/>
        </p:nvSpPr>
        <p:spPr>
          <a:xfrm>
            <a:off x="6126480" y="1965960"/>
            <a:ext cx="5516575" cy="347472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-209"/>
          <p:cNvSpPr txBox="1"/>
          <p:nvPr/>
        </p:nvSpPr>
        <p:spPr>
          <a:xfrm>
            <a:off x="6309360" y="2011680"/>
            <a:ext cx="5150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ЕДНА ТРАНСАКЦИЈА · ИЛИ ДВЕТЕ, ИЛИ НИЕДНО</a:t>
            </a:r>
            <a:endParaRPr lang="en-US" sz="1000" dirty="0"/>
          </a:p>
        </p:txBody>
      </p:sp>
      <p:sp>
        <p:nvSpPr>
          <p:cNvPr id="20" name="box-210"/>
          <p:cNvSpPr/>
          <p:nvPr/>
        </p:nvSpPr>
        <p:spPr>
          <a:xfrm>
            <a:off x="6309360" y="2514600"/>
            <a:ext cx="2483968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211"/>
          <p:cNvSpPr txBox="1"/>
          <p:nvPr/>
        </p:nvSpPr>
        <p:spPr>
          <a:xfrm>
            <a:off x="6364224" y="2514600"/>
            <a:ext cx="237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нов телефон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табела „корисници“</a:t>
            </a:r>
            <a:endParaRPr lang="en-US" sz="1400" dirty="0"/>
          </a:p>
        </p:txBody>
      </p:sp>
      <p:sp>
        <p:nvSpPr>
          <p:cNvPr id="22" name="box-212"/>
          <p:cNvSpPr/>
          <p:nvPr/>
        </p:nvSpPr>
        <p:spPr>
          <a:xfrm>
            <a:off x="8976208" y="2514600"/>
            <a:ext cx="2483968" cy="82296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-213"/>
          <p:cNvSpPr txBox="1"/>
          <p:nvPr/>
        </p:nvSpPr>
        <p:spPr>
          <a:xfrm>
            <a:off x="9031072" y="2514600"/>
            <a:ext cx="237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порака за праќање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табела „outbox“</a:t>
            </a:r>
            <a:endParaRPr lang="en-US" sz="1400" dirty="0"/>
          </a:p>
        </p:txBody>
      </p:sp>
      <p:sp>
        <p:nvSpPr>
          <p:cNvPr id="24" name="box-214"/>
          <p:cNvSpPr/>
          <p:nvPr/>
        </p:nvSpPr>
        <p:spPr>
          <a:xfrm>
            <a:off x="6126480" y="3931920"/>
            <a:ext cx="16002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-215"/>
          <p:cNvSpPr txBox="1"/>
          <p:nvPr/>
        </p:nvSpPr>
        <p:spPr>
          <a:xfrm>
            <a:off x="6181344" y="3931920"/>
            <a:ext cx="1490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Relay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 outbox</a:t>
            </a:r>
            <a:endParaRPr lang="en-US" sz="1400" dirty="0"/>
          </a:p>
        </p:txBody>
      </p:sp>
      <p:sp>
        <p:nvSpPr>
          <p:cNvPr id="26" name="box-216"/>
          <p:cNvSpPr/>
          <p:nvPr/>
        </p:nvSpPr>
        <p:spPr>
          <a:xfrm>
            <a:off x="8138160" y="3931920"/>
            <a:ext cx="1600200" cy="73152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-217"/>
          <p:cNvSpPr txBox="1"/>
          <p:nvPr/>
        </p:nvSpPr>
        <p:spPr>
          <a:xfrm>
            <a:off x="8193024" y="3931920"/>
            <a:ext cx="1490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Kafka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брокер</a:t>
            </a:r>
            <a:endParaRPr lang="en-US" sz="1400" dirty="0"/>
          </a:p>
        </p:txBody>
      </p:sp>
      <p:sp>
        <p:nvSpPr>
          <p:cNvPr id="28" name="box-218"/>
          <p:cNvSpPr/>
          <p:nvPr/>
        </p:nvSpPr>
        <p:spPr>
          <a:xfrm>
            <a:off x="10149840" y="3931920"/>
            <a:ext cx="1493215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219"/>
          <p:cNvSpPr txBox="1"/>
          <p:nvPr/>
        </p:nvSpPr>
        <p:spPr>
          <a:xfrm>
            <a:off x="10204704" y="3931920"/>
            <a:ext cx="13834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Consumer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inbox: веќе примено?</a:t>
            </a:r>
            <a:endParaRPr lang="en-US" sz="1400" dirty="0"/>
          </a:p>
        </p:txBody>
      </p:sp>
      <p:sp>
        <p:nvSpPr>
          <p:cNvPr id="30" name="arrow-220"/>
          <p:cNvSpPr/>
          <p:nvPr/>
        </p:nvSpPr>
        <p:spPr>
          <a:xfrm>
            <a:off x="7726680" y="4297680"/>
            <a:ext cx="41148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1" name="arrow-221"/>
          <p:cNvSpPr/>
          <p:nvPr/>
        </p:nvSpPr>
        <p:spPr>
          <a:xfrm>
            <a:off x="9738360" y="4297680"/>
            <a:ext cx="41148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2" name="elbow-h"/>
          <p:cNvSpPr/>
          <p:nvPr/>
        </p:nvSpPr>
        <p:spPr>
          <a:xfrm>
            <a:off x="6926580" y="3721608"/>
            <a:ext cx="3291611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33" name="arrow-222"/>
          <p:cNvSpPr/>
          <p:nvPr/>
        </p:nvSpPr>
        <p:spPr>
          <a:xfrm>
            <a:off x="10218191" y="3520440"/>
            <a:ext cx="0" cy="201168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34" name="arrow-223"/>
          <p:cNvSpPr/>
          <p:nvPr/>
        </p:nvSpPr>
        <p:spPr>
          <a:xfrm>
            <a:off x="6926580" y="3721608"/>
            <a:ext cx="0" cy="210312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5" name="icon-bg-224"/>
          <p:cNvSpPr/>
          <p:nvPr/>
        </p:nvSpPr>
        <p:spPr>
          <a:xfrm>
            <a:off x="6126480" y="4937760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6" name="icon-22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5352" y="5056632"/>
            <a:ext cx="219456" cy="219456"/>
          </a:xfrm>
          <a:prstGeom prst="rect">
            <a:avLst/>
          </a:prstGeom>
        </p:spPr>
      </p:pic>
      <p:sp>
        <p:nvSpPr>
          <p:cNvPr id="37" name="text-226"/>
          <p:cNvSpPr txBox="1"/>
          <p:nvPr/>
        </p:nvSpPr>
        <p:spPr>
          <a:xfrm>
            <a:off x="6766560" y="4892040"/>
            <a:ext cx="4876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Kafka не работи → 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пораката чека во outbox и се праќа кога брокерот ќе се врати. Ништо не се губи — само доцни.</a:t>
            </a:r>
            <a:endParaRPr lang="en-US" sz="1400" dirty="0"/>
          </a:p>
        </p:txBody>
      </p:sp>
      <p:sp>
        <p:nvSpPr>
          <p:cNvPr id="38" name="icon-bg-227"/>
          <p:cNvSpPr/>
          <p:nvPr/>
        </p:nvSpPr>
        <p:spPr>
          <a:xfrm>
            <a:off x="6126480" y="5577840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9" name="icon-2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5696712"/>
            <a:ext cx="219456" cy="219456"/>
          </a:xfrm>
          <a:prstGeom prst="rect">
            <a:avLst/>
          </a:prstGeom>
        </p:spPr>
      </p:pic>
      <p:sp>
        <p:nvSpPr>
          <p:cNvPr id="40" name="text-229"/>
          <p:cNvSpPr txBox="1"/>
          <p:nvPr/>
        </p:nvSpPr>
        <p:spPr>
          <a:xfrm>
            <a:off x="6766560" y="5532120"/>
            <a:ext cx="4876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Иста порака двапати → 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inbox ја препознава по id; ефектот се случува само еднаш.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ОРКЕСТРАЦИЈА И ИСПОРАКА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Од commit до кластер, без рачни чекори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Секоја промена поминува низ ист автоматизиран пат, а посакуваната состојба на кластерот е запишана во Git.</a:t>
            </a:r>
            <a:endParaRPr lang="en-US" sz="1600" dirty="0"/>
          </a:p>
        </p:txBody>
      </p:sp>
      <p:sp>
        <p:nvSpPr>
          <p:cNvPr id="5" name="card-230"/>
          <p:cNvSpPr/>
          <p:nvPr/>
        </p:nvSpPr>
        <p:spPr>
          <a:xfrm>
            <a:off x="548640" y="2011680"/>
            <a:ext cx="1889699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6" name="icon-bg-231"/>
          <p:cNvSpPr/>
          <p:nvPr/>
        </p:nvSpPr>
        <p:spPr>
          <a:xfrm>
            <a:off x="777240" y="22128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7" name="icon-23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2360249"/>
            <a:ext cx="272125" cy="272125"/>
          </a:xfrm>
          <a:prstGeom prst="rect">
            <a:avLst/>
          </a:prstGeom>
        </p:spPr>
      </p:pic>
      <p:sp>
        <p:nvSpPr>
          <p:cNvPr id="8" name="text-233"/>
          <p:cNvSpPr txBox="1"/>
          <p:nvPr/>
        </p:nvSpPr>
        <p:spPr>
          <a:xfrm>
            <a:off x="777240" y="2880360"/>
            <a:ext cx="15239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Git push</a:t>
            </a:r>
            <a:endParaRPr lang="en-US" sz="1600" dirty="0"/>
          </a:p>
        </p:txBody>
      </p:sp>
      <p:sp>
        <p:nvSpPr>
          <p:cNvPr id="9" name="text-234"/>
          <p:cNvSpPr txBox="1"/>
          <p:nvPr/>
        </p:nvSpPr>
        <p:spPr>
          <a:xfrm>
            <a:off x="777240" y="3154680"/>
            <a:ext cx="16153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код + манифести</a:t>
            </a:r>
            <a:endParaRPr lang="en-US" sz="1200" dirty="0"/>
          </a:p>
        </p:txBody>
      </p:sp>
      <p:sp>
        <p:nvSpPr>
          <p:cNvPr id="10" name="arrow-235"/>
          <p:cNvSpPr/>
          <p:nvPr/>
        </p:nvSpPr>
        <p:spPr>
          <a:xfrm>
            <a:off x="2493203" y="2743200"/>
            <a:ext cx="30175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card-236"/>
          <p:cNvSpPr/>
          <p:nvPr/>
        </p:nvSpPr>
        <p:spPr>
          <a:xfrm>
            <a:off x="2849819" y="2011680"/>
            <a:ext cx="1889699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2" name="icon-bg-237"/>
          <p:cNvSpPr/>
          <p:nvPr/>
        </p:nvSpPr>
        <p:spPr>
          <a:xfrm>
            <a:off x="3078419" y="22128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3" name="icon-2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20" y="2360249"/>
            <a:ext cx="272125" cy="272125"/>
          </a:xfrm>
          <a:prstGeom prst="rect">
            <a:avLst/>
          </a:prstGeom>
        </p:spPr>
      </p:pic>
      <p:sp>
        <p:nvSpPr>
          <p:cNvPr id="14" name="text-239"/>
          <p:cNvSpPr txBox="1"/>
          <p:nvPr/>
        </p:nvSpPr>
        <p:spPr>
          <a:xfrm>
            <a:off x="3078419" y="2880360"/>
            <a:ext cx="15239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GitHub Actions</a:t>
            </a:r>
            <a:endParaRPr lang="en-US" sz="1600" dirty="0"/>
          </a:p>
        </p:txBody>
      </p:sp>
      <p:sp>
        <p:nvSpPr>
          <p:cNvPr id="15" name="text-240"/>
          <p:cNvSpPr txBox="1"/>
          <p:nvPr/>
        </p:nvSpPr>
        <p:spPr>
          <a:xfrm>
            <a:off x="3078419" y="3154680"/>
            <a:ext cx="16153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тестови · build · image</a:t>
            </a:r>
            <a:endParaRPr lang="en-US" sz="1200" dirty="0"/>
          </a:p>
        </p:txBody>
      </p:sp>
      <p:sp>
        <p:nvSpPr>
          <p:cNvPr id="16" name="arrow-241"/>
          <p:cNvSpPr/>
          <p:nvPr/>
        </p:nvSpPr>
        <p:spPr>
          <a:xfrm>
            <a:off x="4794382" y="2743200"/>
            <a:ext cx="30175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card-242"/>
          <p:cNvSpPr/>
          <p:nvPr/>
        </p:nvSpPr>
        <p:spPr>
          <a:xfrm>
            <a:off x="5150998" y="2011680"/>
            <a:ext cx="1889699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8" name="icon-bg-243"/>
          <p:cNvSpPr/>
          <p:nvPr/>
        </p:nvSpPr>
        <p:spPr>
          <a:xfrm>
            <a:off x="5379598" y="22128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9" name="icon-2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360249"/>
            <a:ext cx="272125" cy="272125"/>
          </a:xfrm>
          <a:prstGeom prst="rect">
            <a:avLst/>
          </a:prstGeom>
        </p:spPr>
      </p:pic>
      <p:sp>
        <p:nvSpPr>
          <p:cNvPr id="20" name="text-245"/>
          <p:cNvSpPr txBox="1"/>
          <p:nvPr/>
        </p:nvSpPr>
        <p:spPr>
          <a:xfrm>
            <a:off x="5379598" y="2880360"/>
            <a:ext cx="15239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Registry</a:t>
            </a:r>
            <a:endParaRPr lang="en-US" sz="1600" dirty="0"/>
          </a:p>
        </p:txBody>
      </p:sp>
      <p:sp>
        <p:nvSpPr>
          <p:cNvPr id="21" name="text-246"/>
          <p:cNvSpPr txBox="1"/>
          <p:nvPr/>
        </p:nvSpPr>
        <p:spPr>
          <a:xfrm>
            <a:off x="5379598" y="3154680"/>
            <a:ext cx="16153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верзионирани images</a:t>
            </a:r>
            <a:endParaRPr lang="en-US" sz="1200" dirty="0"/>
          </a:p>
        </p:txBody>
      </p:sp>
      <p:sp>
        <p:nvSpPr>
          <p:cNvPr id="22" name="arrow-247"/>
          <p:cNvSpPr/>
          <p:nvPr/>
        </p:nvSpPr>
        <p:spPr>
          <a:xfrm>
            <a:off x="7095561" y="2743200"/>
            <a:ext cx="30175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card-248"/>
          <p:cNvSpPr/>
          <p:nvPr/>
        </p:nvSpPr>
        <p:spPr>
          <a:xfrm>
            <a:off x="7452177" y="2011680"/>
            <a:ext cx="1889699" cy="14630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4" name="icon-bg-249"/>
          <p:cNvSpPr/>
          <p:nvPr/>
        </p:nvSpPr>
        <p:spPr>
          <a:xfrm>
            <a:off x="7680777" y="22128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5" name="icon-2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8178" y="2360249"/>
            <a:ext cx="272125" cy="272125"/>
          </a:xfrm>
          <a:prstGeom prst="rect">
            <a:avLst/>
          </a:prstGeom>
        </p:spPr>
      </p:pic>
      <p:sp>
        <p:nvSpPr>
          <p:cNvPr id="26" name="text-251"/>
          <p:cNvSpPr txBox="1"/>
          <p:nvPr/>
        </p:nvSpPr>
        <p:spPr>
          <a:xfrm>
            <a:off x="7680777" y="2880360"/>
            <a:ext cx="15239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ArgoCD</a:t>
            </a:r>
            <a:endParaRPr lang="en-US" sz="1600" dirty="0"/>
          </a:p>
        </p:txBody>
      </p:sp>
      <p:sp>
        <p:nvSpPr>
          <p:cNvPr id="27" name="text-252"/>
          <p:cNvSpPr txBox="1"/>
          <p:nvPr/>
        </p:nvSpPr>
        <p:spPr>
          <a:xfrm>
            <a:off x="7680777" y="3154680"/>
            <a:ext cx="16153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GitOps синхронизација</a:t>
            </a:r>
            <a:endParaRPr lang="en-US" sz="1200" dirty="0"/>
          </a:p>
        </p:txBody>
      </p:sp>
      <p:sp>
        <p:nvSpPr>
          <p:cNvPr id="28" name="arrow-253"/>
          <p:cNvSpPr/>
          <p:nvPr/>
        </p:nvSpPr>
        <p:spPr>
          <a:xfrm>
            <a:off x="9396740" y="2743200"/>
            <a:ext cx="30175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card-254"/>
          <p:cNvSpPr/>
          <p:nvPr/>
        </p:nvSpPr>
        <p:spPr>
          <a:xfrm>
            <a:off x="9753356" y="2011680"/>
            <a:ext cx="1889699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0" name="icon-bg-255"/>
          <p:cNvSpPr/>
          <p:nvPr/>
        </p:nvSpPr>
        <p:spPr>
          <a:xfrm>
            <a:off x="9981956" y="2212848"/>
            <a:ext cx="566928" cy="566928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1" name="icon-25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9357" y="2360249"/>
            <a:ext cx="272125" cy="272125"/>
          </a:xfrm>
          <a:prstGeom prst="rect">
            <a:avLst/>
          </a:prstGeom>
        </p:spPr>
      </p:pic>
      <p:sp>
        <p:nvSpPr>
          <p:cNvPr id="32" name="text-257"/>
          <p:cNvSpPr txBox="1"/>
          <p:nvPr/>
        </p:nvSpPr>
        <p:spPr>
          <a:xfrm>
            <a:off x="9981956" y="2880360"/>
            <a:ext cx="15239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Kubernetes</a:t>
            </a:r>
            <a:endParaRPr lang="en-US" sz="1600" dirty="0"/>
          </a:p>
        </p:txBody>
      </p:sp>
      <p:sp>
        <p:nvSpPr>
          <p:cNvPr id="33" name="text-258"/>
          <p:cNvSpPr txBox="1"/>
          <p:nvPr/>
        </p:nvSpPr>
        <p:spPr>
          <a:xfrm>
            <a:off x="9981956" y="3154680"/>
            <a:ext cx="16153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Helm charts</a:t>
            </a:r>
            <a:endParaRPr lang="en-US" sz="1200" dirty="0"/>
          </a:p>
        </p:txBody>
      </p:sp>
      <p:sp>
        <p:nvSpPr>
          <p:cNvPr id="34" name="text-259"/>
          <p:cNvSpPr txBox="1"/>
          <p:nvPr/>
        </p:nvSpPr>
        <p:spPr>
          <a:xfrm>
            <a:off x="548640" y="3840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ВО КЛАСТЕРОТ</a:t>
            </a:r>
            <a:endParaRPr lang="en-US" sz="1000" dirty="0"/>
          </a:p>
        </p:txBody>
      </p:sp>
      <p:sp>
        <p:nvSpPr>
          <p:cNvPr id="35" name="card-260"/>
          <p:cNvSpPr/>
          <p:nvPr/>
        </p:nvSpPr>
        <p:spPr>
          <a:xfrm>
            <a:off x="548640" y="4187952"/>
            <a:ext cx="351525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36" name="icon-26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443984"/>
            <a:ext cx="402336" cy="402336"/>
          </a:xfrm>
          <a:prstGeom prst="rect">
            <a:avLst/>
          </a:prstGeom>
        </p:spPr>
      </p:pic>
      <p:sp>
        <p:nvSpPr>
          <p:cNvPr id="37" name="text-262"/>
          <p:cNvSpPr txBox="1"/>
          <p:nvPr/>
        </p:nvSpPr>
        <p:spPr>
          <a:xfrm>
            <a:off x="1371600" y="4315968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Health проби</a:t>
            </a:r>
            <a:endParaRPr lang="en-US" sz="1500" dirty="0"/>
          </a:p>
        </p:txBody>
      </p:sp>
      <p:sp>
        <p:nvSpPr>
          <p:cNvPr id="38" name="text-263"/>
          <p:cNvSpPr txBox="1"/>
          <p:nvPr/>
        </p:nvSpPr>
        <p:spPr>
          <a:xfrm>
            <a:off x="1371600" y="4663440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сообраќај само до здрави pods</a:t>
            </a:r>
            <a:endParaRPr lang="en-US" sz="1400" dirty="0"/>
          </a:p>
        </p:txBody>
      </p:sp>
      <p:sp>
        <p:nvSpPr>
          <p:cNvPr id="39" name="card-264"/>
          <p:cNvSpPr/>
          <p:nvPr/>
        </p:nvSpPr>
        <p:spPr>
          <a:xfrm>
            <a:off x="4338218" y="4187952"/>
            <a:ext cx="351525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40" name="icon-26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818" y="4443984"/>
            <a:ext cx="402336" cy="402336"/>
          </a:xfrm>
          <a:prstGeom prst="rect">
            <a:avLst/>
          </a:prstGeom>
        </p:spPr>
      </p:pic>
      <p:sp>
        <p:nvSpPr>
          <p:cNvPr id="41" name="text-266"/>
          <p:cNvSpPr txBox="1"/>
          <p:nvPr/>
        </p:nvSpPr>
        <p:spPr>
          <a:xfrm>
            <a:off x="5161178" y="4315968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Автоскалирање (HPA)</a:t>
            </a:r>
            <a:endParaRPr lang="en-US" sz="1500" dirty="0"/>
          </a:p>
        </p:txBody>
      </p:sp>
      <p:sp>
        <p:nvSpPr>
          <p:cNvPr id="42" name="text-267"/>
          <p:cNvSpPr txBox="1"/>
          <p:nvPr/>
        </p:nvSpPr>
        <p:spPr>
          <a:xfrm>
            <a:off x="5161178" y="4663440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реплики според оптоварувањето</a:t>
            </a:r>
            <a:endParaRPr lang="en-US" sz="1400" dirty="0"/>
          </a:p>
        </p:txBody>
      </p:sp>
      <p:sp>
        <p:nvSpPr>
          <p:cNvPr id="43" name="card-268"/>
          <p:cNvSpPr/>
          <p:nvPr/>
        </p:nvSpPr>
        <p:spPr>
          <a:xfrm>
            <a:off x="8127797" y="4187952"/>
            <a:ext cx="351525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44" name="icon-26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397" y="4443984"/>
            <a:ext cx="402336" cy="402336"/>
          </a:xfrm>
          <a:prstGeom prst="rect">
            <a:avLst/>
          </a:prstGeom>
        </p:spPr>
      </p:pic>
      <p:sp>
        <p:nvSpPr>
          <p:cNvPr id="45" name="text-270"/>
          <p:cNvSpPr txBox="1"/>
          <p:nvPr/>
        </p:nvSpPr>
        <p:spPr>
          <a:xfrm>
            <a:off x="8950757" y="4315968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PodDisruptionBudget</a:t>
            </a:r>
            <a:endParaRPr lang="en-US" sz="1500" dirty="0"/>
          </a:p>
        </p:txBody>
      </p:sp>
      <p:sp>
        <p:nvSpPr>
          <p:cNvPr id="46" name="text-271"/>
          <p:cNvSpPr txBox="1"/>
          <p:nvPr/>
        </p:nvSpPr>
        <p:spPr>
          <a:xfrm>
            <a:off x="8950757" y="4663440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достапност и при одржување</a:t>
            </a:r>
            <a:endParaRPr lang="en-US" sz="1400" dirty="0"/>
          </a:p>
        </p:txBody>
      </p:sp>
      <p:sp>
        <p:nvSpPr>
          <p:cNvPr id="47" name="card-272"/>
          <p:cNvSpPr/>
          <p:nvPr/>
        </p:nvSpPr>
        <p:spPr>
          <a:xfrm>
            <a:off x="548640" y="5285232"/>
            <a:ext cx="351525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48" name="icon-273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541264"/>
            <a:ext cx="402336" cy="402336"/>
          </a:xfrm>
          <a:prstGeom prst="rect">
            <a:avLst/>
          </a:prstGeom>
        </p:spPr>
      </p:pic>
      <p:sp>
        <p:nvSpPr>
          <p:cNvPr id="49" name="text-274"/>
          <p:cNvSpPr txBox="1"/>
          <p:nvPr/>
        </p:nvSpPr>
        <p:spPr>
          <a:xfrm>
            <a:off x="1371600" y="5413248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NetworkPolicy</a:t>
            </a:r>
            <a:endParaRPr lang="en-US" sz="1500" dirty="0"/>
          </a:p>
        </p:txBody>
      </p:sp>
      <p:sp>
        <p:nvSpPr>
          <p:cNvPr id="50" name="text-275"/>
          <p:cNvSpPr txBox="1"/>
          <p:nvPr/>
        </p:nvSpPr>
        <p:spPr>
          <a:xfrm>
            <a:off x="1371600" y="5760720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default-deny меѓу сервисите</a:t>
            </a:r>
            <a:endParaRPr lang="en-US" sz="1400" dirty="0"/>
          </a:p>
        </p:txBody>
      </p:sp>
      <p:sp>
        <p:nvSpPr>
          <p:cNvPr id="51" name="card-276"/>
          <p:cNvSpPr/>
          <p:nvPr/>
        </p:nvSpPr>
        <p:spPr>
          <a:xfrm>
            <a:off x="4338218" y="5285232"/>
            <a:ext cx="351525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52" name="icon-27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66818" y="5541264"/>
            <a:ext cx="402336" cy="402336"/>
          </a:xfrm>
          <a:prstGeom prst="rect">
            <a:avLst/>
          </a:prstGeom>
        </p:spPr>
      </p:pic>
      <p:sp>
        <p:nvSpPr>
          <p:cNvPr id="53" name="text-278"/>
          <p:cNvSpPr txBox="1"/>
          <p:nvPr/>
        </p:nvSpPr>
        <p:spPr>
          <a:xfrm>
            <a:off x="5161178" y="5413248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ConfigMap и Secret</a:t>
            </a:r>
            <a:endParaRPr lang="en-US" sz="1500" dirty="0"/>
          </a:p>
        </p:txBody>
      </p:sp>
      <p:sp>
        <p:nvSpPr>
          <p:cNvPr id="54" name="text-279"/>
          <p:cNvSpPr txBox="1"/>
          <p:nvPr/>
        </p:nvSpPr>
        <p:spPr>
          <a:xfrm>
            <a:off x="5161178" y="5760720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конфигурација надвор од кодот</a:t>
            </a:r>
            <a:endParaRPr lang="en-US" sz="1400" dirty="0"/>
          </a:p>
        </p:txBody>
      </p:sp>
      <p:sp>
        <p:nvSpPr>
          <p:cNvPr id="55" name="card-280"/>
          <p:cNvSpPr/>
          <p:nvPr/>
        </p:nvSpPr>
        <p:spPr>
          <a:xfrm>
            <a:off x="8127797" y="5285232"/>
            <a:ext cx="351525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56" name="icon-28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56397" y="5541264"/>
            <a:ext cx="402336" cy="402336"/>
          </a:xfrm>
          <a:prstGeom prst="rect">
            <a:avLst/>
          </a:prstGeom>
        </p:spPr>
      </p:pic>
      <p:sp>
        <p:nvSpPr>
          <p:cNvPr id="57" name="text-282"/>
          <p:cNvSpPr txBox="1"/>
          <p:nvPr/>
        </p:nvSpPr>
        <p:spPr>
          <a:xfrm>
            <a:off x="8950757" y="5413248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Ingress</a:t>
            </a:r>
            <a:endParaRPr lang="en-US" sz="1500" dirty="0"/>
          </a:p>
        </p:txBody>
      </p:sp>
      <p:sp>
        <p:nvSpPr>
          <p:cNvPr id="58" name="text-283"/>
          <p:cNvSpPr txBox="1"/>
          <p:nvPr/>
        </p:nvSpPr>
        <p:spPr>
          <a:xfrm>
            <a:off x="8950757" y="5760720"/>
            <a:ext cx="2555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една влезна точка за клиентот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OBSERVABILITY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Три столба: метрики, логови, traces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Асинхрониот систем греши тивко. Целта е секој дефект да се забележи, објасни и лоцира.</a:t>
            </a:r>
            <a:endParaRPr lang="en-US" sz="1600" dirty="0"/>
          </a:p>
        </p:txBody>
      </p:sp>
      <p:sp>
        <p:nvSpPr>
          <p:cNvPr id="5" name="card-284"/>
          <p:cNvSpPr/>
          <p:nvPr/>
        </p:nvSpPr>
        <p:spPr>
          <a:xfrm>
            <a:off x="548640" y="2011680"/>
            <a:ext cx="3515258" cy="2697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6" name="icon-bg-285"/>
          <p:cNvSpPr/>
          <p:nvPr/>
        </p:nvSpPr>
        <p:spPr>
          <a:xfrm>
            <a:off x="868680" y="2331720"/>
            <a:ext cx="685800" cy="6858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7" name="icon-28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510028"/>
            <a:ext cx="329184" cy="329184"/>
          </a:xfrm>
          <a:prstGeom prst="rect">
            <a:avLst/>
          </a:prstGeom>
        </p:spPr>
      </p:pic>
      <p:sp>
        <p:nvSpPr>
          <p:cNvPr id="8" name="text-287"/>
          <p:cNvSpPr txBox="1"/>
          <p:nvPr/>
        </p:nvSpPr>
        <p:spPr>
          <a:xfrm>
            <a:off x="1737360" y="2395728"/>
            <a:ext cx="21436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000" dirty="0"/>
          </a:p>
        </p:txBody>
      </p:sp>
      <p:sp>
        <p:nvSpPr>
          <p:cNvPr id="9" name="text-288"/>
          <p:cNvSpPr txBox="1"/>
          <p:nvPr/>
        </p:nvSpPr>
        <p:spPr>
          <a:xfrm>
            <a:off x="1737360" y="2651760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Метрики</a:t>
            </a:r>
            <a:endParaRPr lang="en-US" sz="2200" dirty="0"/>
          </a:p>
        </p:txBody>
      </p:sp>
      <p:sp>
        <p:nvSpPr>
          <p:cNvPr id="10" name="text-289"/>
          <p:cNvSpPr txBox="1"/>
          <p:nvPr/>
        </p:nvSpPr>
        <p:spPr>
          <a:xfrm>
            <a:off x="868680" y="32461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„Дали нешто не е во ред?“</a:t>
            </a:r>
            <a:endParaRPr lang="en-US" sz="1600" dirty="0"/>
          </a:p>
        </p:txBody>
      </p:sp>
      <p:sp>
        <p:nvSpPr>
          <p:cNvPr id="11" name="text-290"/>
          <p:cNvSpPr txBox="1"/>
          <p:nvPr/>
        </p:nvSpPr>
        <p:spPr>
          <a:xfrm>
            <a:off x="868680" y="370332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латенција и грешки по сервис, Kafka consumer lag, старост на outbox</a:t>
            </a:r>
            <a:endParaRPr lang="en-US" sz="1500" dirty="0"/>
          </a:p>
        </p:txBody>
      </p:sp>
      <p:sp>
        <p:nvSpPr>
          <p:cNvPr id="12" name="card-291"/>
          <p:cNvSpPr/>
          <p:nvPr/>
        </p:nvSpPr>
        <p:spPr>
          <a:xfrm>
            <a:off x="4338218" y="2011680"/>
            <a:ext cx="3515258" cy="2697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3" name="icon-bg-292"/>
          <p:cNvSpPr/>
          <p:nvPr/>
        </p:nvSpPr>
        <p:spPr>
          <a:xfrm>
            <a:off x="4658258" y="2331720"/>
            <a:ext cx="685800" cy="6858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4" name="icon-2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566" y="2510028"/>
            <a:ext cx="329184" cy="329184"/>
          </a:xfrm>
          <a:prstGeom prst="rect">
            <a:avLst/>
          </a:prstGeom>
        </p:spPr>
      </p:pic>
      <p:sp>
        <p:nvSpPr>
          <p:cNvPr id="15" name="text-294"/>
          <p:cNvSpPr txBox="1"/>
          <p:nvPr/>
        </p:nvSpPr>
        <p:spPr>
          <a:xfrm>
            <a:off x="5526938" y="2395728"/>
            <a:ext cx="21436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LOKI</a:t>
            </a:r>
            <a:endParaRPr lang="en-US" sz="1000" dirty="0"/>
          </a:p>
        </p:txBody>
      </p:sp>
      <p:sp>
        <p:nvSpPr>
          <p:cNvPr id="16" name="text-295"/>
          <p:cNvSpPr txBox="1"/>
          <p:nvPr/>
        </p:nvSpPr>
        <p:spPr>
          <a:xfrm>
            <a:off x="5526938" y="2651760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Логови</a:t>
            </a:r>
            <a:endParaRPr lang="en-US" sz="2200" dirty="0"/>
          </a:p>
        </p:txBody>
      </p:sp>
      <p:sp>
        <p:nvSpPr>
          <p:cNvPr id="17" name="text-296"/>
          <p:cNvSpPr txBox="1"/>
          <p:nvPr/>
        </p:nvSpPr>
        <p:spPr>
          <a:xfrm>
            <a:off x="4658258" y="32461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„Што точно се случило?“</a:t>
            </a:r>
            <a:endParaRPr lang="en-US" sz="1600" dirty="0"/>
          </a:p>
        </p:txBody>
      </p:sp>
      <p:sp>
        <p:nvSpPr>
          <p:cNvPr id="18" name="text-297"/>
          <p:cNvSpPr txBox="1"/>
          <p:nvPr/>
        </p:nvSpPr>
        <p:spPr>
          <a:xfrm>
            <a:off x="4658258" y="370332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структурирани JSON логови од сите pods, пребарливи по trace id</a:t>
            </a:r>
            <a:endParaRPr lang="en-US" sz="1500" dirty="0"/>
          </a:p>
        </p:txBody>
      </p:sp>
      <p:sp>
        <p:nvSpPr>
          <p:cNvPr id="19" name="card-298"/>
          <p:cNvSpPr/>
          <p:nvPr/>
        </p:nvSpPr>
        <p:spPr>
          <a:xfrm>
            <a:off x="8127797" y="2011680"/>
            <a:ext cx="3515258" cy="2697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0" name="icon-bg-299"/>
          <p:cNvSpPr/>
          <p:nvPr/>
        </p:nvSpPr>
        <p:spPr>
          <a:xfrm>
            <a:off x="8447837" y="2331720"/>
            <a:ext cx="685800" cy="6858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1" name="icon-3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145" y="2510028"/>
            <a:ext cx="329184" cy="329184"/>
          </a:xfrm>
          <a:prstGeom prst="rect">
            <a:avLst/>
          </a:prstGeom>
        </p:spPr>
      </p:pic>
      <p:sp>
        <p:nvSpPr>
          <p:cNvPr id="22" name="text-301"/>
          <p:cNvSpPr txBox="1"/>
          <p:nvPr/>
        </p:nvSpPr>
        <p:spPr>
          <a:xfrm>
            <a:off x="9316517" y="2395728"/>
            <a:ext cx="21436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</a:t>
            </a:r>
            <a:endParaRPr lang="en-US" sz="1000" dirty="0"/>
          </a:p>
        </p:txBody>
      </p:sp>
      <p:sp>
        <p:nvSpPr>
          <p:cNvPr id="23" name="text-302"/>
          <p:cNvSpPr txBox="1"/>
          <p:nvPr/>
        </p:nvSpPr>
        <p:spPr>
          <a:xfrm>
            <a:off x="9316517" y="2651760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Traces</a:t>
            </a:r>
            <a:endParaRPr lang="en-US" sz="2200" dirty="0"/>
          </a:p>
        </p:txBody>
      </p:sp>
      <p:sp>
        <p:nvSpPr>
          <p:cNvPr id="24" name="text-303"/>
          <p:cNvSpPr txBox="1"/>
          <p:nvPr/>
        </p:nvSpPr>
        <p:spPr>
          <a:xfrm>
            <a:off x="8447837" y="32461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„Каде се случило?“</a:t>
            </a:r>
            <a:endParaRPr lang="en-US" sz="1600" dirty="0"/>
          </a:p>
        </p:txBody>
      </p:sp>
      <p:sp>
        <p:nvSpPr>
          <p:cNvPr id="25" name="text-304"/>
          <p:cNvSpPr txBox="1"/>
          <p:nvPr/>
        </p:nvSpPr>
        <p:spPr>
          <a:xfrm>
            <a:off x="8447837" y="370332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едно барање следено низ gateway → сервис → Kafka → consumers</a:t>
            </a:r>
            <a:endParaRPr lang="en-US" sz="1500" dirty="0"/>
          </a:p>
        </p:txBody>
      </p:sp>
      <p:sp>
        <p:nvSpPr>
          <p:cNvPr id="26" name="otel"/>
          <p:cNvSpPr/>
          <p:nvPr/>
        </p:nvSpPr>
        <p:spPr>
          <a:xfrm>
            <a:off x="548640" y="4937760"/>
            <a:ext cx="5410048" cy="128016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-305"/>
          <p:cNvSpPr txBox="1"/>
          <p:nvPr/>
        </p:nvSpPr>
        <p:spPr>
          <a:xfrm>
            <a:off x="822960" y="49377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OpenTelemetry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една инструментација и еден collector за сите три сигнали — независно од алатката што ги чува</a:t>
            </a:r>
            <a:endParaRPr lang="en-US" sz="1400" dirty="0"/>
          </a:p>
        </p:txBody>
      </p:sp>
      <p:sp>
        <p:nvSpPr>
          <p:cNvPr id="28" name="card-306"/>
          <p:cNvSpPr/>
          <p:nvPr/>
        </p:nvSpPr>
        <p:spPr>
          <a:xfrm>
            <a:off x="6233008" y="4937760"/>
            <a:ext cx="5410048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9" name="text-307"/>
          <p:cNvSpPr txBox="1"/>
          <p:nvPr/>
        </p:nvSpPr>
        <p:spPr>
          <a:xfrm>
            <a:off x="6507328" y="49377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Grafana: dashboards и аларми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аларми за дефекти што однадвор не се гледаат: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OutboxStalled · ConsumerLag · DeadLetter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ТЕХНОЛОГИИ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Технолошки стек</a:t>
            </a:r>
            <a:endParaRPr lang="en-US" sz="3000" dirty="0"/>
          </a:p>
        </p:txBody>
      </p:sp>
      <p:sp>
        <p:nvSpPr>
          <p:cNvPr id="4" name="card-308"/>
          <p:cNvSpPr/>
          <p:nvPr/>
        </p:nvSpPr>
        <p:spPr>
          <a:xfrm>
            <a:off x="548640" y="164592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5" name="icon-bg-309"/>
          <p:cNvSpPr/>
          <p:nvPr/>
        </p:nvSpPr>
        <p:spPr>
          <a:xfrm>
            <a:off x="822960" y="192024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con-3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62886"/>
            <a:ext cx="263347" cy="263347"/>
          </a:xfrm>
          <a:prstGeom prst="rect">
            <a:avLst/>
          </a:prstGeom>
        </p:spPr>
      </p:pic>
      <p:sp>
        <p:nvSpPr>
          <p:cNvPr id="7" name="text-311"/>
          <p:cNvSpPr txBox="1"/>
          <p:nvPr/>
        </p:nvSpPr>
        <p:spPr>
          <a:xfrm>
            <a:off x="822960" y="256032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Апликација</a:t>
            </a:r>
            <a:endParaRPr lang="en-US" sz="1600" dirty="0"/>
          </a:p>
        </p:txBody>
      </p:sp>
      <p:sp>
        <p:nvSpPr>
          <p:cNvPr id="8" name="text-312"/>
          <p:cNvSpPr txBox="1"/>
          <p:nvPr/>
        </p:nvSpPr>
        <p:spPr>
          <a:xfrm>
            <a:off x="822960" y="292608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Java 21 · Spring Boot 3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Spring Cloud Gateway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Angular (SPA)</a:t>
            </a:r>
            <a:endParaRPr lang="en-US" sz="1400" dirty="0"/>
          </a:p>
        </p:txBody>
      </p:sp>
      <p:sp>
        <p:nvSpPr>
          <p:cNvPr id="9" name="card-313"/>
          <p:cNvSpPr/>
          <p:nvPr/>
        </p:nvSpPr>
        <p:spPr>
          <a:xfrm>
            <a:off x="3390824" y="164592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0" name="icon-bg-314"/>
          <p:cNvSpPr/>
          <p:nvPr/>
        </p:nvSpPr>
        <p:spPr>
          <a:xfrm>
            <a:off x="3665144" y="192024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1" name="icon-3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790" y="2062886"/>
            <a:ext cx="263347" cy="263347"/>
          </a:xfrm>
          <a:prstGeom prst="rect">
            <a:avLst/>
          </a:prstGeom>
        </p:spPr>
      </p:pic>
      <p:sp>
        <p:nvSpPr>
          <p:cNvPr id="12" name="text-316"/>
          <p:cNvSpPr txBox="1"/>
          <p:nvPr/>
        </p:nvSpPr>
        <p:spPr>
          <a:xfrm>
            <a:off x="3665144" y="256032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Податоци</a:t>
            </a:r>
            <a:endParaRPr lang="en-US" sz="1600" dirty="0"/>
          </a:p>
        </p:txBody>
      </p:sp>
      <p:sp>
        <p:nvSpPr>
          <p:cNvPr id="13" name="text-317"/>
          <p:cNvSpPr txBox="1"/>
          <p:nvPr/>
        </p:nvSpPr>
        <p:spPr>
          <a:xfrm>
            <a:off x="3665144" y="292608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PostgreSQL 16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шема по сервис · Flyway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Redis · MinIO (S3)</a:t>
            </a:r>
            <a:endParaRPr lang="en-US" sz="1400" dirty="0"/>
          </a:p>
        </p:txBody>
      </p:sp>
      <p:sp>
        <p:nvSpPr>
          <p:cNvPr id="14" name="card-318"/>
          <p:cNvSpPr/>
          <p:nvPr/>
        </p:nvSpPr>
        <p:spPr>
          <a:xfrm>
            <a:off x="6233008" y="164592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5" name="icon-bg-319"/>
          <p:cNvSpPr/>
          <p:nvPr/>
        </p:nvSpPr>
        <p:spPr>
          <a:xfrm>
            <a:off x="6507328" y="192024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6" name="icon-3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74" y="2062886"/>
            <a:ext cx="263347" cy="263347"/>
          </a:xfrm>
          <a:prstGeom prst="rect">
            <a:avLst/>
          </a:prstGeom>
        </p:spPr>
      </p:pic>
      <p:sp>
        <p:nvSpPr>
          <p:cNvPr id="17" name="text-321"/>
          <p:cNvSpPr txBox="1"/>
          <p:nvPr/>
        </p:nvSpPr>
        <p:spPr>
          <a:xfrm>
            <a:off x="6507328" y="256032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Настани</a:t>
            </a:r>
            <a:endParaRPr lang="en-US" sz="1600" dirty="0"/>
          </a:p>
        </p:txBody>
      </p:sp>
      <p:sp>
        <p:nvSpPr>
          <p:cNvPr id="18" name="text-322"/>
          <p:cNvSpPr txBox="1"/>
          <p:nvPr/>
        </p:nvSpPr>
        <p:spPr>
          <a:xfrm>
            <a:off x="6507328" y="292608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Apache Kafka (KRaft)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Outbox / Inbox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Dead-letter topics</a:t>
            </a:r>
            <a:endParaRPr lang="en-US" sz="1400" dirty="0"/>
          </a:p>
        </p:txBody>
      </p:sp>
      <p:sp>
        <p:nvSpPr>
          <p:cNvPr id="19" name="card-323"/>
          <p:cNvSpPr/>
          <p:nvPr/>
        </p:nvSpPr>
        <p:spPr>
          <a:xfrm>
            <a:off x="9075191" y="164592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0" name="icon-bg-324"/>
          <p:cNvSpPr/>
          <p:nvPr/>
        </p:nvSpPr>
        <p:spPr>
          <a:xfrm>
            <a:off x="9349511" y="192024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1" name="icon-3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2158" y="2062886"/>
            <a:ext cx="263347" cy="263347"/>
          </a:xfrm>
          <a:prstGeom prst="rect">
            <a:avLst/>
          </a:prstGeom>
        </p:spPr>
      </p:pic>
      <p:sp>
        <p:nvSpPr>
          <p:cNvPr id="22" name="text-326"/>
          <p:cNvSpPr txBox="1"/>
          <p:nvPr/>
        </p:nvSpPr>
        <p:spPr>
          <a:xfrm>
            <a:off x="9349511" y="256032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Оркестрација</a:t>
            </a:r>
            <a:endParaRPr lang="en-US" sz="1600" dirty="0"/>
          </a:p>
        </p:txBody>
      </p:sp>
      <p:sp>
        <p:nvSpPr>
          <p:cNvPr id="23" name="text-327"/>
          <p:cNvSpPr txBox="1"/>
          <p:nvPr/>
        </p:nvSpPr>
        <p:spPr>
          <a:xfrm>
            <a:off x="9349511" y="292608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Docker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Kubernetes (k3d)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Helm</a:t>
            </a:r>
            <a:endParaRPr lang="en-US" sz="1400" dirty="0"/>
          </a:p>
        </p:txBody>
      </p:sp>
      <p:sp>
        <p:nvSpPr>
          <p:cNvPr id="24" name="card-328"/>
          <p:cNvSpPr/>
          <p:nvPr/>
        </p:nvSpPr>
        <p:spPr>
          <a:xfrm>
            <a:off x="548640" y="411480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5" name="icon-bg-329"/>
          <p:cNvSpPr/>
          <p:nvPr/>
        </p:nvSpPr>
        <p:spPr>
          <a:xfrm>
            <a:off x="822960" y="438912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6" name="icon-33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" y="4531766"/>
            <a:ext cx="263347" cy="263347"/>
          </a:xfrm>
          <a:prstGeom prst="rect">
            <a:avLst/>
          </a:prstGeom>
        </p:spPr>
      </p:pic>
      <p:sp>
        <p:nvSpPr>
          <p:cNvPr id="27" name="text-331"/>
          <p:cNvSpPr txBox="1"/>
          <p:nvPr/>
        </p:nvSpPr>
        <p:spPr>
          <a:xfrm>
            <a:off x="822960" y="502920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CI/CD и GitOps</a:t>
            </a:r>
            <a:endParaRPr lang="en-US" sz="1600" dirty="0"/>
          </a:p>
        </p:txBody>
      </p:sp>
      <p:sp>
        <p:nvSpPr>
          <p:cNvPr id="28" name="text-332"/>
          <p:cNvSpPr txBox="1"/>
          <p:nvPr/>
        </p:nvSpPr>
        <p:spPr>
          <a:xfrm>
            <a:off x="822960" y="53949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GitHub Actions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Container registry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ArgoCD</a:t>
            </a:r>
            <a:endParaRPr lang="en-US" sz="1400" dirty="0"/>
          </a:p>
        </p:txBody>
      </p:sp>
      <p:sp>
        <p:nvSpPr>
          <p:cNvPr id="29" name="card-333"/>
          <p:cNvSpPr/>
          <p:nvPr/>
        </p:nvSpPr>
        <p:spPr>
          <a:xfrm>
            <a:off x="3390824" y="411480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0" name="icon-bg-334"/>
          <p:cNvSpPr/>
          <p:nvPr/>
        </p:nvSpPr>
        <p:spPr>
          <a:xfrm>
            <a:off x="3665144" y="438912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1" name="icon-33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7790" y="4531766"/>
            <a:ext cx="263347" cy="263347"/>
          </a:xfrm>
          <a:prstGeom prst="rect">
            <a:avLst/>
          </a:prstGeom>
        </p:spPr>
      </p:pic>
      <p:sp>
        <p:nvSpPr>
          <p:cNvPr id="32" name="text-336"/>
          <p:cNvSpPr txBox="1"/>
          <p:nvPr/>
        </p:nvSpPr>
        <p:spPr>
          <a:xfrm>
            <a:off x="3665144" y="502920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Observability</a:t>
            </a:r>
            <a:endParaRPr lang="en-US" sz="1600" dirty="0"/>
          </a:p>
        </p:txBody>
      </p:sp>
      <p:sp>
        <p:nvSpPr>
          <p:cNvPr id="33" name="text-337"/>
          <p:cNvSpPr txBox="1"/>
          <p:nvPr/>
        </p:nvSpPr>
        <p:spPr>
          <a:xfrm>
            <a:off x="3665144" y="53949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OpenTelemetry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Prometheus · Grafana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Loki · Tempo</a:t>
            </a:r>
            <a:endParaRPr lang="en-US" sz="1400" dirty="0"/>
          </a:p>
        </p:txBody>
      </p:sp>
      <p:sp>
        <p:nvSpPr>
          <p:cNvPr id="34" name="card-338"/>
          <p:cNvSpPr/>
          <p:nvPr/>
        </p:nvSpPr>
        <p:spPr>
          <a:xfrm>
            <a:off x="6233008" y="411480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5" name="icon-bg-339"/>
          <p:cNvSpPr/>
          <p:nvPr/>
        </p:nvSpPr>
        <p:spPr>
          <a:xfrm>
            <a:off x="6507328" y="438912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6" name="icon-34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9974" y="4531766"/>
            <a:ext cx="263347" cy="263347"/>
          </a:xfrm>
          <a:prstGeom prst="rect">
            <a:avLst/>
          </a:prstGeom>
        </p:spPr>
      </p:pic>
      <p:sp>
        <p:nvSpPr>
          <p:cNvPr id="37" name="text-341"/>
          <p:cNvSpPr txBox="1"/>
          <p:nvPr/>
        </p:nvSpPr>
        <p:spPr>
          <a:xfrm>
            <a:off x="6507328" y="502920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Тестови и евалуација</a:t>
            </a:r>
            <a:endParaRPr lang="en-US" sz="1600" dirty="0"/>
          </a:p>
        </p:txBody>
      </p:sp>
      <p:sp>
        <p:nvSpPr>
          <p:cNvPr id="38" name="text-342"/>
          <p:cNvSpPr txBox="1"/>
          <p:nvPr/>
        </p:nvSpPr>
        <p:spPr>
          <a:xfrm>
            <a:off x="6507328" y="53949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JUnit · Testcontainers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k6 — оптоварување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Chaos Mesh — откази</a:t>
            </a:r>
            <a:endParaRPr lang="en-US" sz="1400" dirty="0"/>
          </a:p>
        </p:txBody>
      </p:sp>
      <p:sp>
        <p:nvSpPr>
          <p:cNvPr id="39" name="card-343"/>
          <p:cNvSpPr/>
          <p:nvPr/>
        </p:nvSpPr>
        <p:spPr>
          <a:xfrm>
            <a:off x="9075191" y="4114800"/>
            <a:ext cx="2567864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40" name="icon-bg-344"/>
          <p:cNvSpPr/>
          <p:nvPr/>
        </p:nvSpPr>
        <p:spPr>
          <a:xfrm>
            <a:off x="9349511" y="4389120"/>
            <a:ext cx="548640" cy="5486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41" name="icon-34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2158" y="4531766"/>
            <a:ext cx="263347" cy="263347"/>
          </a:xfrm>
          <a:prstGeom prst="rect">
            <a:avLst/>
          </a:prstGeom>
        </p:spPr>
      </p:pic>
      <p:sp>
        <p:nvSpPr>
          <p:cNvPr id="42" name="text-346"/>
          <p:cNvSpPr txBox="1"/>
          <p:nvPr/>
        </p:nvSpPr>
        <p:spPr>
          <a:xfrm>
            <a:off x="9349511" y="5029200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Интеграции</a:t>
            </a:r>
            <a:endParaRPr lang="en-US" sz="1600" dirty="0"/>
          </a:p>
        </p:txBody>
      </p:sp>
      <p:sp>
        <p:nvSpPr>
          <p:cNvPr id="43" name="text-347"/>
          <p:cNvSpPr txBox="1"/>
          <p:nvPr/>
        </p:nvSpPr>
        <p:spPr>
          <a:xfrm>
            <a:off x="9349511" y="53949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Stripe (test mode)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SMTP · MailHog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JWT (RS256)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· ЕВАЛУАЦИЈА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Четири проверки со бројка на крајот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Не „еве, работи“ — секоја проверка одговара на едно истражувачко прашање и завршува со мерлив резултат.</a:t>
            </a:r>
            <a:endParaRPr lang="en-US" sz="1600" dirty="0"/>
          </a:p>
        </p:txBody>
      </p:sp>
      <p:sp>
        <p:nvSpPr>
          <p:cNvPr id="5" name="card-348"/>
          <p:cNvSpPr/>
          <p:nvPr/>
        </p:nvSpPr>
        <p:spPr>
          <a:xfrm>
            <a:off x="548640" y="2057400"/>
            <a:ext cx="2567864" cy="4114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6" name="text-349"/>
          <p:cNvSpPr txBox="1"/>
          <p:nvPr/>
        </p:nvSpPr>
        <p:spPr>
          <a:xfrm>
            <a:off x="822960" y="23317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ПРОВЕРКА 1 · П1</a:t>
            </a:r>
            <a:endParaRPr lang="en-US" sz="1000" dirty="0"/>
          </a:p>
        </p:txBody>
      </p:sp>
      <p:sp>
        <p:nvSpPr>
          <p:cNvPr id="7" name="text-350"/>
          <p:cNvSpPr txBox="1"/>
          <p:nvPr/>
        </p:nvSpPr>
        <p:spPr>
          <a:xfrm>
            <a:off x="822960" y="26974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Гасам Kafka среде операција</a:t>
            </a:r>
            <a:endParaRPr lang="en-US" sz="1700" dirty="0"/>
          </a:p>
        </p:txBody>
      </p:sp>
      <p:sp>
        <p:nvSpPr>
          <p:cNvPr id="8" name="text-351"/>
          <p:cNvSpPr txBox="1"/>
          <p:nvPr/>
        </p:nvSpPr>
        <p:spPr>
          <a:xfrm>
            <a:off x="822960" y="37033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Chaos Mesh</a:t>
            </a:r>
            <a:endParaRPr lang="en-US" sz="1100" dirty="0"/>
          </a:p>
        </p:txBody>
      </p:sp>
      <p:sp>
        <p:nvSpPr>
          <p:cNvPr id="9" name="rule-352"/>
          <p:cNvSpPr/>
          <p:nvPr/>
        </p:nvSpPr>
        <p:spPr>
          <a:xfrm>
            <a:off x="822960" y="4069080"/>
            <a:ext cx="2019224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353"/>
          <p:cNvSpPr txBox="1"/>
          <p:nvPr/>
        </p:nvSpPr>
        <p:spPr>
          <a:xfrm>
            <a:off x="822960" y="42062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</a:t>
            </a:r>
            <a:endParaRPr lang="en-US" sz="5400" dirty="0"/>
          </a:p>
        </p:txBody>
      </p:sp>
      <p:sp>
        <p:nvSpPr>
          <p:cNvPr id="11" name="text-354"/>
          <p:cNvSpPr txBox="1"/>
          <p:nvPr/>
        </p:nvSpPr>
        <p:spPr>
          <a:xfrm>
            <a:off x="822960" y="516636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изгубени настани</a:t>
            </a:r>
            <a:endParaRPr lang="en-US" sz="1500" dirty="0"/>
          </a:p>
        </p:txBody>
      </p:sp>
      <p:sp>
        <p:nvSpPr>
          <p:cNvPr id="12" name="card-355"/>
          <p:cNvSpPr/>
          <p:nvPr/>
        </p:nvSpPr>
        <p:spPr>
          <a:xfrm>
            <a:off x="3390824" y="2057400"/>
            <a:ext cx="2567864" cy="4114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3" name="text-356"/>
          <p:cNvSpPr txBox="1"/>
          <p:nvPr/>
        </p:nvSpPr>
        <p:spPr>
          <a:xfrm>
            <a:off x="3665144" y="23317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ПРОВЕРКА 2 · П2</a:t>
            </a:r>
            <a:endParaRPr lang="en-US" sz="1000" dirty="0"/>
          </a:p>
        </p:txBody>
      </p:sp>
      <p:sp>
        <p:nvSpPr>
          <p:cNvPr id="14" name="text-357"/>
          <p:cNvSpPr txBox="1"/>
          <p:nvPr/>
        </p:nvSpPr>
        <p:spPr>
          <a:xfrm>
            <a:off x="3665144" y="26974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Ист настан праќам двапати</a:t>
            </a:r>
            <a:endParaRPr lang="en-US" sz="1700" dirty="0"/>
          </a:p>
        </p:txBody>
      </p:sp>
      <p:sp>
        <p:nvSpPr>
          <p:cNvPr id="15" name="text-358"/>
          <p:cNvSpPr txBox="1"/>
          <p:nvPr/>
        </p:nvSpPr>
        <p:spPr>
          <a:xfrm>
            <a:off x="3665144" y="37033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повторена достава</a:t>
            </a:r>
            <a:endParaRPr lang="en-US" sz="1100" dirty="0"/>
          </a:p>
        </p:txBody>
      </p:sp>
      <p:sp>
        <p:nvSpPr>
          <p:cNvPr id="16" name="rule-359"/>
          <p:cNvSpPr/>
          <p:nvPr/>
        </p:nvSpPr>
        <p:spPr>
          <a:xfrm>
            <a:off x="3665144" y="4069080"/>
            <a:ext cx="2019224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360"/>
          <p:cNvSpPr txBox="1"/>
          <p:nvPr/>
        </p:nvSpPr>
        <p:spPr>
          <a:xfrm>
            <a:off x="3665144" y="42062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-361"/>
          <p:cNvSpPr txBox="1"/>
          <p:nvPr/>
        </p:nvSpPr>
        <p:spPr>
          <a:xfrm>
            <a:off x="3665144" y="516636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известување, не две</a:t>
            </a:r>
            <a:endParaRPr lang="en-US" sz="1500" dirty="0"/>
          </a:p>
        </p:txBody>
      </p:sp>
      <p:sp>
        <p:nvSpPr>
          <p:cNvPr id="19" name="card-362"/>
          <p:cNvSpPr/>
          <p:nvPr/>
        </p:nvSpPr>
        <p:spPr>
          <a:xfrm>
            <a:off x="6233008" y="2057400"/>
            <a:ext cx="2567864" cy="4114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0" name="text-363"/>
          <p:cNvSpPr txBox="1"/>
          <p:nvPr/>
        </p:nvSpPr>
        <p:spPr>
          <a:xfrm>
            <a:off x="6507328" y="23317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ПРОВЕРКА 3 · П3</a:t>
            </a:r>
            <a:endParaRPr lang="en-US" sz="1000" dirty="0"/>
          </a:p>
        </p:txBody>
      </p:sp>
      <p:sp>
        <p:nvSpPr>
          <p:cNvPr id="21" name="text-364"/>
          <p:cNvSpPr txBox="1"/>
          <p:nvPr/>
        </p:nvSpPr>
        <p:spPr>
          <a:xfrm>
            <a:off x="6507328" y="26974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Оптоварување врз двете верзии</a:t>
            </a:r>
            <a:endParaRPr lang="en-US" sz="1700" dirty="0"/>
          </a:p>
        </p:txBody>
      </p:sp>
      <p:sp>
        <p:nvSpPr>
          <p:cNvPr id="22" name="text-365"/>
          <p:cNvSpPr txBox="1"/>
          <p:nvPr/>
        </p:nvSpPr>
        <p:spPr>
          <a:xfrm>
            <a:off x="6507328" y="37033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k6</a:t>
            </a:r>
            <a:endParaRPr lang="en-US" sz="1100" dirty="0"/>
          </a:p>
        </p:txBody>
      </p:sp>
      <p:sp>
        <p:nvSpPr>
          <p:cNvPr id="23" name="rule-366"/>
          <p:cNvSpPr/>
          <p:nvPr/>
        </p:nvSpPr>
        <p:spPr>
          <a:xfrm>
            <a:off x="6507328" y="4069080"/>
            <a:ext cx="2019224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-367"/>
          <p:cNvSpPr txBox="1"/>
          <p:nvPr/>
        </p:nvSpPr>
        <p:spPr>
          <a:xfrm>
            <a:off x="6507328" y="42062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p95</a:t>
            </a:r>
            <a:endParaRPr lang="en-US" sz="5400" dirty="0"/>
          </a:p>
        </p:txBody>
      </p:sp>
      <p:sp>
        <p:nvSpPr>
          <p:cNvPr id="25" name="text-368"/>
          <p:cNvSpPr txBox="1"/>
          <p:nvPr/>
        </p:nvSpPr>
        <p:spPr>
          <a:xfrm>
            <a:off x="6507328" y="516636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латенција, пропусност и CPU/RAM: монолит vs. сервиси</a:t>
            </a:r>
            <a:endParaRPr lang="en-US" sz="1500" dirty="0"/>
          </a:p>
        </p:txBody>
      </p:sp>
      <p:sp>
        <p:nvSpPr>
          <p:cNvPr id="26" name="card-369"/>
          <p:cNvSpPr/>
          <p:nvPr/>
        </p:nvSpPr>
        <p:spPr>
          <a:xfrm>
            <a:off x="9075191" y="2057400"/>
            <a:ext cx="2567864" cy="4114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7" name="text-370"/>
          <p:cNvSpPr txBox="1"/>
          <p:nvPr/>
        </p:nvSpPr>
        <p:spPr>
          <a:xfrm>
            <a:off x="9349511" y="23317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ПРОВЕРКА 4 · П4</a:t>
            </a:r>
            <a:endParaRPr lang="en-US" sz="1000" dirty="0"/>
          </a:p>
        </p:txBody>
      </p:sp>
      <p:sp>
        <p:nvSpPr>
          <p:cNvPr id="28" name="text-371"/>
          <p:cNvSpPr txBox="1"/>
          <p:nvPr/>
        </p:nvSpPr>
        <p:spPr>
          <a:xfrm>
            <a:off x="9349511" y="2697480"/>
            <a:ext cx="2019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Убивам pod, прекинувам мрежа</a:t>
            </a:r>
            <a:endParaRPr lang="en-US" sz="1700" dirty="0"/>
          </a:p>
        </p:txBody>
      </p:sp>
      <p:sp>
        <p:nvSpPr>
          <p:cNvPr id="29" name="text-372"/>
          <p:cNvSpPr txBox="1"/>
          <p:nvPr/>
        </p:nvSpPr>
        <p:spPr>
          <a:xfrm>
            <a:off x="9349511" y="3703320"/>
            <a:ext cx="2019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Chaos Mesh + Grafana</a:t>
            </a:r>
            <a:endParaRPr lang="en-US" sz="1100" dirty="0"/>
          </a:p>
        </p:txBody>
      </p:sp>
      <p:sp>
        <p:nvSpPr>
          <p:cNvPr id="30" name="rule-373"/>
          <p:cNvSpPr/>
          <p:nvPr/>
        </p:nvSpPr>
        <p:spPr>
          <a:xfrm>
            <a:off x="9349511" y="4069080"/>
            <a:ext cx="2019224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-374"/>
          <p:cNvSpPr txBox="1"/>
          <p:nvPr/>
        </p:nvSpPr>
        <p:spPr>
          <a:xfrm>
            <a:off x="9349511" y="42062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MTTD</a:t>
            </a:r>
            <a:endParaRPr lang="en-US" sz="5400" dirty="0"/>
          </a:p>
        </p:txBody>
      </p:sp>
      <p:sp>
        <p:nvSpPr>
          <p:cNvPr id="32" name="text-375"/>
          <p:cNvSpPr txBox="1"/>
          <p:nvPr/>
        </p:nvSpPr>
        <p:spPr>
          <a:xfrm>
            <a:off x="9349511" y="516636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време до аларм и до лоцирана причина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· ОБЕМ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Обемот: тежината е на едно место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98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Функционалноста намерно останува иста како кај монолитот — работата е во архитектурата, инфраструктурата и мерењето.</a:t>
            </a:r>
            <a:endParaRPr lang="en-US" sz="1600" dirty="0"/>
          </a:p>
        </p:txBody>
      </p:sp>
      <p:sp>
        <p:nvSpPr>
          <p:cNvPr id="5" name="card-376"/>
          <p:cNvSpPr/>
          <p:nvPr/>
        </p:nvSpPr>
        <p:spPr>
          <a:xfrm>
            <a:off x="548640" y="2057400"/>
            <a:ext cx="6355080" cy="4160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6" name="text-377"/>
          <p:cNvSpPr txBox="1"/>
          <p:nvPr/>
        </p:nvSpPr>
        <p:spPr>
          <a:xfrm>
            <a:off x="868680" y="23317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ВЛЕГУВА</a:t>
            </a:r>
            <a:endParaRPr lang="en-US" sz="1200" dirty="0"/>
          </a:p>
        </p:txBody>
      </p:sp>
      <p:pic>
        <p:nvPicPr>
          <p:cNvPr id="7" name="icon-3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862072"/>
            <a:ext cx="274320" cy="274320"/>
          </a:xfrm>
          <a:prstGeom prst="rect">
            <a:avLst/>
          </a:prstGeom>
        </p:spPr>
      </p:pic>
      <p:sp>
        <p:nvSpPr>
          <p:cNvPr id="8" name="text-379"/>
          <p:cNvSpPr txBox="1"/>
          <p:nvPr/>
        </p:nvSpPr>
        <p:spPr>
          <a:xfrm>
            <a:off x="1325880" y="27889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Kafka настани со transactional outbox и inbox</a:t>
            </a:r>
            <a:endParaRPr lang="en-US" sz="1600" dirty="0"/>
          </a:p>
        </p:txBody>
      </p:sp>
      <p:pic>
        <p:nvPicPr>
          <p:cNvPr id="9" name="icon-3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410712"/>
            <a:ext cx="274320" cy="274320"/>
          </a:xfrm>
          <a:prstGeom prst="rect">
            <a:avLst/>
          </a:prstGeom>
        </p:spPr>
      </p:pic>
      <p:sp>
        <p:nvSpPr>
          <p:cNvPr id="10" name="text-381"/>
          <p:cNvSpPr txBox="1"/>
          <p:nvPr/>
        </p:nvSpPr>
        <p:spPr>
          <a:xfrm>
            <a:off x="1325880" y="33375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Docker + Kubernetes, локален кластер (k3d)</a:t>
            </a:r>
            <a:endParaRPr lang="en-US" sz="1600" dirty="0"/>
          </a:p>
        </p:txBody>
      </p:sp>
      <p:pic>
        <p:nvPicPr>
          <p:cNvPr id="11" name="icon-38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59352"/>
            <a:ext cx="274320" cy="274320"/>
          </a:xfrm>
          <a:prstGeom prst="rect">
            <a:avLst/>
          </a:prstGeom>
        </p:spPr>
      </p:pic>
      <p:sp>
        <p:nvSpPr>
          <p:cNvPr id="12" name="text-383"/>
          <p:cNvSpPr txBox="1"/>
          <p:nvPr/>
        </p:nvSpPr>
        <p:spPr>
          <a:xfrm>
            <a:off x="1325880" y="38862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Helm charts + ArgoCD (GitOps)</a:t>
            </a:r>
            <a:endParaRPr lang="en-US" sz="1600" dirty="0"/>
          </a:p>
        </p:txBody>
      </p:sp>
      <p:pic>
        <p:nvPicPr>
          <p:cNvPr id="13" name="icon-38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7992"/>
            <a:ext cx="274320" cy="274320"/>
          </a:xfrm>
          <a:prstGeom prst="rect">
            <a:avLst/>
          </a:prstGeom>
        </p:spPr>
      </p:pic>
      <p:sp>
        <p:nvSpPr>
          <p:cNvPr id="14" name="text-385"/>
          <p:cNvSpPr txBox="1"/>
          <p:nvPr/>
        </p:nvSpPr>
        <p:spPr>
          <a:xfrm>
            <a:off x="1325880" y="4434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CI/CD со GitHub Actions: тестови, images</a:t>
            </a:r>
            <a:endParaRPr lang="en-US" sz="1600" dirty="0"/>
          </a:p>
        </p:txBody>
      </p:sp>
      <p:pic>
        <p:nvPicPr>
          <p:cNvPr id="15" name="icon-3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056632"/>
            <a:ext cx="274320" cy="274320"/>
          </a:xfrm>
          <a:prstGeom prst="rect">
            <a:avLst/>
          </a:prstGeom>
        </p:spPr>
      </p:pic>
      <p:sp>
        <p:nvSpPr>
          <p:cNvPr id="16" name="text-387"/>
          <p:cNvSpPr txBox="1"/>
          <p:nvPr/>
        </p:nvSpPr>
        <p:spPr>
          <a:xfrm>
            <a:off x="1325880" y="498348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OpenTelemetry, Prometheus, Grafana, Loki, Tempo</a:t>
            </a:r>
            <a:endParaRPr lang="en-US" sz="1600" dirty="0"/>
          </a:p>
        </p:txBody>
      </p:sp>
      <p:pic>
        <p:nvPicPr>
          <p:cNvPr id="17" name="icon-38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05272"/>
            <a:ext cx="274320" cy="274320"/>
          </a:xfrm>
          <a:prstGeom prst="rect">
            <a:avLst/>
          </a:prstGeom>
        </p:spPr>
      </p:pic>
      <p:sp>
        <p:nvSpPr>
          <p:cNvPr id="18" name="text-389"/>
          <p:cNvSpPr txBox="1"/>
          <p:nvPr/>
        </p:nvSpPr>
        <p:spPr>
          <a:xfrm>
            <a:off x="1325880" y="5532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Експерименти со k6 и Chaos Mesh</a:t>
            </a:r>
            <a:endParaRPr lang="en-US" sz="1600" dirty="0"/>
          </a:p>
        </p:txBody>
      </p:sp>
      <p:sp>
        <p:nvSpPr>
          <p:cNvPr id="19" name="card-390"/>
          <p:cNvSpPr/>
          <p:nvPr/>
        </p:nvSpPr>
        <p:spPr>
          <a:xfrm>
            <a:off x="7178040" y="2057400"/>
            <a:ext cx="4465015" cy="4160520"/>
          </a:xfrm>
          <a:prstGeom prst="rect">
            <a:avLst/>
          </a:prstGeom>
          <a:solidFill>
            <a:schemeClr val="accent5">
              <a:alpha val="45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391"/>
          <p:cNvSpPr txBox="1"/>
          <p:nvPr/>
        </p:nvSpPr>
        <p:spPr>
          <a:xfrm>
            <a:off x="7498080" y="23317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НЕ ВЛЕГУВА</a:t>
            </a:r>
            <a:endParaRPr lang="en-US" sz="1200" dirty="0"/>
          </a:p>
        </p:txBody>
      </p:sp>
      <p:sp>
        <p:nvSpPr>
          <p:cNvPr id="21" name="text-392"/>
          <p:cNvSpPr txBox="1"/>
          <p:nvPr/>
        </p:nvSpPr>
        <p:spPr>
          <a:xfrm>
            <a:off x="7498080" y="2788920"/>
            <a:ext cx="3916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chemeClr val="accent2"/>
                </a:solidFill>
              </a:rPr>
              <a:t>Посебна база по сервис</a:t>
            </a:r>
            <a:endParaRPr lang="en-US" sz="1600" dirty="0"/>
          </a:p>
        </p:txBody>
      </p:sp>
      <p:sp>
        <p:nvSpPr>
          <p:cNvPr id="22" name="text-393"/>
          <p:cNvSpPr txBox="1"/>
          <p:nvPr/>
        </p:nvSpPr>
        <p:spPr>
          <a:xfrm>
            <a:off x="7498080" y="3136392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шема по сервис е доволна за изолација</a:t>
            </a:r>
            <a:endParaRPr lang="en-US" sz="1200" dirty="0"/>
          </a:p>
        </p:txBody>
      </p:sp>
      <p:sp>
        <p:nvSpPr>
          <p:cNvPr id="23" name="text-394"/>
          <p:cNvSpPr txBox="1"/>
          <p:nvPr/>
        </p:nvSpPr>
        <p:spPr>
          <a:xfrm>
            <a:off x="7498080" y="3630168"/>
            <a:ext cx="3916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chemeClr val="accent2"/>
                </a:solidFill>
              </a:rPr>
              <a:t>Service mesh</a:t>
            </a:r>
            <a:endParaRPr lang="en-US" sz="1600" dirty="0"/>
          </a:p>
        </p:txBody>
      </p:sp>
      <p:sp>
        <p:nvSpPr>
          <p:cNvPr id="24" name="text-395"/>
          <p:cNvSpPr txBox="1"/>
          <p:nvPr/>
        </p:nvSpPr>
        <p:spPr>
          <a:xfrm>
            <a:off x="7498080" y="397764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NetworkPolicy и gateway-от го покриваат основното</a:t>
            </a:r>
            <a:endParaRPr lang="en-US" sz="1200" dirty="0"/>
          </a:p>
        </p:txBody>
      </p:sp>
      <p:sp>
        <p:nvSpPr>
          <p:cNvPr id="25" name="text-396"/>
          <p:cNvSpPr txBox="1"/>
          <p:nvPr/>
        </p:nvSpPr>
        <p:spPr>
          <a:xfrm>
            <a:off x="7498080" y="4471416"/>
            <a:ext cx="3916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chemeClr val="accent2"/>
                </a:solidFill>
              </a:rPr>
              <a:t>Хостинг во облак</a:t>
            </a:r>
            <a:endParaRPr lang="en-US" sz="1600" dirty="0"/>
          </a:p>
        </p:txBody>
      </p:sp>
      <p:sp>
        <p:nvSpPr>
          <p:cNvPr id="26" name="text-397"/>
          <p:cNvSpPr txBox="1"/>
          <p:nvPr/>
        </p:nvSpPr>
        <p:spPr>
          <a:xfrm>
            <a:off x="7498080" y="4818888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локален кластер е доволен за мерењата</a:t>
            </a:r>
            <a:endParaRPr lang="en-US" sz="1200" dirty="0"/>
          </a:p>
        </p:txBody>
      </p:sp>
      <p:sp>
        <p:nvSpPr>
          <p:cNvPr id="27" name="text-398"/>
          <p:cNvSpPr txBox="1"/>
          <p:nvPr/>
        </p:nvSpPr>
        <p:spPr>
          <a:xfrm>
            <a:off x="7498080" y="5312664"/>
            <a:ext cx="3916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chemeClr val="accent2"/>
                </a:solidFill>
              </a:rPr>
              <a:t>Нова функционалност</a:t>
            </a:r>
            <a:endParaRPr lang="en-US" sz="1600" dirty="0"/>
          </a:p>
        </p:txBody>
      </p:sp>
      <p:sp>
        <p:nvSpPr>
          <p:cNvPr id="28" name="text-399"/>
          <p:cNvSpPr txBox="1"/>
          <p:nvPr/>
        </p:nvSpPr>
        <p:spPr>
          <a:xfrm>
            <a:off x="7498080" y="5660136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фокусот е на архитектурата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· ПЛАН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План на работа</a:t>
            </a:r>
            <a:endParaRPr lang="en-US" sz="3000" dirty="0"/>
          </a:p>
        </p:txBody>
      </p:sp>
      <p:sp>
        <p:nvSpPr>
          <p:cNvPr id="4" name="timeline"/>
          <p:cNvSpPr/>
          <p:nvPr/>
        </p:nvSpPr>
        <p:spPr>
          <a:xfrm>
            <a:off x="1566642" y="2377440"/>
            <a:ext cx="9058412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5" name="text-400"/>
          <p:cNvSpPr txBox="1"/>
          <p:nvPr/>
        </p:nvSpPr>
        <p:spPr>
          <a:xfrm>
            <a:off x="548640" y="1645920"/>
            <a:ext cx="20360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нед. 1–3</a:t>
            </a:r>
            <a:endParaRPr lang="en-US" sz="1200" dirty="0"/>
          </a:p>
        </p:txBody>
      </p:sp>
      <p:sp>
        <p:nvSpPr>
          <p:cNvPr id="6" name="node-401"/>
          <p:cNvSpPr/>
          <p:nvPr/>
        </p:nvSpPr>
        <p:spPr>
          <a:xfrm>
            <a:off x="1338042" y="2148840"/>
            <a:ext cx="457200" cy="4572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7" name="text-402"/>
          <p:cNvSpPr txBox="1"/>
          <p:nvPr/>
        </p:nvSpPr>
        <p:spPr>
          <a:xfrm>
            <a:off x="133804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card-403"/>
          <p:cNvSpPr/>
          <p:nvPr/>
        </p:nvSpPr>
        <p:spPr>
          <a:xfrm>
            <a:off x="548640" y="2880360"/>
            <a:ext cx="2036003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9" name="text-404"/>
          <p:cNvSpPr txBox="1"/>
          <p:nvPr/>
        </p:nvSpPr>
        <p:spPr>
          <a:xfrm>
            <a:off x="731520" y="3108960"/>
            <a:ext cx="17616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Стабилизација и CI/CD</a:t>
            </a:r>
            <a:endParaRPr lang="en-US" sz="1500" dirty="0"/>
          </a:p>
        </p:txBody>
      </p:sp>
      <p:sp>
        <p:nvSpPr>
          <p:cNvPr id="10" name="text-405"/>
          <p:cNvSpPr txBox="1"/>
          <p:nvPr/>
        </p:nvSpPr>
        <p:spPr>
          <a:xfrm>
            <a:off x="731520" y="3886200"/>
            <a:ext cx="171596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тест gate во CI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build и push на images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интеграциски тестови</a:t>
            </a:r>
            <a:endParaRPr lang="en-US" sz="1400" dirty="0"/>
          </a:p>
        </p:txBody>
      </p:sp>
      <p:sp>
        <p:nvSpPr>
          <p:cNvPr id="11" name="rule-406"/>
          <p:cNvSpPr/>
          <p:nvPr/>
        </p:nvSpPr>
        <p:spPr>
          <a:xfrm>
            <a:off x="731520" y="5440680"/>
            <a:ext cx="167024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407"/>
          <p:cNvSpPr txBox="1"/>
          <p:nvPr/>
        </p:nvSpPr>
        <p:spPr>
          <a:xfrm>
            <a:off x="731520" y="5532120"/>
            <a:ext cx="16702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ИСПОРАКА</a:t>
            </a:r>
            <a:endParaRPr lang="en-US" sz="900" dirty="0"/>
          </a:p>
        </p:txBody>
      </p:sp>
      <p:sp>
        <p:nvSpPr>
          <p:cNvPr id="13" name="text-408"/>
          <p:cNvSpPr txBox="1"/>
          <p:nvPr/>
        </p:nvSpPr>
        <p:spPr>
          <a:xfrm>
            <a:off x="731520" y="5760720"/>
            <a:ext cx="17159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зелен pipeline</a:t>
            </a:r>
            <a:endParaRPr lang="en-US" sz="1400" dirty="0"/>
          </a:p>
        </p:txBody>
      </p:sp>
      <p:sp>
        <p:nvSpPr>
          <p:cNvPr id="14" name="text-409"/>
          <p:cNvSpPr txBox="1"/>
          <p:nvPr/>
        </p:nvSpPr>
        <p:spPr>
          <a:xfrm>
            <a:off x="2813243" y="1645920"/>
            <a:ext cx="20360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нед. 4–5</a:t>
            </a:r>
            <a:endParaRPr lang="en-US" sz="1200" dirty="0"/>
          </a:p>
        </p:txBody>
      </p:sp>
      <p:sp>
        <p:nvSpPr>
          <p:cNvPr id="15" name="node-410"/>
          <p:cNvSpPr/>
          <p:nvPr/>
        </p:nvSpPr>
        <p:spPr>
          <a:xfrm>
            <a:off x="3602645" y="2148840"/>
            <a:ext cx="457200" cy="4572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6" name="text-411"/>
          <p:cNvSpPr txBox="1"/>
          <p:nvPr/>
        </p:nvSpPr>
        <p:spPr>
          <a:xfrm>
            <a:off x="360264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card-412"/>
          <p:cNvSpPr/>
          <p:nvPr/>
        </p:nvSpPr>
        <p:spPr>
          <a:xfrm>
            <a:off x="2813243" y="2880360"/>
            <a:ext cx="2036003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8" name="text-413"/>
          <p:cNvSpPr txBox="1"/>
          <p:nvPr/>
        </p:nvSpPr>
        <p:spPr>
          <a:xfrm>
            <a:off x="2996123" y="3108960"/>
            <a:ext cx="17616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Helm и GitOps</a:t>
            </a:r>
            <a:endParaRPr lang="en-US" sz="1500" dirty="0"/>
          </a:p>
        </p:txBody>
      </p:sp>
      <p:sp>
        <p:nvSpPr>
          <p:cNvPr id="19" name="text-414"/>
          <p:cNvSpPr txBox="1"/>
          <p:nvPr/>
        </p:nvSpPr>
        <p:spPr>
          <a:xfrm>
            <a:off x="2996123" y="3886200"/>
            <a:ext cx="171596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Helm charts за сите сервиси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ArgoCD синхронизација од Git</a:t>
            </a:r>
            <a:endParaRPr lang="en-US" sz="1400" dirty="0"/>
          </a:p>
        </p:txBody>
      </p:sp>
      <p:sp>
        <p:nvSpPr>
          <p:cNvPr id="20" name="rule-415"/>
          <p:cNvSpPr/>
          <p:nvPr/>
        </p:nvSpPr>
        <p:spPr>
          <a:xfrm>
            <a:off x="2996123" y="5440680"/>
            <a:ext cx="167024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416"/>
          <p:cNvSpPr txBox="1"/>
          <p:nvPr/>
        </p:nvSpPr>
        <p:spPr>
          <a:xfrm>
            <a:off x="2996123" y="5532120"/>
            <a:ext cx="16702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ИСПОРАКА</a:t>
            </a:r>
            <a:endParaRPr lang="en-US" sz="900" dirty="0"/>
          </a:p>
        </p:txBody>
      </p:sp>
      <p:sp>
        <p:nvSpPr>
          <p:cNvPr id="22" name="text-417"/>
          <p:cNvSpPr txBox="1"/>
          <p:nvPr/>
        </p:nvSpPr>
        <p:spPr>
          <a:xfrm>
            <a:off x="2996123" y="5760720"/>
            <a:ext cx="17159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deploy од Git</a:t>
            </a:r>
            <a:endParaRPr lang="en-US" sz="1400" dirty="0"/>
          </a:p>
        </p:txBody>
      </p:sp>
      <p:sp>
        <p:nvSpPr>
          <p:cNvPr id="23" name="text-418"/>
          <p:cNvSpPr txBox="1"/>
          <p:nvPr/>
        </p:nvSpPr>
        <p:spPr>
          <a:xfrm>
            <a:off x="5077846" y="1645920"/>
            <a:ext cx="20360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нед. 6–8</a:t>
            </a:r>
            <a:endParaRPr lang="en-US" sz="1200" dirty="0"/>
          </a:p>
        </p:txBody>
      </p:sp>
      <p:sp>
        <p:nvSpPr>
          <p:cNvPr id="24" name="node-419"/>
          <p:cNvSpPr/>
          <p:nvPr/>
        </p:nvSpPr>
        <p:spPr>
          <a:xfrm>
            <a:off x="5867248" y="2148840"/>
            <a:ext cx="457200" cy="4572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5" name="text-420"/>
          <p:cNvSpPr txBox="1"/>
          <p:nvPr/>
        </p:nvSpPr>
        <p:spPr>
          <a:xfrm>
            <a:off x="586724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card-421"/>
          <p:cNvSpPr/>
          <p:nvPr/>
        </p:nvSpPr>
        <p:spPr>
          <a:xfrm>
            <a:off x="5077846" y="2880360"/>
            <a:ext cx="2036003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7" name="text-422"/>
          <p:cNvSpPr txBox="1"/>
          <p:nvPr/>
        </p:nvSpPr>
        <p:spPr>
          <a:xfrm>
            <a:off x="5260726" y="3108960"/>
            <a:ext cx="17616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Observability</a:t>
            </a:r>
            <a:endParaRPr lang="en-US" sz="1500" dirty="0"/>
          </a:p>
        </p:txBody>
      </p:sp>
      <p:sp>
        <p:nvSpPr>
          <p:cNvPr id="28" name="text-423"/>
          <p:cNvSpPr txBox="1"/>
          <p:nvPr/>
        </p:nvSpPr>
        <p:spPr>
          <a:xfrm>
            <a:off x="5260726" y="3886200"/>
            <a:ext cx="171596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OpenTelemetry инструментација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Loki и Tempo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dashboards и аларми</a:t>
            </a:r>
            <a:endParaRPr lang="en-US" sz="1400" dirty="0"/>
          </a:p>
        </p:txBody>
      </p:sp>
      <p:sp>
        <p:nvSpPr>
          <p:cNvPr id="29" name="rule-424"/>
          <p:cNvSpPr/>
          <p:nvPr/>
        </p:nvSpPr>
        <p:spPr>
          <a:xfrm>
            <a:off x="5260726" y="5440680"/>
            <a:ext cx="167024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-425"/>
          <p:cNvSpPr txBox="1"/>
          <p:nvPr/>
        </p:nvSpPr>
        <p:spPr>
          <a:xfrm>
            <a:off x="5260726" y="5532120"/>
            <a:ext cx="16702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ИСПОРАКА</a:t>
            </a:r>
            <a:endParaRPr lang="en-US" sz="900" dirty="0"/>
          </a:p>
        </p:txBody>
      </p:sp>
      <p:sp>
        <p:nvSpPr>
          <p:cNvPr id="31" name="text-426"/>
          <p:cNvSpPr txBox="1"/>
          <p:nvPr/>
        </p:nvSpPr>
        <p:spPr>
          <a:xfrm>
            <a:off x="5260726" y="5760720"/>
            <a:ext cx="17159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сите три сигнали</a:t>
            </a:r>
            <a:endParaRPr lang="en-US" sz="1400" dirty="0"/>
          </a:p>
        </p:txBody>
      </p:sp>
      <p:sp>
        <p:nvSpPr>
          <p:cNvPr id="32" name="text-427"/>
          <p:cNvSpPr txBox="1"/>
          <p:nvPr/>
        </p:nvSpPr>
        <p:spPr>
          <a:xfrm>
            <a:off x="7342449" y="1645920"/>
            <a:ext cx="20360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нед. 9–11</a:t>
            </a:r>
            <a:endParaRPr lang="en-US" sz="1200" dirty="0"/>
          </a:p>
        </p:txBody>
      </p:sp>
      <p:sp>
        <p:nvSpPr>
          <p:cNvPr id="33" name="node-428"/>
          <p:cNvSpPr/>
          <p:nvPr/>
        </p:nvSpPr>
        <p:spPr>
          <a:xfrm>
            <a:off x="8131851" y="2148840"/>
            <a:ext cx="457200" cy="4572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34" name="text-429"/>
          <p:cNvSpPr txBox="1"/>
          <p:nvPr/>
        </p:nvSpPr>
        <p:spPr>
          <a:xfrm>
            <a:off x="8131851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card-430"/>
          <p:cNvSpPr/>
          <p:nvPr/>
        </p:nvSpPr>
        <p:spPr>
          <a:xfrm>
            <a:off x="7342449" y="2880360"/>
            <a:ext cx="2036003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6" name="text-431"/>
          <p:cNvSpPr txBox="1"/>
          <p:nvPr/>
        </p:nvSpPr>
        <p:spPr>
          <a:xfrm>
            <a:off x="7525329" y="3108960"/>
            <a:ext cx="17616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Експерименти</a:t>
            </a:r>
            <a:endParaRPr lang="en-US" sz="1500" dirty="0"/>
          </a:p>
        </p:txBody>
      </p:sp>
      <p:sp>
        <p:nvSpPr>
          <p:cNvPr id="37" name="text-432"/>
          <p:cNvSpPr txBox="1"/>
          <p:nvPr/>
        </p:nvSpPr>
        <p:spPr>
          <a:xfrm>
            <a:off x="7525329" y="3886200"/>
            <a:ext cx="171596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baseline мерења на монолитот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k6 сценарија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Chaos Mesh сценарија</a:t>
            </a:r>
            <a:endParaRPr lang="en-US" sz="1400" dirty="0"/>
          </a:p>
        </p:txBody>
      </p:sp>
      <p:sp>
        <p:nvSpPr>
          <p:cNvPr id="38" name="rule-433"/>
          <p:cNvSpPr/>
          <p:nvPr/>
        </p:nvSpPr>
        <p:spPr>
          <a:xfrm>
            <a:off x="7525329" y="5440680"/>
            <a:ext cx="167024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-434"/>
          <p:cNvSpPr txBox="1"/>
          <p:nvPr/>
        </p:nvSpPr>
        <p:spPr>
          <a:xfrm>
            <a:off x="7525329" y="5532120"/>
            <a:ext cx="16702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ИСПОРАКА</a:t>
            </a:r>
            <a:endParaRPr lang="en-US" sz="900" dirty="0"/>
          </a:p>
        </p:txBody>
      </p:sp>
      <p:sp>
        <p:nvSpPr>
          <p:cNvPr id="40" name="text-435"/>
          <p:cNvSpPr txBox="1"/>
          <p:nvPr/>
        </p:nvSpPr>
        <p:spPr>
          <a:xfrm>
            <a:off x="7525329" y="5760720"/>
            <a:ext cx="17159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измерени резултати</a:t>
            </a:r>
            <a:endParaRPr lang="en-US" sz="1400" dirty="0"/>
          </a:p>
        </p:txBody>
      </p:sp>
      <p:sp>
        <p:nvSpPr>
          <p:cNvPr id="41" name="text-436"/>
          <p:cNvSpPr txBox="1"/>
          <p:nvPr/>
        </p:nvSpPr>
        <p:spPr>
          <a:xfrm>
            <a:off x="9607052" y="1645920"/>
            <a:ext cx="20360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нед. 12–15</a:t>
            </a:r>
            <a:endParaRPr lang="en-US" sz="1200" dirty="0"/>
          </a:p>
        </p:txBody>
      </p:sp>
      <p:sp>
        <p:nvSpPr>
          <p:cNvPr id="42" name="node-437"/>
          <p:cNvSpPr/>
          <p:nvPr/>
        </p:nvSpPr>
        <p:spPr>
          <a:xfrm>
            <a:off x="10396454" y="2148840"/>
            <a:ext cx="457200" cy="4572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43" name="text-438"/>
          <p:cNvSpPr txBox="1"/>
          <p:nvPr/>
        </p:nvSpPr>
        <p:spPr>
          <a:xfrm>
            <a:off x="1039645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4" name="card-439"/>
          <p:cNvSpPr/>
          <p:nvPr/>
        </p:nvSpPr>
        <p:spPr>
          <a:xfrm>
            <a:off x="9607052" y="2880360"/>
            <a:ext cx="2036003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45" name="text-440"/>
          <p:cNvSpPr txBox="1"/>
          <p:nvPr/>
        </p:nvSpPr>
        <p:spPr>
          <a:xfrm>
            <a:off x="9789932" y="3108960"/>
            <a:ext cx="17616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Анализа и пишување</a:t>
            </a:r>
            <a:endParaRPr lang="en-US" sz="1500" dirty="0"/>
          </a:p>
        </p:txBody>
      </p:sp>
      <p:sp>
        <p:nvSpPr>
          <p:cNvPr id="46" name="text-441"/>
          <p:cNvSpPr txBox="1"/>
          <p:nvPr/>
        </p:nvSpPr>
        <p:spPr>
          <a:xfrm>
            <a:off x="9789932" y="3886200"/>
            <a:ext cx="171596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обработка на резултатите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дискусија на компромисите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текст на трудот</a:t>
            </a:r>
            <a:endParaRPr lang="en-US" sz="1400" dirty="0"/>
          </a:p>
        </p:txBody>
      </p:sp>
      <p:sp>
        <p:nvSpPr>
          <p:cNvPr id="47" name="rule-442"/>
          <p:cNvSpPr/>
          <p:nvPr/>
        </p:nvSpPr>
        <p:spPr>
          <a:xfrm>
            <a:off x="9789932" y="5440680"/>
            <a:ext cx="167024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-443"/>
          <p:cNvSpPr txBox="1"/>
          <p:nvPr/>
        </p:nvSpPr>
        <p:spPr>
          <a:xfrm>
            <a:off x="9789932" y="5532120"/>
            <a:ext cx="16702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ИСПОРАКА</a:t>
            </a:r>
            <a:endParaRPr lang="en-US" sz="900" dirty="0"/>
          </a:p>
        </p:txBody>
      </p:sp>
      <p:sp>
        <p:nvSpPr>
          <p:cNvPr id="49" name="text-444"/>
          <p:cNvSpPr txBox="1"/>
          <p:nvPr/>
        </p:nvSpPr>
        <p:spPr>
          <a:xfrm>
            <a:off x="9789932" y="5760720"/>
            <a:ext cx="17159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предаден труд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· ПРИДОНЕС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Што ќе остане од трудот</a:t>
            </a:r>
            <a:endParaRPr lang="en-US" sz="3000" dirty="0"/>
          </a:p>
        </p:txBody>
      </p:sp>
      <p:sp>
        <p:nvSpPr>
          <p:cNvPr id="4" name="card-445"/>
          <p:cNvSpPr/>
          <p:nvPr/>
        </p:nvSpPr>
        <p:spPr>
          <a:xfrm>
            <a:off x="548640" y="1645920"/>
            <a:ext cx="541004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5" name="icon-bg-446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con-44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201875"/>
            <a:ext cx="351130" cy="351130"/>
          </a:xfrm>
          <a:prstGeom prst="rect">
            <a:avLst/>
          </a:prstGeom>
        </p:spPr>
      </p:pic>
      <p:sp>
        <p:nvSpPr>
          <p:cNvPr id="7" name="text-448"/>
          <p:cNvSpPr txBox="1"/>
          <p:nvPr/>
        </p:nvSpPr>
        <p:spPr>
          <a:xfrm>
            <a:off x="1874520" y="2103120"/>
            <a:ext cx="376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Референтна архитектура</a:t>
            </a:r>
            <a:endParaRPr lang="en-US" sz="2100" dirty="0"/>
          </a:p>
        </p:txBody>
      </p:sp>
      <p:sp>
        <p:nvSpPr>
          <p:cNvPr id="8" name="text-449"/>
          <p:cNvSpPr txBox="1"/>
          <p:nvPr/>
        </p:nvSpPr>
        <p:spPr>
          <a:xfrm>
            <a:off x="914400" y="2880360"/>
            <a:ext cx="467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Production-grade event-driven микросервиси на Kubernetes, со GitOps испорака и целосна observability.</a:t>
            </a:r>
            <a:endParaRPr lang="en-US" sz="1600" dirty="0"/>
          </a:p>
        </p:txBody>
      </p:sp>
      <p:sp>
        <p:nvSpPr>
          <p:cNvPr id="9" name="card-450"/>
          <p:cNvSpPr/>
          <p:nvPr/>
        </p:nvSpPr>
        <p:spPr>
          <a:xfrm>
            <a:off x="6233008" y="1645920"/>
            <a:ext cx="541004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0" name="icon-bg-451"/>
          <p:cNvSpPr/>
          <p:nvPr/>
        </p:nvSpPr>
        <p:spPr>
          <a:xfrm>
            <a:off x="6598768" y="201168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1" name="icon-45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963" y="2201875"/>
            <a:ext cx="351130" cy="351130"/>
          </a:xfrm>
          <a:prstGeom prst="rect">
            <a:avLst/>
          </a:prstGeom>
        </p:spPr>
      </p:pic>
      <p:sp>
        <p:nvSpPr>
          <p:cNvPr id="12" name="text-453"/>
          <p:cNvSpPr txBox="1"/>
          <p:nvPr/>
        </p:nvSpPr>
        <p:spPr>
          <a:xfrm>
            <a:off x="7558888" y="2103120"/>
            <a:ext cx="376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Емпириска споредба</a:t>
            </a:r>
            <a:endParaRPr lang="en-US" sz="2100" dirty="0"/>
          </a:p>
        </p:txBody>
      </p:sp>
      <p:sp>
        <p:nvSpPr>
          <p:cNvPr id="13" name="text-454"/>
          <p:cNvSpPr txBox="1"/>
          <p:nvPr/>
        </p:nvSpPr>
        <p:spPr>
          <a:xfrm>
            <a:off x="6598768" y="2880360"/>
            <a:ext cx="467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Истата апликација во две архитектури, измерена под оптоварување и при контролирани откази.</a:t>
            </a:r>
            <a:endParaRPr lang="en-US" sz="1600" dirty="0"/>
          </a:p>
        </p:txBody>
      </p:sp>
      <p:sp>
        <p:nvSpPr>
          <p:cNvPr id="14" name="card-455"/>
          <p:cNvSpPr/>
          <p:nvPr/>
        </p:nvSpPr>
        <p:spPr>
          <a:xfrm>
            <a:off x="548640" y="4114800"/>
            <a:ext cx="541004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5" name="icon-bg-456"/>
          <p:cNvSpPr/>
          <p:nvPr/>
        </p:nvSpPr>
        <p:spPr>
          <a:xfrm>
            <a:off x="914400" y="448056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6" name="icon-45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4670755"/>
            <a:ext cx="351130" cy="351130"/>
          </a:xfrm>
          <a:prstGeom prst="rect">
            <a:avLst/>
          </a:prstGeom>
        </p:spPr>
      </p:pic>
      <p:sp>
        <p:nvSpPr>
          <p:cNvPr id="17" name="text-458"/>
          <p:cNvSpPr txBox="1"/>
          <p:nvPr/>
        </p:nvSpPr>
        <p:spPr>
          <a:xfrm>
            <a:off x="1874520" y="4572000"/>
            <a:ext cx="376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Репродуцибилни експерименти</a:t>
            </a:r>
            <a:endParaRPr lang="en-US" sz="2100" dirty="0"/>
          </a:p>
        </p:txBody>
      </p:sp>
      <p:sp>
        <p:nvSpPr>
          <p:cNvPr id="18" name="text-459"/>
          <p:cNvSpPr txBox="1"/>
          <p:nvPr/>
        </p:nvSpPr>
        <p:spPr>
          <a:xfrm>
            <a:off x="914400" y="5349240"/>
            <a:ext cx="467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Chaos и load сценарија, dashboards и аларми што секој може повторно да ги изврши.</a:t>
            </a:r>
            <a:endParaRPr lang="en-US" sz="1600" dirty="0"/>
          </a:p>
        </p:txBody>
      </p:sp>
      <p:sp>
        <p:nvSpPr>
          <p:cNvPr id="19" name="card-460"/>
          <p:cNvSpPr/>
          <p:nvPr/>
        </p:nvSpPr>
        <p:spPr>
          <a:xfrm>
            <a:off x="6233008" y="4114800"/>
            <a:ext cx="541004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0" name="icon-bg-461"/>
          <p:cNvSpPr/>
          <p:nvPr/>
        </p:nvSpPr>
        <p:spPr>
          <a:xfrm>
            <a:off x="6598768" y="448056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1" name="icon-46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8963" y="4670755"/>
            <a:ext cx="351130" cy="351130"/>
          </a:xfrm>
          <a:prstGeom prst="rect">
            <a:avLst/>
          </a:prstGeom>
        </p:spPr>
      </p:pic>
      <p:sp>
        <p:nvSpPr>
          <p:cNvPr id="22" name="text-463"/>
          <p:cNvSpPr txBox="1"/>
          <p:nvPr/>
        </p:nvSpPr>
        <p:spPr>
          <a:xfrm>
            <a:off x="7558888" y="4572000"/>
            <a:ext cx="376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Документирани компромиси</a:t>
            </a:r>
            <a:endParaRPr lang="en-US" sz="2100" dirty="0"/>
          </a:p>
        </p:txBody>
      </p:sp>
      <p:sp>
        <p:nvSpPr>
          <p:cNvPr id="23" name="text-464"/>
          <p:cNvSpPr txBox="1"/>
          <p:nvPr/>
        </p:nvSpPr>
        <p:spPr>
          <a:xfrm>
            <a:off x="6598768" y="5349240"/>
            <a:ext cx="467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Eventual consistency, оперативна сложеност и цена во ресурси — кога микросервисите не се исплатат.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ЗАКЛУЧОК</a:t>
            </a:r>
            <a:endParaRPr lang="en-US" sz="1200" dirty="0"/>
          </a:p>
        </p:txBody>
      </p:sp>
      <p:sp>
        <p:nvSpPr>
          <p:cNvPr id="3" name="icon-bg-465"/>
          <p:cNvSpPr/>
          <p:nvPr/>
        </p:nvSpPr>
        <p:spPr>
          <a:xfrm>
            <a:off x="640080" y="1325880"/>
            <a:ext cx="566928" cy="566928"/>
          </a:xfrm>
          <a:prstGeom prst="ellipse">
            <a:avLst/>
          </a:prstGeom>
          <a:solidFill>
            <a:schemeClr val="accent6">
              <a:alpha val="18000"/>
            </a:schemeClr>
          </a:solidFill>
          <a:ln/>
        </p:spPr>
      </p:sp>
      <p:pic>
        <p:nvPicPr>
          <p:cNvPr id="4" name="icon-46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473281"/>
            <a:ext cx="272125" cy="272125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1417320" y="132588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Стариот .NET проект ќе го преработам, но тој ми останува и основа за споредба. Ако темата ви изгледа во ред, следуваат доградбата на инфраструктурата, мерењата и пишувањето.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title" hasCustomPrompt="1"/>
          </p:nvPr>
        </p:nvSpPr>
        <p:spPr>
          <a:xfrm>
            <a:off x="640080" y="3246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Ви благодарам. Прашања?</a:t>
            </a:r>
            <a:endParaRPr lang="en-US" sz="4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64008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[Име Презиме] · [email]</a:t>
            </a:r>
            <a:endParaRPr lang="en-US" sz="1200" dirty="0"/>
          </a:p>
        </p:txBody>
      </p:sp>
      <p:sp>
        <p:nvSpPr>
          <p:cNvPr id="8" name="recap-rule"/>
          <p:cNvSpPr/>
          <p:nvPr/>
        </p:nvSpPr>
        <p:spPr>
          <a:xfrm>
            <a:off x="640080" y="5257800"/>
            <a:ext cx="10911535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pic>
        <p:nvPicPr>
          <p:cNvPr id="9" name="icon-4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96128"/>
            <a:ext cx="292608" cy="292608"/>
          </a:xfrm>
          <a:prstGeom prst="rect">
            <a:avLst/>
          </a:prstGeom>
        </p:spPr>
      </p:pic>
      <p:sp>
        <p:nvSpPr>
          <p:cNvPr id="10" name="text-468"/>
          <p:cNvSpPr txBox="1"/>
          <p:nvPr/>
        </p:nvSpPr>
        <p:spPr>
          <a:xfrm>
            <a:off x="1097280" y="5541264"/>
            <a:ext cx="21792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Kafka · outbox · inbox</a:t>
            </a:r>
            <a:endParaRPr lang="en-US" sz="1400" dirty="0"/>
          </a:p>
        </p:txBody>
      </p:sp>
      <p:pic>
        <p:nvPicPr>
          <p:cNvPr id="11" name="icon-46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7964" y="5596128"/>
            <a:ext cx="292608" cy="292608"/>
          </a:xfrm>
          <a:prstGeom prst="rect">
            <a:avLst/>
          </a:prstGeom>
        </p:spPr>
      </p:pic>
      <p:sp>
        <p:nvSpPr>
          <p:cNvPr id="12" name="text-470"/>
          <p:cNvSpPr txBox="1"/>
          <p:nvPr/>
        </p:nvSpPr>
        <p:spPr>
          <a:xfrm>
            <a:off x="3825164" y="5541264"/>
            <a:ext cx="21792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Kubernetes · Helm · ArgoCD</a:t>
            </a:r>
            <a:endParaRPr lang="en-US" sz="1400" dirty="0"/>
          </a:p>
        </p:txBody>
      </p:sp>
      <p:pic>
        <p:nvPicPr>
          <p:cNvPr id="13" name="icon-4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8" y="5596128"/>
            <a:ext cx="292608" cy="292608"/>
          </a:xfrm>
          <a:prstGeom prst="rect">
            <a:avLst/>
          </a:prstGeom>
        </p:spPr>
      </p:pic>
      <p:sp>
        <p:nvSpPr>
          <p:cNvPr id="14" name="text-472"/>
          <p:cNvSpPr txBox="1"/>
          <p:nvPr/>
        </p:nvSpPr>
        <p:spPr>
          <a:xfrm>
            <a:off x="6553048" y="5541264"/>
            <a:ext cx="21792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метрики · логови · traces</a:t>
            </a:r>
            <a:endParaRPr lang="en-US" sz="1400" dirty="0"/>
          </a:p>
        </p:txBody>
      </p:sp>
      <p:pic>
        <p:nvPicPr>
          <p:cNvPr id="15" name="icon-47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731" y="5596128"/>
            <a:ext cx="292608" cy="292608"/>
          </a:xfrm>
          <a:prstGeom prst="rect">
            <a:avLst/>
          </a:prstGeom>
        </p:spPr>
      </p:pic>
      <p:sp>
        <p:nvSpPr>
          <p:cNvPr id="16" name="text-474"/>
          <p:cNvSpPr txBox="1"/>
          <p:nvPr/>
        </p:nvSpPr>
        <p:spPr>
          <a:xfrm>
            <a:off x="9280931" y="5541264"/>
            <a:ext cx="21792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k6 · Chaos Mesh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ДОДАТОК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Можни прашања</a:t>
            </a:r>
            <a:endParaRPr lang="en-US" sz="3000" dirty="0"/>
          </a:p>
        </p:txBody>
      </p:sp>
      <p:sp>
        <p:nvSpPr>
          <p:cNvPr id="4" name="card-475"/>
          <p:cNvSpPr/>
          <p:nvPr/>
        </p:nvSpPr>
        <p:spPr>
          <a:xfrm>
            <a:off x="548640" y="1645920"/>
            <a:ext cx="351525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5" name="icon-4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365760" cy="365760"/>
          </a:xfrm>
          <a:prstGeom prst="rect">
            <a:avLst/>
          </a:prstGeom>
        </p:spPr>
      </p:pic>
      <p:sp>
        <p:nvSpPr>
          <p:cNvPr id="6" name="text-477"/>
          <p:cNvSpPr txBox="1"/>
          <p:nvPr/>
        </p:nvSpPr>
        <p:spPr>
          <a:xfrm>
            <a:off x="1325880" y="18745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Зошто повторно го пишуваш истото?</a:t>
            </a:r>
            <a:endParaRPr lang="en-US" sz="1600" dirty="0"/>
          </a:p>
        </p:txBody>
      </p:sp>
      <p:sp>
        <p:nvSpPr>
          <p:cNvPr id="7" name="text-478"/>
          <p:cNvSpPr txBox="1"/>
          <p:nvPr/>
        </p:nvSpPr>
        <p:spPr>
          <a:xfrm>
            <a:off x="822960" y="265176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Функционалноста ја знам, па можам да ги споредувам архитектурите наместо да учам нов домен.</a:t>
            </a:r>
            <a:endParaRPr lang="en-US" sz="1400" dirty="0"/>
          </a:p>
        </p:txBody>
      </p:sp>
      <p:sp>
        <p:nvSpPr>
          <p:cNvPr id="8" name="card-479"/>
          <p:cNvSpPr/>
          <p:nvPr/>
        </p:nvSpPr>
        <p:spPr>
          <a:xfrm>
            <a:off x="4338218" y="1645920"/>
            <a:ext cx="351525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9" name="icon-4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1920240"/>
            <a:ext cx="365760" cy="365760"/>
          </a:xfrm>
          <a:prstGeom prst="rect">
            <a:avLst/>
          </a:prstGeom>
        </p:spPr>
      </p:pic>
      <p:sp>
        <p:nvSpPr>
          <p:cNvPr id="10" name="text-481"/>
          <p:cNvSpPr txBox="1"/>
          <p:nvPr/>
        </p:nvSpPr>
        <p:spPr>
          <a:xfrm>
            <a:off x="5115458" y="18745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Зошто Java, а не .NET?</a:t>
            </a:r>
            <a:endParaRPr lang="en-US" sz="1600" dirty="0"/>
          </a:p>
        </p:txBody>
      </p:sp>
      <p:sp>
        <p:nvSpPr>
          <p:cNvPr id="11" name="text-482"/>
          <p:cNvSpPr txBox="1"/>
          <p:nvPr/>
        </p:nvSpPr>
        <p:spPr>
          <a:xfrm>
            <a:off x="4612538" y="265176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Spring Boot и Spring Cloud нудат готов gateway и Kafka интеграција, и тоа е стекот во кој ќе работам понатаму.</a:t>
            </a:r>
            <a:endParaRPr lang="en-US" sz="1400" dirty="0"/>
          </a:p>
        </p:txBody>
      </p:sp>
      <p:sp>
        <p:nvSpPr>
          <p:cNvPr id="12" name="card-483"/>
          <p:cNvSpPr/>
          <p:nvPr/>
        </p:nvSpPr>
        <p:spPr>
          <a:xfrm>
            <a:off x="8127797" y="1645920"/>
            <a:ext cx="351525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3" name="icon-48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1920240"/>
            <a:ext cx="365760" cy="365760"/>
          </a:xfrm>
          <a:prstGeom prst="rect">
            <a:avLst/>
          </a:prstGeom>
        </p:spPr>
      </p:pic>
      <p:sp>
        <p:nvSpPr>
          <p:cNvPr id="14" name="text-485"/>
          <p:cNvSpPr txBox="1"/>
          <p:nvPr/>
        </p:nvSpPr>
        <p:spPr>
          <a:xfrm>
            <a:off x="8905037" y="18745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Монолит не би бил доволен?</a:t>
            </a:r>
            <a:endParaRPr lang="en-US" sz="1600" dirty="0"/>
          </a:p>
        </p:txBody>
      </p:sp>
      <p:sp>
        <p:nvSpPr>
          <p:cNvPr id="15" name="text-486"/>
          <p:cNvSpPr txBox="1"/>
          <p:nvPr/>
        </p:nvSpPr>
        <p:spPr>
          <a:xfrm>
            <a:off x="8402117" y="265176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За функционалноста — да, и веќе го имам. Но тогаш нема тема: дистрибуираниот дел е предметот на трудот.</a:t>
            </a:r>
            <a:endParaRPr lang="en-US" sz="1400" dirty="0"/>
          </a:p>
        </p:txBody>
      </p:sp>
      <p:sp>
        <p:nvSpPr>
          <p:cNvPr id="16" name="card-487"/>
          <p:cNvSpPr/>
          <p:nvPr/>
        </p:nvSpPr>
        <p:spPr>
          <a:xfrm>
            <a:off x="548640" y="4114800"/>
            <a:ext cx="351525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7" name="icon-48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389120"/>
            <a:ext cx="365760" cy="365760"/>
          </a:xfrm>
          <a:prstGeom prst="rect">
            <a:avLst/>
          </a:prstGeom>
        </p:spPr>
      </p:pic>
      <p:sp>
        <p:nvSpPr>
          <p:cNvPr id="18" name="text-489"/>
          <p:cNvSpPr txBox="1"/>
          <p:nvPr/>
        </p:nvSpPr>
        <p:spPr>
          <a:xfrm>
            <a:off x="1325880" y="43434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Каде е придонесот?</a:t>
            </a:r>
            <a:endParaRPr lang="en-US" sz="1600" dirty="0"/>
          </a:p>
        </p:txBody>
      </p:sp>
      <p:sp>
        <p:nvSpPr>
          <p:cNvPr id="19" name="text-490"/>
          <p:cNvSpPr txBox="1"/>
          <p:nvPr/>
        </p:nvSpPr>
        <p:spPr>
          <a:xfrm>
            <a:off x="822960" y="512064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Споредба на истата апликација во две архитектури, со измерено однесување при откази и оптоварување.</a:t>
            </a:r>
            <a:endParaRPr lang="en-US" sz="1400" dirty="0"/>
          </a:p>
        </p:txBody>
      </p:sp>
      <p:sp>
        <p:nvSpPr>
          <p:cNvPr id="20" name="card-491"/>
          <p:cNvSpPr/>
          <p:nvPr/>
        </p:nvSpPr>
        <p:spPr>
          <a:xfrm>
            <a:off x="4338218" y="4114800"/>
            <a:ext cx="351525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1" name="icon-49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4389120"/>
            <a:ext cx="365760" cy="365760"/>
          </a:xfrm>
          <a:prstGeom prst="rect">
            <a:avLst/>
          </a:prstGeom>
        </p:spPr>
      </p:pic>
      <p:sp>
        <p:nvSpPr>
          <p:cNvPr id="22" name="text-493"/>
          <p:cNvSpPr txBox="1"/>
          <p:nvPr/>
        </p:nvSpPr>
        <p:spPr>
          <a:xfrm>
            <a:off x="5115458" y="43434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Не е ли обемот преголем?</a:t>
            </a:r>
            <a:endParaRPr lang="en-US" sz="1600" dirty="0"/>
          </a:p>
        </p:txBody>
      </p:sp>
      <p:sp>
        <p:nvSpPr>
          <p:cNvPr id="23" name="text-494"/>
          <p:cNvSpPr txBox="1"/>
          <p:nvPr/>
        </p:nvSpPr>
        <p:spPr>
          <a:xfrm>
            <a:off x="4612538" y="512064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Затоа јасно кажувам што не влегува. Нема нова функционалност — само архитектура, инфраструктура и мерења.</a:t>
            </a:r>
            <a:endParaRPr lang="en-US" sz="1400" dirty="0"/>
          </a:p>
        </p:txBody>
      </p:sp>
      <p:sp>
        <p:nvSpPr>
          <p:cNvPr id="24" name="card-495"/>
          <p:cNvSpPr/>
          <p:nvPr/>
        </p:nvSpPr>
        <p:spPr>
          <a:xfrm>
            <a:off x="8127797" y="4114800"/>
            <a:ext cx="3515258" cy="2194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5" name="icon-49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2117" y="4389120"/>
            <a:ext cx="365760" cy="365760"/>
          </a:xfrm>
          <a:prstGeom prst="rect">
            <a:avLst/>
          </a:prstGeom>
        </p:spPr>
      </p:pic>
      <p:sp>
        <p:nvSpPr>
          <p:cNvPr id="26" name="text-497"/>
          <p:cNvSpPr txBox="1"/>
          <p:nvPr/>
        </p:nvSpPr>
        <p:spPr>
          <a:xfrm>
            <a:off x="8905037" y="43434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Зошто Kafka, а не REST повици?</a:t>
            </a:r>
            <a:endParaRPr lang="en-US" sz="1600" dirty="0"/>
          </a:p>
        </p:txBody>
      </p:sp>
      <p:sp>
        <p:nvSpPr>
          <p:cNvPr id="27" name="text-498"/>
          <p:cNvSpPr txBox="1"/>
          <p:nvPr/>
        </p:nvSpPr>
        <p:spPr>
          <a:xfrm>
            <a:off x="8402117" y="512064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Со директен повик, ако другиот сервис е паднат, паѓа и моето барање. Со настани, барањето поминува.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rket Signal">
  <a:themeElements>
    <a:clrScheme name="AutoMarket Signal">
      <a:dk1>
        <a:srgbClr val="15181D"/>
      </a:dk1>
      <a:lt1>
        <a:srgbClr val="FFFFFF"/>
      </a:lt1>
      <a:dk2>
        <a:srgbClr val="161B24"/>
      </a:dk2>
      <a:lt2>
        <a:srgbClr val="F1F3F6"/>
      </a:lt2>
      <a:accent1>
        <a:srgbClr val="C2410C"/>
      </a:accent1>
      <a:accent2>
        <a:srgbClr val="5B646F"/>
      </a:accent2>
      <a:accent3>
        <a:srgbClr val="1F7A4D"/>
      </a:accent3>
      <a:accent4>
        <a:srgbClr val="B42318"/>
      </a:accent4>
      <a:accent5>
        <a:srgbClr val="D3D9E0"/>
      </a:accent5>
      <a:accent6>
        <a:srgbClr val="F28C5B"/>
      </a:accent6>
      <a:hlink>
        <a:srgbClr val="C2410C"/>
      </a:hlink>
      <a:folHlink>
        <a:srgbClr val="5B646F"/>
      </a:folHlink>
    </a:clrScheme>
    <a:fontScheme name="AutoMarket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AutoMarket — предлог за дипломска работа</dc:title>
  <dc:subject>Event-driven микросервисна архитектура со модерна оркестрација и observability</dc:subject>
  <dc:creator>[Име Презиме]</dc:creator>
  <cp:lastModifiedBy>[Име Презиме]</cp:lastModifiedBy>
  <cp:revision>1</cp:revision>
  <dcterms:created xsi:type="dcterms:W3CDTF">2026-10-17T19:08:12Z</dcterms:created>
  <dcterms:modified xsi:type="dcterms:W3CDTF">2026-10-17T19:08:12Z</dcterms:modified>
</cp:coreProperties>
</file>