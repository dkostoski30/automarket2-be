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редлог" id="{304ad869-64d6-8dbf-131d-cffc214c0afd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Добар ден. Предлагам дипломска работа на тема event-driven микросервиси со модерна оркестрација и observability.
Во една реченица: имам постоечка монолитна апликација за огласи за автомобили. Ќе ја разделам на сервиси што комуницираат преку настани, ќе ја оркестрирам со Kubernetes, ќе ја направам набљудлива — и ќе ги измерам двете верзии една против друга.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Стариот .NET проект со Razor Pages е една апликација со една база — сета логика заедно. Од него знам што прави системот, и тој ми останува основа за споредба.
Предлогот е истата функционалност поделена на шест сервиси по домен — корисници, огласи, блог, разговори, плаќања и известувања — кои комуницираат преку настани во Kafka.
Темата е изводлива: прототип веќе постои, а DevOps делот го претставив на предметот DevOps.
Зошто да го пишувам истото повторно? Затоа што функционалноста ја знам, па можам да ги споредувам архитектурите наместо да учам нов домен.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Клиентот разговара само со API Gateway-от. Тој го проверува токенот, ограничува број на барања и рутира кон сервисите.
Сервисите не се повикуваат директно меѓу себе — разговараат преку настани во Kafka. Секој сервис има своја шема во PostgreSQL и не чита туѓи табели.
Пример: огласот треба да го прикаже името на продавачот, но сервисот за огласи има само id. Наместо да го прашува сервисот за корисници секој пат — и да падне ако тој не работи — при регистрација добива настан и си чува своја копија. Цената е кратко доцнење, eventual consistency.
Сè работи во Kubernetes, а Grafana покажува што се случува.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Ова е тешкиот дел, и срцето на трудот.
Марко си го менува телефонот. Сервисот за корисници го запишува новиот број, па праќа порака до Kafka за да дознае и сервисот за огласи. Ако пораката не се прати, телефонот е нов на едно место, стар на друго — и никаде не пишува дека тоа се случило.
Решението — transactional outbox: пораката се запишува во истата база, во истата трансакција со телефонот. Или двете, или ниедно.
Мал relay потоа ги праќа пораките. Ако Kafka не работи, пораката чека; ништо не се губи, само доцни.
А ако иста порака стигне двапати, примачот (inbox) памти што веќе обработил и не ја повторува.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Production-grade значи две работи.
Прво, испораката е автоматска: секој push поминува низ CI (тестови, build, Docker image), а ArgoCD го синхронизира Kubernetes кластерот со она што е запишано во Git — GitOps, без рачни чекори. Во кластерот: автоскалирање, health проби, мрежна изолација меѓу сервисите, Helm charts.
Второ, системот е видлив. Асинхроните дефекти се тивки: API-то враќа 200, а настаните не течат. Затоа три столба преку OpenTelemetry — метрики во Prometheus, логови во Loki, traces во Tempo — а Grafana ги прикажува и алармира, на пример кога outbox престане да се празни.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сакам да завршам со „еве, работи“, туку со експерименти што може да се повторат.
Прво, ја гасам Kafka додека системот работи — ниту еден настан не смее да се изгуби.
Второ, истиот настан го праќам двапати — корисникот смее да добие само едно известување.
Трето, двете верзии, монолитот и сервисите, ги оптоварувам на ист начин и ги споредувам брзината и потрошувачката на ресурси. Тоа ја покажува цената на дистрибуцијата.
Четврто, намерно рушам делови од системот и гледам колку брзо алармите и traces ме носат до причината.
Алатки: Chaos Mesh за отказите, k6 за оптоварувањето, Grafana за мерењето.
Придонесот на трудот е токму ова: истата апликација во две архитектури, со измерено однесување при оптоварување и при откази.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Функционалноста ја држам мала намерно — истата како кај монолитот. Тежината е на едно место: архитектурата, инфраструктурата и мерењето.
Не влегува: посебна база по сервис (шемата по сервис е доволна), service mesh, хостинг во облак и нова функционалност.
Стариот .NET проект ќе го преработам, но тој ми останува и основа за споредба. Ако темата ви изгледа во ред, следуваат доградбата, мерењата и пишувањето.
— Ако прашаат —
Зошто Java, а не .NET? Spring Boot и Spring Cloud нудат готов gateway и Kafka интеграција, и тоа е стекот во кој ќе работам понатаму.
Монолит не би бил доволен? За функционалноста — да, и веќе го имам. Но тогаш нема тема: дистрибуираниот дел е предметот.
Каде е придонесот? Споредба на истата апликација во две архитектури, со измерено однесување при откази и оптоварување.
Не е ли обемот преголем? Затоа кажувам што не влегува. Нема нова функционалност — само архитектура, инфраструктура и мерења.
Зошто Kafka, а не REST повици? Со директен повик, ако другиот сервис е паднат, паѓа и моето барање. Со настани, барањето поминува.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188720"/>
            <a:ext cx="71323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645920"/>
            <a:ext cx="73152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3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3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794760"/>
            <a:ext cx="69494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484632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400"/>
              </a:spcAft>
              <a:buNone/>
              <a:defRPr lang="en-US" sz="1400" dirty="0">
                <a:solidFill>
                  <a:schemeClr val="accent5"/>
                </a:solidFill>
              </a:defRPr>
            </a:lvl1pPr>
          </a:lstStyle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EDE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07899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1887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ПРЕДЛОГ ЗА ДИПЛОМСКА РАБОТА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64592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Event-driven микросервиси со модерна оркестрација и observability</a:t>
            </a:r>
            <a:endParaRPr lang="en-US" sz="33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794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AutoMarket — огласи за автомобили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484632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Даниел Костоски · 221189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Ментор: проф. д-р Костадин Мишев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ФИНКИ · октомври 2026</a:t>
            </a:r>
            <a:endParaRPr lang="en-US" sz="1400" dirty="0"/>
          </a:p>
        </p:txBody>
      </p:sp>
      <p:sp>
        <p:nvSpPr>
          <p:cNvPr id="6" name="bus"/>
          <p:cNvSpPr/>
          <p:nvPr/>
        </p:nvSpPr>
        <p:spPr>
          <a:xfrm>
            <a:off x="9898380" y="1280160"/>
            <a:ext cx="0" cy="3886200"/>
          </a:xfrm>
          <a:prstGeom prst="line">
            <a:avLst/>
          </a:prstGeom>
          <a:noFill/>
          <a:ln w="38100">
            <a:solidFill>
              <a:schemeClr val="accent6"/>
            </a:solidFill>
            <a:prstDash val="solid"/>
          </a:ln>
        </p:spPr>
      </p:sp>
      <p:sp>
        <p:nvSpPr>
          <p:cNvPr id="7" name="tile-1"/>
          <p:cNvSpPr/>
          <p:nvPr/>
        </p:nvSpPr>
        <p:spPr>
          <a:xfrm>
            <a:off x="8229600" y="1417320"/>
            <a:ext cx="1234440" cy="960120"/>
          </a:xfrm>
          <a:prstGeom prst="rect">
            <a:avLst/>
          </a:prstGeom>
          <a:solidFill>
            <a:schemeClr val="bg1">
              <a:alpha val="7000"/>
            </a:schemeClr>
          </a:solidFill>
          <a:ln w="9525">
            <a:solidFill>
              <a:schemeClr val="accent2"/>
            </a:solidFill>
            <a:prstDash val="solid"/>
          </a:ln>
        </p:spPr>
      </p:sp>
      <p:pic>
        <p:nvPicPr>
          <p:cNvPr id="8" name="icon-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4796" y="1570939"/>
            <a:ext cx="384048" cy="384048"/>
          </a:xfrm>
          <a:prstGeom prst="rect">
            <a:avLst/>
          </a:prstGeom>
        </p:spPr>
      </p:pic>
      <p:sp>
        <p:nvSpPr>
          <p:cNvPr id="9" name="text-3"/>
          <p:cNvSpPr txBox="1"/>
          <p:nvPr/>
        </p:nvSpPr>
        <p:spPr>
          <a:xfrm>
            <a:off x="8229600" y="2009851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</a:t>
            </a:r>
            <a:endParaRPr lang="en-US" sz="1100" dirty="0"/>
          </a:p>
        </p:txBody>
      </p:sp>
      <p:sp>
        <p:nvSpPr>
          <p:cNvPr id="10" name="arrow-4"/>
          <p:cNvSpPr/>
          <p:nvPr/>
        </p:nvSpPr>
        <p:spPr>
          <a:xfrm>
            <a:off x="9464040" y="1897380"/>
            <a:ext cx="43434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dash"/>
          </a:ln>
        </p:spPr>
      </p:sp>
      <p:sp>
        <p:nvSpPr>
          <p:cNvPr id="11" name="tile-5"/>
          <p:cNvSpPr/>
          <p:nvPr/>
        </p:nvSpPr>
        <p:spPr>
          <a:xfrm>
            <a:off x="10332720" y="1417320"/>
            <a:ext cx="1234440" cy="960120"/>
          </a:xfrm>
          <a:prstGeom prst="rect">
            <a:avLst/>
          </a:prstGeom>
          <a:solidFill>
            <a:schemeClr val="bg1">
              <a:alpha val="7000"/>
            </a:schemeClr>
          </a:solidFill>
          <a:ln w="9525">
            <a:solidFill>
              <a:schemeClr val="accent2"/>
            </a:solidFill>
            <a:prstDash val="solid"/>
          </a:ln>
        </p:spPr>
      </p:sp>
      <p:pic>
        <p:nvPicPr>
          <p:cNvPr id="12" name="icon-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7916" y="1570939"/>
            <a:ext cx="384048" cy="384048"/>
          </a:xfrm>
          <a:prstGeom prst="rect">
            <a:avLst/>
          </a:prstGeom>
        </p:spPr>
      </p:pic>
      <p:sp>
        <p:nvSpPr>
          <p:cNvPr id="13" name="text-7"/>
          <p:cNvSpPr txBox="1"/>
          <p:nvPr/>
        </p:nvSpPr>
        <p:spPr>
          <a:xfrm>
            <a:off x="10332720" y="2009851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listing</a:t>
            </a:r>
            <a:endParaRPr lang="en-US" sz="1100" dirty="0"/>
          </a:p>
        </p:txBody>
      </p:sp>
      <p:sp>
        <p:nvSpPr>
          <p:cNvPr id="14" name="arrow-8"/>
          <p:cNvSpPr/>
          <p:nvPr/>
        </p:nvSpPr>
        <p:spPr>
          <a:xfrm>
            <a:off x="9898380" y="1897380"/>
            <a:ext cx="43434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dash"/>
          </a:ln>
        </p:spPr>
      </p:sp>
      <p:sp>
        <p:nvSpPr>
          <p:cNvPr id="15" name="tile-9"/>
          <p:cNvSpPr/>
          <p:nvPr/>
        </p:nvSpPr>
        <p:spPr>
          <a:xfrm>
            <a:off x="8229600" y="2606040"/>
            <a:ext cx="1234440" cy="960120"/>
          </a:xfrm>
          <a:prstGeom prst="rect">
            <a:avLst/>
          </a:prstGeom>
          <a:solidFill>
            <a:schemeClr val="bg1">
              <a:alpha val="7000"/>
            </a:schemeClr>
          </a:solidFill>
          <a:ln w="9525">
            <a:solidFill>
              <a:schemeClr val="accent2"/>
            </a:solidFill>
            <a:prstDash val="solid"/>
          </a:ln>
        </p:spPr>
      </p:sp>
      <p:pic>
        <p:nvPicPr>
          <p:cNvPr id="16" name="icon-1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4796" y="2759659"/>
            <a:ext cx="384048" cy="384048"/>
          </a:xfrm>
          <a:prstGeom prst="rect">
            <a:avLst/>
          </a:prstGeom>
        </p:spPr>
      </p:pic>
      <p:sp>
        <p:nvSpPr>
          <p:cNvPr id="17" name="text-11"/>
          <p:cNvSpPr txBox="1"/>
          <p:nvPr/>
        </p:nvSpPr>
        <p:spPr>
          <a:xfrm>
            <a:off x="8229600" y="3198571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blog</a:t>
            </a:r>
            <a:endParaRPr lang="en-US" sz="1100" dirty="0"/>
          </a:p>
        </p:txBody>
      </p:sp>
      <p:sp>
        <p:nvSpPr>
          <p:cNvPr id="18" name="arrow-12"/>
          <p:cNvSpPr/>
          <p:nvPr/>
        </p:nvSpPr>
        <p:spPr>
          <a:xfrm>
            <a:off x="9464040" y="3086100"/>
            <a:ext cx="43434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dash"/>
          </a:ln>
        </p:spPr>
      </p:sp>
      <p:sp>
        <p:nvSpPr>
          <p:cNvPr id="19" name="tile-13"/>
          <p:cNvSpPr/>
          <p:nvPr/>
        </p:nvSpPr>
        <p:spPr>
          <a:xfrm>
            <a:off x="10332720" y="2606040"/>
            <a:ext cx="1234440" cy="960120"/>
          </a:xfrm>
          <a:prstGeom prst="rect">
            <a:avLst/>
          </a:prstGeom>
          <a:solidFill>
            <a:schemeClr val="bg1">
              <a:alpha val="7000"/>
            </a:schemeClr>
          </a:solidFill>
          <a:ln w="9525">
            <a:solidFill>
              <a:schemeClr val="accent2"/>
            </a:solidFill>
            <a:prstDash val="solid"/>
          </a:ln>
        </p:spPr>
      </p:sp>
      <p:pic>
        <p:nvPicPr>
          <p:cNvPr id="20" name="icon-1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57916" y="2759659"/>
            <a:ext cx="384048" cy="384048"/>
          </a:xfrm>
          <a:prstGeom prst="rect">
            <a:avLst/>
          </a:prstGeom>
        </p:spPr>
      </p:pic>
      <p:sp>
        <p:nvSpPr>
          <p:cNvPr id="21" name="text-15"/>
          <p:cNvSpPr txBox="1"/>
          <p:nvPr/>
        </p:nvSpPr>
        <p:spPr>
          <a:xfrm>
            <a:off x="10332720" y="3198571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inquiry</a:t>
            </a:r>
            <a:endParaRPr lang="en-US" sz="1100" dirty="0"/>
          </a:p>
        </p:txBody>
      </p:sp>
      <p:sp>
        <p:nvSpPr>
          <p:cNvPr id="22" name="arrow-16"/>
          <p:cNvSpPr/>
          <p:nvPr/>
        </p:nvSpPr>
        <p:spPr>
          <a:xfrm>
            <a:off x="9898380" y="3086100"/>
            <a:ext cx="43434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dash"/>
          </a:ln>
        </p:spPr>
      </p:sp>
      <p:sp>
        <p:nvSpPr>
          <p:cNvPr id="23" name="tile-17"/>
          <p:cNvSpPr/>
          <p:nvPr/>
        </p:nvSpPr>
        <p:spPr>
          <a:xfrm>
            <a:off x="8229600" y="3794760"/>
            <a:ext cx="1234440" cy="960120"/>
          </a:xfrm>
          <a:prstGeom prst="rect">
            <a:avLst/>
          </a:prstGeom>
          <a:solidFill>
            <a:schemeClr val="bg1">
              <a:alpha val="7000"/>
            </a:schemeClr>
          </a:solidFill>
          <a:ln w="9525">
            <a:solidFill>
              <a:schemeClr val="accent2"/>
            </a:solidFill>
            <a:prstDash val="solid"/>
          </a:ln>
        </p:spPr>
      </p:sp>
      <p:pic>
        <p:nvPicPr>
          <p:cNvPr id="24" name="icon-1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4796" y="3948379"/>
            <a:ext cx="384048" cy="384048"/>
          </a:xfrm>
          <a:prstGeom prst="rect">
            <a:avLst/>
          </a:prstGeom>
        </p:spPr>
      </p:pic>
      <p:sp>
        <p:nvSpPr>
          <p:cNvPr id="25" name="text-19"/>
          <p:cNvSpPr txBox="1"/>
          <p:nvPr/>
        </p:nvSpPr>
        <p:spPr>
          <a:xfrm>
            <a:off x="8229600" y="4387291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payment</a:t>
            </a:r>
            <a:endParaRPr lang="en-US" sz="1100" dirty="0"/>
          </a:p>
        </p:txBody>
      </p:sp>
      <p:sp>
        <p:nvSpPr>
          <p:cNvPr id="26" name="arrow-20"/>
          <p:cNvSpPr/>
          <p:nvPr/>
        </p:nvSpPr>
        <p:spPr>
          <a:xfrm>
            <a:off x="9464040" y="4274820"/>
            <a:ext cx="43434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dash"/>
          </a:ln>
        </p:spPr>
      </p:sp>
      <p:sp>
        <p:nvSpPr>
          <p:cNvPr id="27" name="tile-21"/>
          <p:cNvSpPr/>
          <p:nvPr/>
        </p:nvSpPr>
        <p:spPr>
          <a:xfrm>
            <a:off x="10332720" y="3794760"/>
            <a:ext cx="1234440" cy="960120"/>
          </a:xfrm>
          <a:prstGeom prst="rect">
            <a:avLst/>
          </a:prstGeom>
          <a:solidFill>
            <a:schemeClr val="bg1">
              <a:alpha val="7000"/>
            </a:schemeClr>
          </a:solidFill>
          <a:ln w="9525">
            <a:solidFill>
              <a:schemeClr val="accent2"/>
            </a:solidFill>
            <a:prstDash val="solid"/>
          </a:ln>
        </p:spPr>
      </p:sp>
      <p:pic>
        <p:nvPicPr>
          <p:cNvPr id="28" name="icon-2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7916" y="3948379"/>
            <a:ext cx="384048" cy="384048"/>
          </a:xfrm>
          <a:prstGeom prst="rect">
            <a:avLst/>
          </a:prstGeom>
        </p:spPr>
      </p:pic>
      <p:sp>
        <p:nvSpPr>
          <p:cNvPr id="29" name="text-23"/>
          <p:cNvSpPr txBox="1"/>
          <p:nvPr/>
        </p:nvSpPr>
        <p:spPr>
          <a:xfrm>
            <a:off x="10332720" y="4387291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notification</a:t>
            </a:r>
            <a:endParaRPr lang="en-US" sz="1100" dirty="0"/>
          </a:p>
        </p:txBody>
      </p:sp>
      <p:sp>
        <p:nvSpPr>
          <p:cNvPr id="30" name="arrow-24"/>
          <p:cNvSpPr/>
          <p:nvPr/>
        </p:nvSpPr>
        <p:spPr>
          <a:xfrm>
            <a:off x="9898380" y="4274820"/>
            <a:ext cx="43434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dash"/>
          </a:ln>
        </p:spPr>
      </p:sp>
      <p:sp>
        <p:nvSpPr>
          <p:cNvPr id="31" name="text-25"/>
          <p:cNvSpPr txBox="1"/>
          <p:nvPr/>
        </p:nvSpPr>
        <p:spPr>
          <a:xfrm>
            <a:off x="8983980" y="5257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kafka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Monolith -&gt; Microservice architecture</a:t>
            </a:r>
            <a:endParaRPr lang="en-US" sz="3200" dirty="0"/>
          </a:p>
        </p:txBody>
      </p:sp>
      <p:sp>
        <p:nvSpPr>
          <p:cNvPr id="4" name="text-26"/>
          <p:cNvSpPr txBox="1"/>
          <p:nvPr/>
        </p:nvSpPr>
        <p:spPr>
          <a:xfrm>
            <a:off x="548640" y="1947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ДЕНЕС</a:t>
            </a:r>
            <a:endParaRPr lang="en-US" sz="1100" dirty="0"/>
          </a:p>
        </p:txBody>
      </p:sp>
      <p:sp>
        <p:nvSpPr>
          <p:cNvPr id="5" name="monolith"/>
          <p:cNvSpPr/>
          <p:nvPr/>
        </p:nvSpPr>
        <p:spPr>
          <a:xfrm>
            <a:off x="548640" y="2331720"/>
            <a:ext cx="3657600" cy="2834640"/>
          </a:xfrm>
          <a:prstGeom prst="rect">
            <a:avLst/>
          </a:prstGeom>
          <a:solidFill>
            <a:schemeClr val="accent5">
              <a:alpha val="55000"/>
            </a:schemeClr>
          </a:solidFill>
          <a:ln w="9525">
            <a:solidFill>
              <a:schemeClr val="accent2"/>
            </a:solidFill>
            <a:prstDash val="solid"/>
          </a:ln>
        </p:spPr>
      </p:sp>
      <p:pic>
        <p:nvPicPr>
          <p:cNvPr id="6" name="icon-2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2926080"/>
            <a:ext cx="822960" cy="822960"/>
          </a:xfrm>
          <a:prstGeom prst="rect">
            <a:avLst/>
          </a:prstGeom>
        </p:spPr>
      </p:pic>
      <p:sp>
        <p:nvSpPr>
          <p:cNvPr id="7" name="text-28"/>
          <p:cNvSpPr txBox="1"/>
          <p:nvPr/>
        </p:nvSpPr>
        <p:spPr>
          <a:xfrm>
            <a:off x="548640" y="3886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монолит</a:t>
            </a:r>
            <a:endParaRPr lang="en-US" sz="2400" dirty="0"/>
          </a:p>
        </p:txBody>
      </p:sp>
      <p:sp>
        <p:nvSpPr>
          <p:cNvPr id="8" name="text-29"/>
          <p:cNvSpPr txBox="1"/>
          <p:nvPr/>
        </p:nvSpPr>
        <p:spPr>
          <a:xfrm>
            <a:off x="548640" y="4389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една апликација · една база</a:t>
            </a:r>
            <a:endParaRPr lang="en-US" sz="1500" dirty="0"/>
          </a:p>
        </p:txBody>
      </p:sp>
      <p:sp>
        <p:nvSpPr>
          <p:cNvPr id="9" name="arrow-30"/>
          <p:cNvSpPr/>
          <p:nvPr/>
        </p:nvSpPr>
        <p:spPr>
          <a:xfrm>
            <a:off x="4480560" y="3749040"/>
            <a:ext cx="914400" cy="0"/>
          </a:xfrm>
          <a:prstGeom prst="line">
            <a:avLst/>
          </a:prstGeom>
          <a:noFill/>
          <a:ln w="444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text-31"/>
          <p:cNvSpPr txBox="1"/>
          <p:nvPr/>
        </p:nvSpPr>
        <p:spPr>
          <a:xfrm>
            <a:off x="5669280" y="1947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ПРЕДЛОГ</a:t>
            </a:r>
            <a:endParaRPr lang="en-US" sz="1100" dirty="0"/>
          </a:p>
        </p:txBody>
      </p:sp>
      <p:sp>
        <p:nvSpPr>
          <p:cNvPr id="11" name="bus"/>
          <p:cNvSpPr/>
          <p:nvPr/>
        </p:nvSpPr>
        <p:spPr>
          <a:xfrm>
            <a:off x="5669280" y="3749040"/>
            <a:ext cx="5973775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12" name="tile-32"/>
          <p:cNvSpPr/>
          <p:nvPr/>
        </p:nvSpPr>
        <p:spPr>
          <a:xfrm>
            <a:off x="5669280" y="2331720"/>
            <a:ext cx="1838858" cy="1005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13" name="icon-3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4973" y="2492654"/>
            <a:ext cx="347472" cy="347472"/>
          </a:xfrm>
          <a:prstGeom prst="rect">
            <a:avLst/>
          </a:prstGeom>
        </p:spPr>
      </p:pic>
      <p:sp>
        <p:nvSpPr>
          <p:cNvPr id="14" name="text-34"/>
          <p:cNvSpPr txBox="1"/>
          <p:nvPr/>
        </p:nvSpPr>
        <p:spPr>
          <a:xfrm>
            <a:off x="5669280" y="2894990"/>
            <a:ext cx="1838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Корисници</a:t>
            </a:r>
            <a:endParaRPr lang="en-US" sz="1400" dirty="0"/>
          </a:p>
        </p:txBody>
      </p:sp>
      <p:sp>
        <p:nvSpPr>
          <p:cNvPr id="15" name="arrow-35"/>
          <p:cNvSpPr/>
          <p:nvPr/>
        </p:nvSpPr>
        <p:spPr>
          <a:xfrm>
            <a:off x="6588709" y="3337560"/>
            <a:ext cx="0" cy="41148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dash"/>
          </a:ln>
        </p:spPr>
      </p:sp>
      <p:sp>
        <p:nvSpPr>
          <p:cNvPr id="16" name="tile-36"/>
          <p:cNvSpPr/>
          <p:nvPr/>
        </p:nvSpPr>
        <p:spPr>
          <a:xfrm>
            <a:off x="7736738" y="2331720"/>
            <a:ext cx="1838858" cy="1005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17" name="icon-3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2432" y="2492654"/>
            <a:ext cx="347472" cy="347472"/>
          </a:xfrm>
          <a:prstGeom prst="rect">
            <a:avLst/>
          </a:prstGeom>
        </p:spPr>
      </p:pic>
      <p:sp>
        <p:nvSpPr>
          <p:cNvPr id="18" name="text-38"/>
          <p:cNvSpPr txBox="1"/>
          <p:nvPr/>
        </p:nvSpPr>
        <p:spPr>
          <a:xfrm>
            <a:off x="7736738" y="2894990"/>
            <a:ext cx="1838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Огласи</a:t>
            </a:r>
            <a:endParaRPr lang="en-US" sz="1400" dirty="0"/>
          </a:p>
        </p:txBody>
      </p:sp>
      <p:sp>
        <p:nvSpPr>
          <p:cNvPr id="19" name="arrow-39"/>
          <p:cNvSpPr/>
          <p:nvPr/>
        </p:nvSpPr>
        <p:spPr>
          <a:xfrm>
            <a:off x="8656168" y="3337560"/>
            <a:ext cx="0" cy="41148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dash"/>
          </a:ln>
        </p:spPr>
      </p:sp>
      <p:sp>
        <p:nvSpPr>
          <p:cNvPr id="20" name="tile-40"/>
          <p:cNvSpPr/>
          <p:nvPr/>
        </p:nvSpPr>
        <p:spPr>
          <a:xfrm>
            <a:off x="9804197" y="2331720"/>
            <a:ext cx="1838858" cy="1005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21" name="icon-4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9890" y="2492654"/>
            <a:ext cx="347472" cy="347472"/>
          </a:xfrm>
          <a:prstGeom prst="rect">
            <a:avLst/>
          </a:prstGeom>
        </p:spPr>
      </p:pic>
      <p:sp>
        <p:nvSpPr>
          <p:cNvPr id="22" name="text-42"/>
          <p:cNvSpPr txBox="1"/>
          <p:nvPr/>
        </p:nvSpPr>
        <p:spPr>
          <a:xfrm>
            <a:off x="9804197" y="2894990"/>
            <a:ext cx="1838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Блог</a:t>
            </a:r>
            <a:endParaRPr lang="en-US" sz="1400" dirty="0"/>
          </a:p>
        </p:txBody>
      </p:sp>
      <p:sp>
        <p:nvSpPr>
          <p:cNvPr id="23" name="arrow-43"/>
          <p:cNvSpPr/>
          <p:nvPr/>
        </p:nvSpPr>
        <p:spPr>
          <a:xfrm>
            <a:off x="10723626" y="3337560"/>
            <a:ext cx="0" cy="41148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dash"/>
          </a:ln>
        </p:spPr>
      </p:sp>
      <p:sp>
        <p:nvSpPr>
          <p:cNvPr id="24" name="tile-44"/>
          <p:cNvSpPr/>
          <p:nvPr/>
        </p:nvSpPr>
        <p:spPr>
          <a:xfrm>
            <a:off x="5669280" y="4160520"/>
            <a:ext cx="1838858" cy="1005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25" name="icon-4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4973" y="4321454"/>
            <a:ext cx="347472" cy="347472"/>
          </a:xfrm>
          <a:prstGeom prst="rect">
            <a:avLst/>
          </a:prstGeom>
        </p:spPr>
      </p:pic>
      <p:sp>
        <p:nvSpPr>
          <p:cNvPr id="26" name="text-46"/>
          <p:cNvSpPr txBox="1"/>
          <p:nvPr/>
        </p:nvSpPr>
        <p:spPr>
          <a:xfrm>
            <a:off x="5669280" y="4723790"/>
            <a:ext cx="1838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Разговори</a:t>
            </a:r>
            <a:endParaRPr lang="en-US" sz="1400" dirty="0"/>
          </a:p>
        </p:txBody>
      </p:sp>
      <p:sp>
        <p:nvSpPr>
          <p:cNvPr id="27" name="arrow-47"/>
          <p:cNvSpPr/>
          <p:nvPr/>
        </p:nvSpPr>
        <p:spPr>
          <a:xfrm>
            <a:off x="6588709" y="3749040"/>
            <a:ext cx="0" cy="41148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dash"/>
          </a:ln>
        </p:spPr>
      </p:sp>
      <p:sp>
        <p:nvSpPr>
          <p:cNvPr id="28" name="tile-48"/>
          <p:cNvSpPr/>
          <p:nvPr/>
        </p:nvSpPr>
        <p:spPr>
          <a:xfrm>
            <a:off x="7736738" y="4160520"/>
            <a:ext cx="1838858" cy="1005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29" name="icon-4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2432" y="4321454"/>
            <a:ext cx="347472" cy="347472"/>
          </a:xfrm>
          <a:prstGeom prst="rect">
            <a:avLst/>
          </a:prstGeom>
        </p:spPr>
      </p:pic>
      <p:sp>
        <p:nvSpPr>
          <p:cNvPr id="30" name="text-50"/>
          <p:cNvSpPr txBox="1"/>
          <p:nvPr/>
        </p:nvSpPr>
        <p:spPr>
          <a:xfrm>
            <a:off x="7736738" y="4723790"/>
            <a:ext cx="1838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Плаќања</a:t>
            </a:r>
            <a:endParaRPr lang="en-US" sz="1400" dirty="0"/>
          </a:p>
        </p:txBody>
      </p:sp>
      <p:sp>
        <p:nvSpPr>
          <p:cNvPr id="31" name="arrow-51"/>
          <p:cNvSpPr/>
          <p:nvPr/>
        </p:nvSpPr>
        <p:spPr>
          <a:xfrm>
            <a:off x="8656168" y="3749040"/>
            <a:ext cx="0" cy="41148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dash"/>
          </a:ln>
        </p:spPr>
      </p:sp>
      <p:sp>
        <p:nvSpPr>
          <p:cNvPr id="32" name="tile-52"/>
          <p:cNvSpPr/>
          <p:nvPr/>
        </p:nvSpPr>
        <p:spPr>
          <a:xfrm>
            <a:off x="9804197" y="4160520"/>
            <a:ext cx="1838858" cy="1005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33" name="icon-5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49890" y="4321454"/>
            <a:ext cx="347472" cy="347472"/>
          </a:xfrm>
          <a:prstGeom prst="rect">
            <a:avLst/>
          </a:prstGeom>
        </p:spPr>
      </p:pic>
      <p:sp>
        <p:nvSpPr>
          <p:cNvPr id="34" name="text-54"/>
          <p:cNvSpPr txBox="1"/>
          <p:nvPr/>
        </p:nvSpPr>
        <p:spPr>
          <a:xfrm>
            <a:off x="9804197" y="4723790"/>
            <a:ext cx="1838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Известувања</a:t>
            </a:r>
            <a:endParaRPr lang="en-US" sz="1400" dirty="0"/>
          </a:p>
        </p:txBody>
      </p:sp>
      <p:sp>
        <p:nvSpPr>
          <p:cNvPr id="35" name="arrow-55"/>
          <p:cNvSpPr/>
          <p:nvPr/>
        </p:nvSpPr>
        <p:spPr>
          <a:xfrm>
            <a:off x="10723626" y="3749040"/>
            <a:ext cx="0" cy="41148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dash"/>
          </a:ln>
        </p:spPr>
      </p:sp>
      <p:sp>
        <p:nvSpPr>
          <p:cNvPr id="36" name="kafka-pill"/>
          <p:cNvSpPr/>
          <p:nvPr/>
        </p:nvSpPr>
        <p:spPr>
          <a:xfrm>
            <a:off x="6845198" y="3566160"/>
            <a:ext cx="155448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7" name="text-56"/>
          <p:cNvSpPr txBox="1"/>
          <p:nvPr/>
        </p:nvSpPr>
        <p:spPr>
          <a:xfrm>
            <a:off x="684519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Kafka · настани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АРХИТЕКТУРА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Сервиси што разговараат преку настани</a:t>
            </a:r>
            <a:endParaRPr lang="en-US" sz="3200" dirty="0"/>
          </a:p>
        </p:txBody>
      </p:sp>
      <p:sp>
        <p:nvSpPr>
          <p:cNvPr id="4" name="k8s-boundary"/>
          <p:cNvSpPr/>
          <p:nvPr/>
        </p:nvSpPr>
        <p:spPr>
          <a:xfrm>
            <a:off x="2423160" y="1645920"/>
            <a:ext cx="9219895" cy="4526280"/>
          </a:xfrm>
          <a:prstGeom prst="roundRect">
            <a:avLst>
              <a:gd name="adj" fmla="val 2020"/>
            </a:avLst>
          </a:prstGeom>
          <a:solidFill>
            <a:schemeClr val="bg1">
              <a:alpha val="50000"/>
            </a:schemeClr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5" name="text-57"/>
          <p:cNvSpPr txBox="1"/>
          <p:nvPr/>
        </p:nvSpPr>
        <p:spPr>
          <a:xfrm>
            <a:off x="2651760" y="1755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KUBERNETES</a:t>
            </a:r>
            <a:endParaRPr lang="en-US" sz="1100" dirty="0"/>
          </a:p>
        </p:txBody>
      </p:sp>
      <p:sp>
        <p:nvSpPr>
          <p:cNvPr id="6" name="box-58"/>
          <p:cNvSpPr/>
          <p:nvPr/>
        </p:nvSpPr>
        <p:spPr>
          <a:xfrm>
            <a:off x="548640" y="2857500"/>
            <a:ext cx="1600200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-59"/>
          <p:cNvSpPr txBox="1"/>
          <p:nvPr/>
        </p:nvSpPr>
        <p:spPr>
          <a:xfrm>
            <a:off x="621792" y="285750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Клиент</a:t>
            </a:r>
            <a:endParaRPr lang="en-US" sz="16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Angular</a:t>
            </a:r>
            <a:endParaRPr lang="en-US" sz="1600" dirty="0"/>
          </a:p>
        </p:txBody>
      </p:sp>
      <p:sp>
        <p:nvSpPr>
          <p:cNvPr id="8" name="box-60"/>
          <p:cNvSpPr/>
          <p:nvPr/>
        </p:nvSpPr>
        <p:spPr>
          <a:xfrm>
            <a:off x="2697480" y="2857500"/>
            <a:ext cx="1783080" cy="914400"/>
          </a:xfrm>
          <a:prstGeom prst="rect">
            <a:avLst/>
          </a:prstGeom>
          <a:solidFill>
            <a:schemeClr val="accent1">
              <a:alpha val="11000"/>
            </a:schemeClr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9" name="text-61"/>
          <p:cNvSpPr txBox="1"/>
          <p:nvPr/>
        </p:nvSpPr>
        <p:spPr>
          <a:xfrm>
            <a:off x="2770632" y="2857500"/>
            <a:ext cx="16367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API Gateway</a:t>
            </a:r>
            <a:endParaRPr lang="en-US" sz="16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JWT · rate limit</a:t>
            </a:r>
            <a:endParaRPr lang="en-US" sz="1600" dirty="0"/>
          </a:p>
        </p:txBody>
      </p:sp>
      <p:sp>
        <p:nvSpPr>
          <p:cNvPr id="10" name="arrow-62"/>
          <p:cNvSpPr/>
          <p:nvPr/>
        </p:nvSpPr>
        <p:spPr>
          <a:xfrm>
            <a:off x="2148840" y="3314700"/>
            <a:ext cx="548640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1" name="arrow-63"/>
          <p:cNvSpPr/>
          <p:nvPr/>
        </p:nvSpPr>
        <p:spPr>
          <a:xfrm>
            <a:off x="4480560" y="3314700"/>
            <a:ext cx="457200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2" name="tile-64"/>
          <p:cNvSpPr/>
          <p:nvPr/>
        </p:nvSpPr>
        <p:spPr>
          <a:xfrm>
            <a:off x="4937760" y="2286000"/>
            <a:ext cx="1325880" cy="9601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13" name="icon-6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6964" y="2439619"/>
            <a:ext cx="347472" cy="347472"/>
          </a:xfrm>
          <a:prstGeom prst="rect">
            <a:avLst/>
          </a:prstGeom>
        </p:spPr>
      </p:pic>
      <p:sp>
        <p:nvSpPr>
          <p:cNvPr id="14" name="text-66"/>
          <p:cNvSpPr txBox="1"/>
          <p:nvPr/>
        </p:nvSpPr>
        <p:spPr>
          <a:xfrm>
            <a:off x="4937760" y="2841955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Корисници</a:t>
            </a:r>
            <a:endParaRPr lang="en-US" sz="1400" dirty="0"/>
          </a:p>
        </p:txBody>
      </p:sp>
      <p:sp>
        <p:nvSpPr>
          <p:cNvPr id="15" name="tile-67"/>
          <p:cNvSpPr/>
          <p:nvPr/>
        </p:nvSpPr>
        <p:spPr>
          <a:xfrm>
            <a:off x="6400800" y="2286000"/>
            <a:ext cx="1325880" cy="9601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16" name="icon-6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0004" y="2439619"/>
            <a:ext cx="347472" cy="347472"/>
          </a:xfrm>
          <a:prstGeom prst="rect">
            <a:avLst/>
          </a:prstGeom>
        </p:spPr>
      </p:pic>
      <p:sp>
        <p:nvSpPr>
          <p:cNvPr id="17" name="text-69"/>
          <p:cNvSpPr txBox="1"/>
          <p:nvPr/>
        </p:nvSpPr>
        <p:spPr>
          <a:xfrm>
            <a:off x="6400800" y="2841955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Огласи</a:t>
            </a:r>
            <a:endParaRPr lang="en-US" sz="1400" dirty="0"/>
          </a:p>
        </p:txBody>
      </p:sp>
      <p:sp>
        <p:nvSpPr>
          <p:cNvPr id="18" name="tile-70"/>
          <p:cNvSpPr/>
          <p:nvPr/>
        </p:nvSpPr>
        <p:spPr>
          <a:xfrm>
            <a:off x="7863840" y="2286000"/>
            <a:ext cx="1325880" cy="9601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19" name="icon-7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3044" y="2439619"/>
            <a:ext cx="347472" cy="347472"/>
          </a:xfrm>
          <a:prstGeom prst="rect">
            <a:avLst/>
          </a:prstGeom>
        </p:spPr>
      </p:pic>
      <p:sp>
        <p:nvSpPr>
          <p:cNvPr id="20" name="text-72"/>
          <p:cNvSpPr txBox="1"/>
          <p:nvPr/>
        </p:nvSpPr>
        <p:spPr>
          <a:xfrm>
            <a:off x="7863840" y="2841955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Блог</a:t>
            </a:r>
            <a:endParaRPr lang="en-US" sz="1400" dirty="0"/>
          </a:p>
        </p:txBody>
      </p:sp>
      <p:sp>
        <p:nvSpPr>
          <p:cNvPr id="21" name="tile-73"/>
          <p:cNvSpPr/>
          <p:nvPr/>
        </p:nvSpPr>
        <p:spPr>
          <a:xfrm>
            <a:off x="4937760" y="3383280"/>
            <a:ext cx="1325880" cy="9601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22" name="icon-7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6964" y="3536899"/>
            <a:ext cx="347472" cy="347472"/>
          </a:xfrm>
          <a:prstGeom prst="rect">
            <a:avLst/>
          </a:prstGeom>
        </p:spPr>
      </p:pic>
      <p:sp>
        <p:nvSpPr>
          <p:cNvPr id="23" name="text-75"/>
          <p:cNvSpPr txBox="1"/>
          <p:nvPr/>
        </p:nvSpPr>
        <p:spPr>
          <a:xfrm>
            <a:off x="4937760" y="3939235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Разговори</a:t>
            </a:r>
            <a:endParaRPr lang="en-US" sz="1400" dirty="0"/>
          </a:p>
        </p:txBody>
      </p:sp>
      <p:sp>
        <p:nvSpPr>
          <p:cNvPr id="24" name="tile-76"/>
          <p:cNvSpPr/>
          <p:nvPr/>
        </p:nvSpPr>
        <p:spPr>
          <a:xfrm>
            <a:off x="6400800" y="3383280"/>
            <a:ext cx="1325880" cy="9601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25" name="icon-7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0004" y="3536899"/>
            <a:ext cx="347472" cy="347472"/>
          </a:xfrm>
          <a:prstGeom prst="rect">
            <a:avLst/>
          </a:prstGeom>
        </p:spPr>
      </p:pic>
      <p:sp>
        <p:nvSpPr>
          <p:cNvPr id="26" name="text-78"/>
          <p:cNvSpPr txBox="1"/>
          <p:nvPr/>
        </p:nvSpPr>
        <p:spPr>
          <a:xfrm>
            <a:off x="6400800" y="3939235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Плаќања</a:t>
            </a:r>
            <a:endParaRPr lang="en-US" sz="1400" dirty="0"/>
          </a:p>
        </p:txBody>
      </p:sp>
      <p:sp>
        <p:nvSpPr>
          <p:cNvPr id="27" name="tile-79"/>
          <p:cNvSpPr/>
          <p:nvPr/>
        </p:nvSpPr>
        <p:spPr>
          <a:xfrm>
            <a:off x="7863840" y="3383280"/>
            <a:ext cx="1325880" cy="9601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28" name="icon-8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3044" y="3536899"/>
            <a:ext cx="347472" cy="347472"/>
          </a:xfrm>
          <a:prstGeom prst="rect">
            <a:avLst/>
          </a:prstGeom>
        </p:spPr>
      </p:pic>
      <p:sp>
        <p:nvSpPr>
          <p:cNvPr id="29" name="text-81"/>
          <p:cNvSpPr txBox="1"/>
          <p:nvPr/>
        </p:nvSpPr>
        <p:spPr>
          <a:xfrm>
            <a:off x="7863840" y="3939235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Известувања</a:t>
            </a:r>
            <a:endParaRPr lang="en-US" sz="1400" dirty="0"/>
          </a:p>
        </p:txBody>
      </p:sp>
      <p:sp>
        <p:nvSpPr>
          <p:cNvPr id="30" name="box-82"/>
          <p:cNvSpPr/>
          <p:nvPr/>
        </p:nvSpPr>
        <p:spPr>
          <a:xfrm>
            <a:off x="9692640" y="2286000"/>
            <a:ext cx="1676095" cy="2057400"/>
          </a:xfrm>
          <a:prstGeom prst="rect">
            <a:avLst/>
          </a:prstGeom>
          <a:solidFill>
            <a:schemeClr val="accent1">
              <a:alpha val="11000"/>
            </a:schemeClr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31" name="text-83"/>
          <p:cNvSpPr txBox="1"/>
          <p:nvPr/>
        </p:nvSpPr>
        <p:spPr>
          <a:xfrm>
            <a:off x="9765792" y="2286000"/>
            <a:ext cx="1529791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Apache Kafka</a:t>
            </a:r>
            <a:endParaRPr lang="en-US" sz="16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настани</a:t>
            </a:r>
            <a:endParaRPr lang="en-US" sz="1600" dirty="0"/>
          </a:p>
        </p:txBody>
      </p:sp>
      <p:sp>
        <p:nvSpPr>
          <p:cNvPr id="32" name="arrow-84"/>
          <p:cNvSpPr/>
          <p:nvPr/>
        </p:nvSpPr>
        <p:spPr>
          <a:xfrm>
            <a:off x="9235440" y="3314700"/>
            <a:ext cx="41148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headEnd type="triangle"/>
            <a:tailEnd type="triangle"/>
          </a:ln>
        </p:spPr>
      </p:sp>
      <p:sp>
        <p:nvSpPr>
          <p:cNvPr id="33" name="box-85"/>
          <p:cNvSpPr/>
          <p:nvPr/>
        </p:nvSpPr>
        <p:spPr>
          <a:xfrm>
            <a:off x="4937760" y="4754880"/>
            <a:ext cx="4251960" cy="8686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4" name="text-86"/>
          <p:cNvSpPr txBox="1"/>
          <p:nvPr/>
        </p:nvSpPr>
        <p:spPr>
          <a:xfrm>
            <a:off x="5010912" y="4754880"/>
            <a:ext cx="4105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PostgreSQL</a:t>
            </a:r>
            <a:endParaRPr lang="en-US" sz="16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своја шема за секој сервис</a:t>
            </a:r>
            <a:endParaRPr lang="en-US" sz="1600" dirty="0"/>
          </a:p>
        </p:txBody>
      </p:sp>
      <p:sp>
        <p:nvSpPr>
          <p:cNvPr id="35" name="arrow-87"/>
          <p:cNvSpPr/>
          <p:nvPr/>
        </p:nvSpPr>
        <p:spPr>
          <a:xfrm>
            <a:off x="7063740" y="4343400"/>
            <a:ext cx="0" cy="41148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36" name="box-88"/>
          <p:cNvSpPr/>
          <p:nvPr/>
        </p:nvSpPr>
        <p:spPr>
          <a:xfrm>
            <a:off x="9692640" y="4754880"/>
            <a:ext cx="1676095" cy="8686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7" name="text-89"/>
          <p:cNvSpPr txBox="1"/>
          <p:nvPr/>
        </p:nvSpPr>
        <p:spPr>
          <a:xfrm>
            <a:off x="9765792" y="4754880"/>
            <a:ext cx="152979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Grafana</a:t>
            </a:r>
            <a:endParaRPr lang="en-US" sz="16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observability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Event driven design</a:t>
            </a:r>
            <a:endParaRPr lang="en-US" sz="3200" dirty="0"/>
          </a:p>
        </p:txBody>
      </p:sp>
      <p:sp>
        <p:nvSpPr>
          <p:cNvPr id="4" name="tile-90"/>
          <p:cNvSpPr/>
          <p:nvPr/>
        </p:nvSpPr>
        <p:spPr>
          <a:xfrm>
            <a:off x="548640" y="2583180"/>
            <a:ext cx="2011680" cy="11887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5" name="icon-9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0744" y="2773375"/>
            <a:ext cx="347472" cy="347472"/>
          </a:xfrm>
          <a:prstGeom prst="rect">
            <a:avLst/>
          </a:prstGeom>
        </p:spPr>
      </p:pic>
      <p:sp>
        <p:nvSpPr>
          <p:cNvPr id="6" name="text-92"/>
          <p:cNvSpPr txBox="1"/>
          <p:nvPr/>
        </p:nvSpPr>
        <p:spPr>
          <a:xfrm>
            <a:off x="548640" y="3175711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Корисници</a:t>
            </a:r>
            <a:endParaRPr lang="en-US" sz="1400" dirty="0"/>
          </a:p>
        </p:txBody>
      </p:sp>
      <p:sp>
        <p:nvSpPr>
          <p:cNvPr id="7" name="tx"/>
          <p:cNvSpPr/>
          <p:nvPr/>
        </p:nvSpPr>
        <p:spPr>
          <a:xfrm>
            <a:off x="3063240" y="2286000"/>
            <a:ext cx="3566160" cy="1783080"/>
          </a:xfrm>
          <a:prstGeom prst="rect">
            <a:avLst/>
          </a:prstGeom>
          <a:solidFill>
            <a:schemeClr val="accent1">
              <a:alpha val="11000"/>
            </a:schemeClr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8" name="text-93"/>
          <p:cNvSpPr txBox="1"/>
          <p:nvPr/>
        </p:nvSpPr>
        <p:spPr>
          <a:xfrm>
            <a:off x="3063240" y="2423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ЕДНА ТРАНСАКЦИЈА</a:t>
            </a:r>
            <a:endParaRPr lang="en-US" sz="1100" dirty="0"/>
          </a:p>
        </p:txBody>
      </p:sp>
      <p:sp>
        <p:nvSpPr>
          <p:cNvPr id="9" name="box-94"/>
          <p:cNvSpPr/>
          <p:nvPr/>
        </p:nvSpPr>
        <p:spPr>
          <a:xfrm>
            <a:off x="3337560" y="2834640"/>
            <a:ext cx="3017520" cy="502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-95"/>
          <p:cNvSpPr txBox="1"/>
          <p:nvPr/>
        </p:nvSpPr>
        <p:spPr>
          <a:xfrm>
            <a:off x="3410712" y="2834640"/>
            <a:ext cx="2871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нов телефон</a:t>
            </a:r>
            <a:endParaRPr lang="en-US" sz="1600" dirty="0"/>
          </a:p>
        </p:txBody>
      </p:sp>
      <p:sp>
        <p:nvSpPr>
          <p:cNvPr id="11" name="box-96"/>
          <p:cNvSpPr/>
          <p:nvPr/>
        </p:nvSpPr>
        <p:spPr>
          <a:xfrm>
            <a:off x="3337560" y="3429000"/>
            <a:ext cx="3017520" cy="502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-97"/>
          <p:cNvSpPr txBox="1"/>
          <p:nvPr/>
        </p:nvSpPr>
        <p:spPr>
          <a:xfrm>
            <a:off x="3410712" y="3429000"/>
            <a:ext cx="2871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порака во outbox</a:t>
            </a:r>
            <a:endParaRPr lang="en-US" sz="1600" dirty="0"/>
          </a:p>
        </p:txBody>
      </p:sp>
      <p:sp>
        <p:nvSpPr>
          <p:cNvPr id="13" name="box-98"/>
          <p:cNvSpPr/>
          <p:nvPr/>
        </p:nvSpPr>
        <p:spPr>
          <a:xfrm>
            <a:off x="7132320" y="2583180"/>
            <a:ext cx="1828800" cy="11887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14" name="text-99"/>
          <p:cNvSpPr txBox="1"/>
          <p:nvPr/>
        </p:nvSpPr>
        <p:spPr>
          <a:xfrm>
            <a:off x="7205472" y="2583180"/>
            <a:ext cx="16824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Kafka</a:t>
            </a:r>
            <a:endParaRPr lang="en-US" sz="16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брокер</a:t>
            </a:r>
            <a:endParaRPr lang="en-US" sz="1600" dirty="0"/>
          </a:p>
        </p:txBody>
      </p:sp>
      <p:sp>
        <p:nvSpPr>
          <p:cNvPr id="15" name="tile-100"/>
          <p:cNvSpPr/>
          <p:nvPr/>
        </p:nvSpPr>
        <p:spPr>
          <a:xfrm>
            <a:off x="9464040" y="2583180"/>
            <a:ext cx="2179015" cy="11887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16" name="icon-10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9812" y="2773375"/>
            <a:ext cx="347472" cy="347472"/>
          </a:xfrm>
          <a:prstGeom prst="rect">
            <a:avLst/>
          </a:prstGeom>
        </p:spPr>
      </p:pic>
      <p:sp>
        <p:nvSpPr>
          <p:cNvPr id="17" name="text-102"/>
          <p:cNvSpPr txBox="1"/>
          <p:nvPr/>
        </p:nvSpPr>
        <p:spPr>
          <a:xfrm>
            <a:off x="9464040" y="3175711"/>
            <a:ext cx="2179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Огласи</a:t>
            </a:r>
            <a:endParaRPr lang="en-US" sz="1400" dirty="0"/>
          </a:p>
        </p:txBody>
      </p:sp>
      <p:sp>
        <p:nvSpPr>
          <p:cNvPr id="18" name="arrow-103"/>
          <p:cNvSpPr/>
          <p:nvPr/>
        </p:nvSpPr>
        <p:spPr>
          <a:xfrm>
            <a:off x="2606040" y="3177540"/>
            <a:ext cx="41148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9" name="arrow-104"/>
          <p:cNvSpPr/>
          <p:nvPr/>
        </p:nvSpPr>
        <p:spPr>
          <a:xfrm>
            <a:off x="6675120" y="3177540"/>
            <a:ext cx="41148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0" name="arrow-105"/>
          <p:cNvSpPr/>
          <p:nvPr/>
        </p:nvSpPr>
        <p:spPr>
          <a:xfrm>
            <a:off x="9006840" y="3177540"/>
            <a:ext cx="41148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pic>
        <p:nvPicPr>
          <p:cNvPr id="21" name="icon-10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617720"/>
            <a:ext cx="365760" cy="365760"/>
          </a:xfrm>
          <a:prstGeom prst="rect">
            <a:avLst/>
          </a:prstGeom>
        </p:spPr>
      </p:pic>
      <p:sp>
        <p:nvSpPr>
          <p:cNvPr id="22" name="text-107"/>
          <p:cNvSpPr txBox="1"/>
          <p:nvPr/>
        </p:nvSpPr>
        <p:spPr>
          <a:xfrm>
            <a:off x="1051560" y="4572000"/>
            <a:ext cx="3012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Или двете, или ниедно</a:t>
            </a:r>
            <a:endParaRPr lang="en-US" sz="1800" dirty="0"/>
          </a:p>
        </p:txBody>
      </p:sp>
      <p:sp>
        <p:nvSpPr>
          <p:cNvPr id="23" name="text-108"/>
          <p:cNvSpPr txBox="1"/>
          <p:nvPr/>
        </p:nvSpPr>
        <p:spPr>
          <a:xfrm>
            <a:off x="1051560" y="5029200"/>
            <a:ext cx="3012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телефонот и пораката се запишуваат заедно</a:t>
            </a:r>
            <a:endParaRPr lang="en-US" sz="1500" dirty="0"/>
          </a:p>
        </p:txBody>
      </p:sp>
      <p:pic>
        <p:nvPicPr>
          <p:cNvPr id="24" name="icon-10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8218" y="4617720"/>
            <a:ext cx="365760" cy="365760"/>
          </a:xfrm>
          <a:prstGeom prst="rect">
            <a:avLst/>
          </a:prstGeom>
        </p:spPr>
      </p:pic>
      <p:sp>
        <p:nvSpPr>
          <p:cNvPr id="25" name="text-110"/>
          <p:cNvSpPr txBox="1"/>
          <p:nvPr/>
        </p:nvSpPr>
        <p:spPr>
          <a:xfrm>
            <a:off x="4841138" y="4572000"/>
            <a:ext cx="3012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Kafka падна? Пораката чека</a:t>
            </a:r>
            <a:endParaRPr lang="en-US" sz="1800" dirty="0"/>
          </a:p>
        </p:txBody>
      </p:sp>
      <p:sp>
        <p:nvSpPr>
          <p:cNvPr id="26" name="text-111"/>
          <p:cNvSpPr txBox="1"/>
          <p:nvPr/>
        </p:nvSpPr>
        <p:spPr>
          <a:xfrm>
            <a:off x="4841138" y="5029200"/>
            <a:ext cx="3012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се праќа штом брокерот ќе се врати</a:t>
            </a:r>
            <a:endParaRPr lang="en-US" sz="1500" dirty="0"/>
          </a:p>
        </p:txBody>
      </p:sp>
      <p:pic>
        <p:nvPicPr>
          <p:cNvPr id="27" name="icon-11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7797" y="4617720"/>
            <a:ext cx="365760" cy="365760"/>
          </a:xfrm>
          <a:prstGeom prst="rect">
            <a:avLst/>
          </a:prstGeom>
        </p:spPr>
      </p:pic>
      <p:sp>
        <p:nvSpPr>
          <p:cNvPr id="28" name="text-113"/>
          <p:cNvSpPr txBox="1"/>
          <p:nvPr/>
        </p:nvSpPr>
        <p:spPr>
          <a:xfrm>
            <a:off x="8630717" y="4572000"/>
            <a:ext cx="3012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Стигна двапати? Се игнорира</a:t>
            </a:r>
            <a:endParaRPr lang="en-US" sz="1800" dirty="0"/>
          </a:p>
        </p:txBody>
      </p:sp>
      <p:sp>
        <p:nvSpPr>
          <p:cNvPr id="29" name="text-114"/>
          <p:cNvSpPr txBox="1"/>
          <p:nvPr/>
        </p:nvSpPr>
        <p:spPr>
          <a:xfrm>
            <a:off x="8630717" y="5029200"/>
            <a:ext cx="3012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примачот памти што веќе обработил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PRODUCTION-GRADE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Автоматска испорака, видлив систем</a:t>
            </a:r>
            <a:endParaRPr lang="en-US" sz="3200" dirty="0"/>
          </a:p>
        </p:txBody>
      </p:sp>
      <p:sp>
        <p:nvSpPr>
          <p:cNvPr id="4" name="card-115"/>
          <p:cNvSpPr/>
          <p:nvPr/>
        </p:nvSpPr>
        <p:spPr>
          <a:xfrm>
            <a:off x="548640" y="1691640"/>
            <a:ext cx="5410048" cy="4480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5" name="text-116"/>
          <p:cNvSpPr txBox="1"/>
          <p:nvPr/>
        </p:nvSpPr>
        <p:spPr>
          <a:xfrm>
            <a:off x="914400" y="1965960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ОРКЕСТРАЦИЈА · GITOPS</a:t>
            </a:r>
            <a:endParaRPr lang="en-US" sz="1100" dirty="0"/>
          </a:p>
        </p:txBody>
      </p:sp>
      <p:sp>
        <p:nvSpPr>
          <p:cNvPr id="6" name="icon-bg-117"/>
          <p:cNvSpPr/>
          <p:nvPr/>
        </p:nvSpPr>
        <p:spPr>
          <a:xfrm>
            <a:off x="1005840" y="2514600"/>
            <a:ext cx="731520" cy="73152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7" name="icon-11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6035" y="2704795"/>
            <a:ext cx="351130" cy="351130"/>
          </a:xfrm>
          <a:prstGeom prst="rect">
            <a:avLst/>
          </a:prstGeom>
        </p:spPr>
      </p:pic>
      <p:sp>
        <p:nvSpPr>
          <p:cNvPr id="8" name="text-119"/>
          <p:cNvSpPr txBox="1"/>
          <p:nvPr/>
        </p:nvSpPr>
        <p:spPr>
          <a:xfrm>
            <a:off x="731520" y="33375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</a:t>
            </a:r>
            <a:endParaRPr lang="en-US" sz="1500" dirty="0"/>
          </a:p>
        </p:txBody>
      </p:sp>
      <p:sp>
        <p:nvSpPr>
          <p:cNvPr id="9" name="arrow-120"/>
          <p:cNvSpPr/>
          <p:nvPr/>
        </p:nvSpPr>
        <p:spPr>
          <a:xfrm>
            <a:off x="1783080" y="2880360"/>
            <a:ext cx="431749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icon-bg-121"/>
          <p:cNvSpPr/>
          <p:nvPr/>
        </p:nvSpPr>
        <p:spPr>
          <a:xfrm>
            <a:off x="2260549" y="2514600"/>
            <a:ext cx="731520" cy="73152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1" name="icon-12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0744" y="2704795"/>
            <a:ext cx="351130" cy="351130"/>
          </a:xfrm>
          <a:prstGeom prst="rect">
            <a:avLst/>
          </a:prstGeom>
        </p:spPr>
      </p:pic>
      <p:sp>
        <p:nvSpPr>
          <p:cNvPr id="12" name="text-123"/>
          <p:cNvSpPr txBox="1"/>
          <p:nvPr/>
        </p:nvSpPr>
        <p:spPr>
          <a:xfrm>
            <a:off x="1986229" y="33375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CI</a:t>
            </a:r>
            <a:endParaRPr lang="en-US" sz="1500" dirty="0"/>
          </a:p>
        </p:txBody>
      </p:sp>
      <p:sp>
        <p:nvSpPr>
          <p:cNvPr id="13" name="arrow-124"/>
          <p:cNvSpPr/>
          <p:nvPr/>
        </p:nvSpPr>
        <p:spPr>
          <a:xfrm>
            <a:off x="3037789" y="2880360"/>
            <a:ext cx="431749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4" name="icon-bg-125"/>
          <p:cNvSpPr/>
          <p:nvPr/>
        </p:nvSpPr>
        <p:spPr>
          <a:xfrm>
            <a:off x="3515258" y="2514600"/>
            <a:ext cx="731520" cy="73152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5" name="icon-12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454" y="2704795"/>
            <a:ext cx="351130" cy="351130"/>
          </a:xfrm>
          <a:prstGeom prst="rect">
            <a:avLst/>
          </a:prstGeom>
        </p:spPr>
      </p:pic>
      <p:sp>
        <p:nvSpPr>
          <p:cNvPr id="16" name="text-127"/>
          <p:cNvSpPr txBox="1"/>
          <p:nvPr/>
        </p:nvSpPr>
        <p:spPr>
          <a:xfrm>
            <a:off x="3240938" y="33375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ArgoCD</a:t>
            </a:r>
            <a:endParaRPr lang="en-US" sz="1500" dirty="0"/>
          </a:p>
        </p:txBody>
      </p:sp>
      <p:sp>
        <p:nvSpPr>
          <p:cNvPr id="17" name="arrow-128"/>
          <p:cNvSpPr/>
          <p:nvPr/>
        </p:nvSpPr>
        <p:spPr>
          <a:xfrm>
            <a:off x="4292498" y="2880360"/>
            <a:ext cx="431749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8" name="icon-bg-129"/>
          <p:cNvSpPr/>
          <p:nvPr/>
        </p:nvSpPr>
        <p:spPr>
          <a:xfrm>
            <a:off x="4769968" y="2514600"/>
            <a:ext cx="731520" cy="73152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9" name="icon-13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0163" y="2704795"/>
            <a:ext cx="351130" cy="351130"/>
          </a:xfrm>
          <a:prstGeom prst="rect">
            <a:avLst/>
          </a:prstGeom>
        </p:spPr>
      </p:pic>
      <p:sp>
        <p:nvSpPr>
          <p:cNvPr id="20" name="text-131"/>
          <p:cNvSpPr txBox="1"/>
          <p:nvPr/>
        </p:nvSpPr>
        <p:spPr>
          <a:xfrm>
            <a:off x="4495648" y="33375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Kubernetes</a:t>
            </a:r>
            <a:endParaRPr lang="en-US" sz="1500" dirty="0"/>
          </a:p>
        </p:txBody>
      </p:sp>
      <p:sp>
        <p:nvSpPr>
          <p:cNvPr id="21" name="rule-l"/>
          <p:cNvSpPr/>
          <p:nvPr/>
        </p:nvSpPr>
        <p:spPr>
          <a:xfrm>
            <a:off x="914400" y="4023360"/>
            <a:ext cx="467852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chip-132"/>
          <p:cNvSpPr/>
          <p:nvPr/>
        </p:nvSpPr>
        <p:spPr>
          <a:xfrm>
            <a:off x="914400" y="4343400"/>
            <a:ext cx="2224964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-133"/>
          <p:cNvSpPr txBox="1"/>
          <p:nvPr/>
        </p:nvSpPr>
        <p:spPr>
          <a:xfrm>
            <a:off x="914400" y="4343400"/>
            <a:ext cx="2224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автоскалирање</a:t>
            </a:r>
            <a:endParaRPr lang="en-US" sz="1500" dirty="0"/>
          </a:p>
        </p:txBody>
      </p:sp>
      <p:sp>
        <p:nvSpPr>
          <p:cNvPr id="24" name="chip-134"/>
          <p:cNvSpPr/>
          <p:nvPr/>
        </p:nvSpPr>
        <p:spPr>
          <a:xfrm>
            <a:off x="3367964" y="4343400"/>
            <a:ext cx="2224964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-135"/>
          <p:cNvSpPr txBox="1"/>
          <p:nvPr/>
        </p:nvSpPr>
        <p:spPr>
          <a:xfrm>
            <a:off x="3367964" y="4343400"/>
            <a:ext cx="2224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health проби</a:t>
            </a:r>
            <a:endParaRPr lang="en-US" sz="1500" dirty="0"/>
          </a:p>
        </p:txBody>
      </p:sp>
      <p:sp>
        <p:nvSpPr>
          <p:cNvPr id="26" name="chip-136"/>
          <p:cNvSpPr/>
          <p:nvPr/>
        </p:nvSpPr>
        <p:spPr>
          <a:xfrm>
            <a:off x="914400" y="5120640"/>
            <a:ext cx="2224964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-137"/>
          <p:cNvSpPr txBox="1"/>
          <p:nvPr/>
        </p:nvSpPr>
        <p:spPr>
          <a:xfrm>
            <a:off x="914400" y="5120640"/>
            <a:ext cx="2224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мрежна изолација</a:t>
            </a:r>
            <a:endParaRPr lang="en-US" sz="1500" dirty="0"/>
          </a:p>
        </p:txBody>
      </p:sp>
      <p:sp>
        <p:nvSpPr>
          <p:cNvPr id="28" name="chip-138"/>
          <p:cNvSpPr/>
          <p:nvPr/>
        </p:nvSpPr>
        <p:spPr>
          <a:xfrm>
            <a:off x="3367964" y="5120640"/>
            <a:ext cx="2224964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9" name="text-139"/>
          <p:cNvSpPr txBox="1"/>
          <p:nvPr/>
        </p:nvSpPr>
        <p:spPr>
          <a:xfrm>
            <a:off x="3367964" y="5120640"/>
            <a:ext cx="2224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Helm charts</a:t>
            </a:r>
            <a:endParaRPr lang="en-US" sz="1500" dirty="0"/>
          </a:p>
        </p:txBody>
      </p:sp>
      <p:sp>
        <p:nvSpPr>
          <p:cNvPr id="30" name="card-140"/>
          <p:cNvSpPr/>
          <p:nvPr/>
        </p:nvSpPr>
        <p:spPr>
          <a:xfrm>
            <a:off x="6233008" y="1691640"/>
            <a:ext cx="5410048" cy="4480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31" name="text-141"/>
          <p:cNvSpPr txBox="1"/>
          <p:nvPr/>
        </p:nvSpPr>
        <p:spPr>
          <a:xfrm>
            <a:off x="6598768" y="1965960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OBSERVABILITY · OPENTELEMETRY</a:t>
            </a:r>
            <a:endParaRPr lang="en-US" sz="1100" dirty="0"/>
          </a:p>
        </p:txBody>
      </p:sp>
      <p:sp>
        <p:nvSpPr>
          <p:cNvPr id="32" name="icon-bg-142"/>
          <p:cNvSpPr/>
          <p:nvPr/>
        </p:nvSpPr>
        <p:spPr>
          <a:xfrm>
            <a:off x="6598768" y="2468880"/>
            <a:ext cx="640080" cy="64008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33" name="icon-14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5188" y="2635301"/>
            <a:ext cx="307238" cy="307238"/>
          </a:xfrm>
          <a:prstGeom prst="rect">
            <a:avLst/>
          </a:prstGeom>
        </p:spPr>
      </p:pic>
      <p:sp>
        <p:nvSpPr>
          <p:cNvPr id="34" name="text-144"/>
          <p:cNvSpPr txBox="1"/>
          <p:nvPr/>
        </p:nvSpPr>
        <p:spPr>
          <a:xfrm>
            <a:off x="7421728" y="2450592"/>
            <a:ext cx="385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Метрики  </a:t>
            </a:r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Prometheus</a:t>
            </a:r>
            <a:endParaRPr lang="en-US" sz="1600" dirty="0"/>
          </a:p>
        </p:txBody>
      </p:sp>
      <p:sp>
        <p:nvSpPr>
          <p:cNvPr id="35" name="text-145"/>
          <p:cNvSpPr txBox="1"/>
          <p:nvPr/>
        </p:nvSpPr>
        <p:spPr>
          <a:xfrm>
            <a:off x="7421728" y="2798064"/>
            <a:ext cx="385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дали нешто не е во ред?</a:t>
            </a:r>
            <a:endParaRPr lang="en-US" sz="1500" dirty="0"/>
          </a:p>
        </p:txBody>
      </p:sp>
      <p:sp>
        <p:nvSpPr>
          <p:cNvPr id="36" name="icon-bg-146"/>
          <p:cNvSpPr/>
          <p:nvPr/>
        </p:nvSpPr>
        <p:spPr>
          <a:xfrm>
            <a:off x="6598768" y="3383280"/>
            <a:ext cx="640080" cy="64008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37" name="icon-14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5188" y="3549701"/>
            <a:ext cx="307238" cy="307238"/>
          </a:xfrm>
          <a:prstGeom prst="rect">
            <a:avLst/>
          </a:prstGeom>
        </p:spPr>
      </p:pic>
      <p:sp>
        <p:nvSpPr>
          <p:cNvPr id="38" name="text-148"/>
          <p:cNvSpPr txBox="1"/>
          <p:nvPr/>
        </p:nvSpPr>
        <p:spPr>
          <a:xfrm>
            <a:off x="7421728" y="3364992"/>
            <a:ext cx="385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Логови  </a:t>
            </a:r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Loki</a:t>
            </a:r>
            <a:endParaRPr lang="en-US" sz="1600" dirty="0"/>
          </a:p>
        </p:txBody>
      </p:sp>
      <p:sp>
        <p:nvSpPr>
          <p:cNvPr id="39" name="text-149"/>
          <p:cNvSpPr txBox="1"/>
          <p:nvPr/>
        </p:nvSpPr>
        <p:spPr>
          <a:xfrm>
            <a:off x="7421728" y="3712464"/>
            <a:ext cx="385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што точно се случило?</a:t>
            </a:r>
            <a:endParaRPr lang="en-US" sz="1500" dirty="0"/>
          </a:p>
        </p:txBody>
      </p:sp>
      <p:sp>
        <p:nvSpPr>
          <p:cNvPr id="40" name="icon-bg-150"/>
          <p:cNvSpPr/>
          <p:nvPr/>
        </p:nvSpPr>
        <p:spPr>
          <a:xfrm>
            <a:off x="6598768" y="4297680"/>
            <a:ext cx="640080" cy="64008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41" name="icon-15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5188" y="4464101"/>
            <a:ext cx="307238" cy="307238"/>
          </a:xfrm>
          <a:prstGeom prst="rect">
            <a:avLst/>
          </a:prstGeom>
        </p:spPr>
      </p:pic>
      <p:sp>
        <p:nvSpPr>
          <p:cNvPr id="42" name="text-152"/>
          <p:cNvSpPr txBox="1"/>
          <p:nvPr/>
        </p:nvSpPr>
        <p:spPr>
          <a:xfrm>
            <a:off x="7421728" y="4279392"/>
            <a:ext cx="385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Traces  </a:t>
            </a:r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Tempo</a:t>
            </a:r>
            <a:endParaRPr lang="en-US" sz="1600" dirty="0"/>
          </a:p>
        </p:txBody>
      </p:sp>
      <p:sp>
        <p:nvSpPr>
          <p:cNvPr id="43" name="text-153"/>
          <p:cNvSpPr txBox="1"/>
          <p:nvPr/>
        </p:nvSpPr>
        <p:spPr>
          <a:xfrm>
            <a:off x="7421728" y="4626864"/>
            <a:ext cx="385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каде се случило?</a:t>
            </a:r>
            <a:endParaRPr lang="en-US" sz="1500" dirty="0"/>
          </a:p>
        </p:txBody>
      </p:sp>
      <p:sp>
        <p:nvSpPr>
          <p:cNvPr id="44" name="rule-r"/>
          <p:cNvSpPr/>
          <p:nvPr/>
        </p:nvSpPr>
        <p:spPr>
          <a:xfrm>
            <a:off x="6598768" y="5303520"/>
            <a:ext cx="467852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pic>
        <p:nvPicPr>
          <p:cNvPr id="45" name="icon-15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5928" y="5550408"/>
            <a:ext cx="365760" cy="365760"/>
          </a:xfrm>
          <a:prstGeom prst="rect">
            <a:avLst/>
          </a:prstGeom>
        </p:spPr>
      </p:pic>
      <p:sp>
        <p:nvSpPr>
          <p:cNvPr id="46" name="text-155"/>
          <p:cNvSpPr txBox="1"/>
          <p:nvPr/>
        </p:nvSpPr>
        <p:spPr>
          <a:xfrm>
            <a:off x="7421728" y="5486400"/>
            <a:ext cx="385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Grafana: </a:t>
            </a:r>
            <a:pPr indent="0" marL="0">
              <a:buNone/>
            </a:pPr>
            <a:r>
              <a:rPr lang="en-US" sz="1700" dirty="0">
                <a:solidFill>
                  <a:schemeClr val="accent2"/>
                </a:solidFill>
              </a:rPr>
              <a:t>dashboards и аларми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ЕВАЛУАЦИЈА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Како ќе докажам дека работи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Наместо „еве, работи“ — контролирани експерименти врз двете верзии.</a:t>
            </a:r>
            <a:endParaRPr lang="en-US" sz="1800" dirty="0"/>
          </a:p>
        </p:txBody>
      </p:sp>
      <p:sp>
        <p:nvSpPr>
          <p:cNvPr id="5" name="card-156"/>
          <p:cNvSpPr/>
          <p:nvPr/>
        </p:nvSpPr>
        <p:spPr>
          <a:xfrm>
            <a:off x="548640" y="2011680"/>
            <a:ext cx="5410048" cy="19659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6" name="icon-bg-157"/>
          <p:cNvSpPr/>
          <p:nvPr/>
        </p:nvSpPr>
        <p:spPr>
          <a:xfrm>
            <a:off x="914400" y="2377440"/>
            <a:ext cx="685800" cy="6858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7" name="icon-15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" y="2555748"/>
            <a:ext cx="329184" cy="329184"/>
          </a:xfrm>
          <a:prstGeom prst="rect">
            <a:avLst/>
          </a:prstGeom>
        </p:spPr>
      </p:pic>
      <p:sp>
        <p:nvSpPr>
          <p:cNvPr id="8" name="text-159"/>
          <p:cNvSpPr txBox="1"/>
          <p:nvPr/>
        </p:nvSpPr>
        <p:spPr>
          <a:xfrm>
            <a:off x="1828800" y="2359152"/>
            <a:ext cx="3764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Пад на Kafka</a:t>
            </a:r>
            <a:endParaRPr lang="en-US" sz="2000" dirty="0"/>
          </a:p>
        </p:txBody>
      </p:sp>
      <p:sp>
        <p:nvSpPr>
          <p:cNvPr id="9" name="text-160"/>
          <p:cNvSpPr txBox="1"/>
          <p:nvPr/>
        </p:nvSpPr>
        <p:spPr>
          <a:xfrm>
            <a:off x="1828800" y="2971800"/>
            <a:ext cx="3764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Ја гасам Kafka додека системот работи и проверувам дека ниту еден настан не е изгубен.</a:t>
            </a:r>
            <a:endParaRPr lang="en-US" sz="1600" dirty="0"/>
          </a:p>
        </p:txBody>
      </p:sp>
      <p:sp>
        <p:nvSpPr>
          <p:cNvPr id="10" name="card-161"/>
          <p:cNvSpPr/>
          <p:nvPr/>
        </p:nvSpPr>
        <p:spPr>
          <a:xfrm>
            <a:off x="6233008" y="2011680"/>
            <a:ext cx="5410048" cy="19659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11" name="icon-bg-162"/>
          <p:cNvSpPr/>
          <p:nvPr/>
        </p:nvSpPr>
        <p:spPr>
          <a:xfrm>
            <a:off x="6598768" y="2377440"/>
            <a:ext cx="685800" cy="6858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2" name="icon-16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7076" y="2555748"/>
            <a:ext cx="329184" cy="329184"/>
          </a:xfrm>
          <a:prstGeom prst="rect">
            <a:avLst/>
          </a:prstGeom>
        </p:spPr>
      </p:pic>
      <p:sp>
        <p:nvSpPr>
          <p:cNvPr id="13" name="text-164"/>
          <p:cNvSpPr txBox="1"/>
          <p:nvPr/>
        </p:nvSpPr>
        <p:spPr>
          <a:xfrm>
            <a:off x="7513168" y="2359152"/>
            <a:ext cx="3764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Дупла порака</a:t>
            </a:r>
            <a:endParaRPr lang="en-US" sz="2000" dirty="0"/>
          </a:p>
        </p:txBody>
      </p:sp>
      <p:sp>
        <p:nvSpPr>
          <p:cNvPr id="14" name="text-165"/>
          <p:cNvSpPr txBox="1"/>
          <p:nvPr/>
        </p:nvSpPr>
        <p:spPr>
          <a:xfrm>
            <a:off x="7513168" y="2971800"/>
            <a:ext cx="3764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Истиот настан го праќам двапати и проверувам дека корисникот добива само едно известување.</a:t>
            </a:r>
            <a:endParaRPr lang="en-US" sz="1600" dirty="0"/>
          </a:p>
        </p:txBody>
      </p:sp>
      <p:sp>
        <p:nvSpPr>
          <p:cNvPr id="15" name="card-166"/>
          <p:cNvSpPr/>
          <p:nvPr/>
        </p:nvSpPr>
        <p:spPr>
          <a:xfrm>
            <a:off x="548640" y="4251960"/>
            <a:ext cx="5410048" cy="19659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16" name="icon-bg-167"/>
          <p:cNvSpPr/>
          <p:nvPr/>
        </p:nvSpPr>
        <p:spPr>
          <a:xfrm>
            <a:off x="914400" y="4617720"/>
            <a:ext cx="685800" cy="6858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7" name="icon-16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" y="4796028"/>
            <a:ext cx="329184" cy="329184"/>
          </a:xfrm>
          <a:prstGeom prst="rect">
            <a:avLst/>
          </a:prstGeom>
        </p:spPr>
      </p:pic>
      <p:sp>
        <p:nvSpPr>
          <p:cNvPr id="18" name="text-169"/>
          <p:cNvSpPr txBox="1"/>
          <p:nvPr/>
        </p:nvSpPr>
        <p:spPr>
          <a:xfrm>
            <a:off x="1828800" y="4599432"/>
            <a:ext cx="3764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Споредба со монолитот</a:t>
            </a:r>
            <a:endParaRPr lang="en-US" sz="2000" dirty="0"/>
          </a:p>
        </p:txBody>
      </p:sp>
      <p:sp>
        <p:nvSpPr>
          <p:cNvPr id="19" name="text-170"/>
          <p:cNvSpPr txBox="1"/>
          <p:nvPr/>
        </p:nvSpPr>
        <p:spPr>
          <a:xfrm>
            <a:off x="1828800" y="5212080"/>
            <a:ext cx="3764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Двете верзии ги оптоварувам на ист начин и ги споредувам брзината и потрошените ресурси.</a:t>
            </a:r>
            <a:endParaRPr lang="en-US" sz="1600" dirty="0"/>
          </a:p>
        </p:txBody>
      </p:sp>
      <p:sp>
        <p:nvSpPr>
          <p:cNvPr id="20" name="card-171"/>
          <p:cNvSpPr/>
          <p:nvPr/>
        </p:nvSpPr>
        <p:spPr>
          <a:xfrm>
            <a:off x="6233008" y="4251960"/>
            <a:ext cx="5410048" cy="19659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21" name="icon-bg-172"/>
          <p:cNvSpPr/>
          <p:nvPr/>
        </p:nvSpPr>
        <p:spPr>
          <a:xfrm>
            <a:off x="6598768" y="4617720"/>
            <a:ext cx="685800" cy="6858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22" name="icon-17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7076" y="4796028"/>
            <a:ext cx="329184" cy="329184"/>
          </a:xfrm>
          <a:prstGeom prst="rect">
            <a:avLst/>
          </a:prstGeom>
        </p:spPr>
      </p:pic>
      <p:sp>
        <p:nvSpPr>
          <p:cNvPr id="23" name="text-174"/>
          <p:cNvSpPr txBox="1"/>
          <p:nvPr/>
        </p:nvSpPr>
        <p:spPr>
          <a:xfrm>
            <a:off x="7513168" y="4599432"/>
            <a:ext cx="3764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Намерни откази</a:t>
            </a:r>
            <a:endParaRPr lang="en-US" sz="2000" dirty="0"/>
          </a:p>
        </p:txBody>
      </p:sp>
      <p:sp>
        <p:nvSpPr>
          <p:cNvPr id="24" name="text-175"/>
          <p:cNvSpPr txBox="1"/>
          <p:nvPr/>
        </p:nvSpPr>
        <p:spPr>
          <a:xfrm>
            <a:off x="7513168" y="5212080"/>
            <a:ext cx="3764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Намерно рушам делови од системот и гледам колку брзо алармите го откриваат проблемот.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ОБЕМ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Обемот на трудот</a:t>
            </a:r>
            <a:endParaRPr lang="en-US" sz="3200" dirty="0"/>
          </a:p>
        </p:txBody>
      </p:sp>
      <p:sp>
        <p:nvSpPr>
          <p:cNvPr id="4" name="card-176"/>
          <p:cNvSpPr/>
          <p:nvPr/>
        </p:nvSpPr>
        <p:spPr>
          <a:xfrm>
            <a:off x="548640" y="1691640"/>
            <a:ext cx="5410048" cy="3840480"/>
          </a:xfrm>
          <a:prstGeom prst="rect">
            <a:avLst/>
          </a:prstGeom>
          <a:solidFill>
            <a:schemeClr val="accent1">
              <a:alpha val="9000"/>
            </a:schemeClr>
          </a:solidFill>
          <a:ln/>
        </p:spPr>
      </p:sp>
      <p:sp>
        <p:nvSpPr>
          <p:cNvPr id="5" name="icon-bg-177"/>
          <p:cNvSpPr/>
          <p:nvPr/>
        </p:nvSpPr>
        <p:spPr>
          <a:xfrm>
            <a:off x="914400" y="2057400"/>
            <a:ext cx="685800" cy="685800"/>
          </a:xfrm>
          <a:prstGeom prst="ellipse">
            <a:avLst/>
          </a:prstGeom>
          <a:solidFill>
            <a:schemeClr val="accent1">
              <a:alpha val="20000"/>
            </a:schemeClr>
          </a:solidFill>
          <a:ln/>
        </p:spPr>
      </p:sp>
      <p:pic>
        <p:nvPicPr>
          <p:cNvPr id="6" name="icon-17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" y="2235708"/>
            <a:ext cx="329184" cy="329184"/>
          </a:xfrm>
          <a:prstGeom prst="rect">
            <a:avLst/>
          </a:prstGeom>
        </p:spPr>
      </p:pic>
      <p:sp>
        <p:nvSpPr>
          <p:cNvPr id="7" name="text-179"/>
          <p:cNvSpPr txBox="1"/>
          <p:nvPr/>
        </p:nvSpPr>
        <p:spPr>
          <a:xfrm>
            <a:off x="1828800" y="2103120"/>
            <a:ext cx="376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ФОКУС</a:t>
            </a:r>
            <a:endParaRPr lang="en-US" sz="1100" dirty="0"/>
          </a:p>
        </p:txBody>
      </p:sp>
      <p:sp>
        <p:nvSpPr>
          <p:cNvPr id="8" name="text-180"/>
          <p:cNvSpPr txBox="1"/>
          <p:nvPr/>
        </p:nvSpPr>
        <p:spPr>
          <a:xfrm>
            <a:off x="1828800" y="2377440"/>
            <a:ext cx="3764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Што влегува</a:t>
            </a:r>
            <a:endParaRPr lang="en-US" sz="2000" dirty="0"/>
          </a:p>
        </p:txBody>
      </p:sp>
      <p:sp>
        <p:nvSpPr>
          <p:cNvPr id="9" name="text-181"/>
          <p:cNvSpPr txBox="1"/>
          <p:nvPr/>
        </p:nvSpPr>
        <p:spPr>
          <a:xfrm>
            <a:off x="914400" y="3154680"/>
            <a:ext cx="46785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Функционалноста останува иста како кај монолитот. Работата е во настаните меѓу сервисите, оркестрацијата, автоматската испорака и observability — и во мерењето на сето тоа.</a:t>
            </a:r>
            <a:endParaRPr lang="en-US" sz="1900" dirty="0"/>
          </a:p>
        </p:txBody>
      </p:sp>
      <p:sp>
        <p:nvSpPr>
          <p:cNvPr id="10" name="card-182"/>
          <p:cNvSpPr/>
          <p:nvPr/>
        </p:nvSpPr>
        <p:spPr>
          <a:xfrm>
            <a:off x="6233008" y="1691640"/>
            <a:ext cx="5410048" cy="38404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11" name="icon-bg-183"/>
          <p:cNvSpPr/>
          <p:nvPr/>
        </p:nvSpPr>
        <p:spPr>
          <a:xfrm>
            <a:off x="6598768" y="2057400"/>
            <a:ext cx="685800" cy="685800"/>
          </a:xfrm>
          <a:prstGeom prst="ellipse">
            <a:avLst/>
          </a:prstGeom>
          <a:solidFill>
            <a:schemeClr val="accent2">
              <a:alpha val="15000"/>
            </a:schemeClr>
          </a:solidFill>
          <a:ln/>
        </p:spPr>
      </p:sp>
      <p:pic>
        <p:nvPicPr>
          <p:cNvPr id="12" name="icon-18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7076" y="2235708"/>
            <a:ext cx="329184" cy="329184"/>
          </a:xfrm>
          <a:prstGeom prst="rect">
            <a:avLst/>
          </a:prstGeom>
        </p:spPr>
      </p:pic>
      <p:sp>
        <p:nvSpPr>
          <p:cNvPr id="13" name="text-185"/>
          <p:cNvSpPr txBox="1"/>
          <p:nvPr/>
        </p:nvSpPr>
        <p:spPr>
          <a:xfrm>
            <a:off x="7513168" y="2103120"/>
            <a:ext cx="376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НАДВОР ОД ОБЕМОТ</a:t>
            </a:r>
            <a:endParaRPr lang="en-US" sz="1100" dirty="0"/>
          </a:p>
        </p:txBody>
      </p:sp>
      <p:sp>
        <p:nvSpPr>
          <p:cNvPr id="14" name="text-186"/>
          <p:cNvSpPr txBox="1"/>
          <p:nvPr/>
        </p:nvSpPr>
        <p:spPr>
          <a:xfrm>
            <a:off x="7513168" y="2377440"/>
            <a:ext cx="3764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Што не влегува</a:t>
            </a:r>
            <a:endParaRPr lang="en-US" sz="2000" dirty="0"/>
          </a:p>
        </p:txBody>
      </p:sp>
      <p:sp>
        <p:nvSpPr>
          <p:cNvPr id="15" name="text-187"/>
          <p:cNvSpPr txBox="1"/>
          <p:nvPr/>
        </p:nvSpPr>
        <p:spPr>
          <a:xfrm>
            <a:off x="6598768" y="3154680"/>
            <a:ext cx="46785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2"/>
                </a:solidFill>
              </a:rPr>
              <a:t>Нова функционалност, хостинг во облак, service mesh и посебна база за секој сервис. Тие не се потребни за да се одговори на прашањето на трудот.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rket Signal">
  <a:themeElements>
    <a:clrScheme name="AutoMarket Signal">
      <a:dk1>
        <a:srgbClr val="15181D"/>
      </a:dk1>
      <a:lt1>
        <a:srgbClr val="FFFFFF"/>
      </a:lt1>
      <a:dk2>
        <a:srgbClr val="161B24"/>
      </a:dk2>
      <a:lt2>
        <a:srgbClr val="F1F3F6"/>
      </a:lt2>
      <a:accent1>
        <a:srgbClr val="C2410C"/>
      </a:accent1>
      <a:accent2>
        <a:srgbClr val="5B646F"/>
      </a:accent2>
      <a:accent3>
        <a:srgbClr val="1F7A4D"/>
      </a:accent3>
      <a:accent4>
        <a:srgbClr val="B42318"/>
      </a:accent4>
      <a:accent5>
        <a:srgbClr val="D3D9E0"/>
      </a:accent5>
      <a:accent6>
        <a:srgbClr val="F28C5B"/>
      </a:accent6>
      <a:hlink>
        <a:srgbClr val="C2410C"/>
      </a:hlink>
      <a:folHlink>
        <a:srgbClr val="5B646F"/>
      </a:folHlink>
    </a:clrScheme>
    <a:fontScheme name="AutoMarket Sign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AutoMarket — предлог за дипломска работа</dc:title>
  <dc:subject>Event-driven микросервиси со модерна оркестрација и observability</dc:subject>
  <dc:creator>Даниел Костоски</dc:creator>
  <cp:lastModifiedBy>Даниел Костоски</cp:lastModifiedBy>
  <cp:revision>1</cp:revision>
  <dcterms:created xsi:type="dcterms:W3CDTF">2026-10-18T10:00:40Z</dcterms:created>
  <dcterms:modified xsi:type="dcterms:W3CDTF">2026-10-18T10:00:40Z</dcterms:modified>
</cp:coreProperties>
</file>